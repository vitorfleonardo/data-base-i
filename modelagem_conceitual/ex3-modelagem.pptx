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43DE5E-238A-1AFC-3C00-E3D35885E76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F308CFB1-352A-DEC3-974F-DCBEC6880C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671ECEE-8E01-467F-7672-3BB4A0C9F7D6}"/>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5" name="Espaço Reservado para Rodapé 4">
            <a:extLst>
              <a:ext uri="{FF2B5EF4-FFF2-40B4-BE49-F238E27FC236}">
                <a16:creationId xmlns:a16="http://schemas.microsoft.com/office/drawing/2014/main" id="{7B1C8EC8-40D1-53BC-1557-A3E606D7735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6F3667C-37BA-8C88-5E88-F44132D606F6}"/>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153520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1E5990-60BE-F393-71E8-DA42EB01D6E4}"/>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962B851-68F4-2001-06DA-DBBE1BE06493}"/>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DF3E246-B03A-BD0C-848B-A1ADC62D25C4}"/>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5" name="Espaço Reservado para Rodapé 4">
            <a:extLst>
              <a:ext uri="{FF2B5EF4-FFF2-40B4-BE49-F238E27FC236}">
                <a16:creationId xmlns:a16="http://schemas.microsoft.com/office/drawing/2014/main" id="{54AFAEF8-16CC-060A-F39F-E50E11CC8E7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3E3F79D-EDAA-AA52-8365-736C4F44F73E}"/>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2100302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1A4B02-1C0D-7C1D-171D-054C21381B7A}"/>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9FE84A4A-F826-3B7C-D7B6-C499C908BB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E1385DB6-418E-085F-8FF2-98C38611D275}"/>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5" name="Espaço Reservado para Rodapé 4">
            <a:extLst>
              <a:ext uri="{FF2B5EF4-FFF2-40B4-BE49-F238E27FC236}">
                <a16:creationId xmlns:a16="http://schemas.microsoft.com/office/drawing/2014/main" id="{91B74624-9B31-30ED-AFCE-5200E969A1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3D47238-C799-EDA0-7A68-07B63722D4AC}"/>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794461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728556-C4EC-7B85-AAC2-49BED90F1651}"/>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869B751-8171-6801-217E-9153E795506C}"/>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5B23A35B-9FAB-35C6-CAB3-71B0C4E76E98}"/>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315E4D24-5DAB-B3ED-2CED-62766B7D6DD9}"/>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6" name="Espaço Reservado para Rodapé 5">
            <a:extLst>
              <a:ext uri="{FF2B5EF4-FFF2-40B4-BE49-F238E27FC236}">
                <a16:creationId xmlns:a16="http://schemas.microsoft.com/office/drawing/2014/main" id="{D7AB8593-9600-7AC4-3DB8-E0C9859DCDCE}"/>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D729FD6-4A9C-890D-E8F1-1FD7DAB7DB47}"/>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2896953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FE1634-1BB2-2499-E1B1-9239211A652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6FAE90DC-A669-0351-6CB2-B88ADAC635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78FB2245-77A3-FBAB-F906-145A7C898F7E}"/>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87A90410-1FAC-C9DD-C3AC-3EBDAA62A8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BB5BB22F-DFC7-615B-C0DC-3E7DB799C869}"/>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8A41971A-0E66-7EC9-E90C-F5BB054AA596}"/>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8" name="Espaço Reservado para Rodapé 7">
            <a:extLst>
              <a:ext uri="{FF2B5EF4-FFF2-40B4-BE49-F238E27FC236}">
                <a16:creationId xmlns:a16="http://schemas.microsoft.com/office/drawing/2014/main" id="{15B5D721-C697-5E27-00A2-E23A2B6021BC}"/>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C178803D-A6D9-079D-D1ED-16E9B8FB6745}"/>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30589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0D03FF-C178-D066-76F0-875ED00092C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786976FD-96DA-D3F3-378D-92D5526D8149}"/>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4" name="Espaço Reservado para Rodapé 3">
            <a:extLst>
              <a:ext uri="{FF2B5EF4-FFF2-40B4-BE49-F238E27FC236}">
                <a16:creationId xmlns:a16="http://schemas.microsoft.com/office/drawing/2014/main" id="{29DC2ADA-1A1E-E873-F36B-EF0B368CB569}"/>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E51A82DD-4371-19FD-2912-CF6CC21A6734}"/>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468451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DF4AB54-158C-4F64-42BE-759308FB096A}"/>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3" name="Espaço Reservado para Rodapé 2">
            <a:extLst>
              <a:ext uri="{FF2B5EF4-FFF2-40B4-BE49-F238E27FC236}">
                <a16:creationId xmlns:a16="http://schemas.microsoft.com/office/drawing/2014/main" id="{CB2E1701-F9CC-ADD6-83DC-5526EEE8CA78}"/>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AF158742-C5EC-56CB-EE84-8DEE2211743D}"/>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2045250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C98E0B-98AC-323B-55D3-BEC02C62B4D9}"/>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9074A3E5-C0B6-CABE-0E72-99724B760A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54E76BCF-F37E-9293-09A2-381DFA49BC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68AC329-6800-F562-9597-E14E152299B9}"/>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6" name="Espaço Reservado para Rodapé 5">
            <a:extLst>
              <a:ext uri="{FF2B5EF4-FFF2-40B4-BE49-F238E27FC236}">
                <a16:creationId xmlns:a16="http://schemas.microsoft.com/office/drawing/2014/main" id="{B46AA5BD-2A04-ED3B-39AE-8AC37E337FF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DCA16B8-A6FE-4334-B142-4922C646FA19}"/>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1752021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F5CC28-AABB-FD06-7DD6-860C95BCA2A9}"/>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835F182E-A477-5047-BA9E-ED39757171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8261CDF7-6128-D769-A5B4-7A10ED098F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B87836A-5F92-B875-B26D-52431A3A71D3}"/>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6" name="Espaço Reservado para Rodapé 5">
            <a:extLst>
              <a:ext uri="{FF2B5EF4-FFF2-40B4-BE49-F238E27FC236}">
                <a16:creationId xmlns:a16="http://schemas.microsoft.com/office/drawing/2014/main" id="{93368FB2-36B9-1C0E-2645-94B0173DF91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8CAD955-50E0-DCF1-41B5-A2A20A3B9108}"/>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454024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E86AFA-C3AA-5ABA-C1AA-E14063E8977E}"/>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8FA029D7-1623-9B75-D7C1-C0E177D000A1}"/>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AF642A1-EFEC-D3B4-8399-0EB0BCEDAED5}"/>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5" name="Espaço Reservado para Rodapé 4">
            <a:extLst>
              <a:ext uri="{FF2B5EF4-FFF2-40B4-BE49-F238E27FC236}">
                <a16:creationId xmlns:a16="http://schemas.microsoft.com/office/drawing/2014/main" id="{BBACAF4C-6150-20A8-A950-A60768A33F4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AF94181-EB71-249A-EE5D-9D71492AC05C}"/>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4294891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28E781A-0BEC-7CE6-C5F8-C446AE4B4184}"/>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F73F8531-B727-076A-C2CD-F0F1A7DA0BD8}"/>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33BFAD2-FEEA-FFD2-C09F-7E8426B50D33}"/>
              </a:ext>
            </a:extLst>
          </p:cNvPr>
          <p:cNvSpPr>
            <a:spLocks noGrp="1"/>
          </p:cNvSpPr>
          <p:nvPr>
            <p:ph type="dt" sz="half" idx="10"/>
          </p:nvPr>
        </p:nvSpPr>
        <p:spPr/>
        <p:txBody>
          <a:bodyPr/>
          <a:lstStyle/>
          <a:p>
            <a:fld id="{70DF0FB3-CD19-4AAA-84DF-74FF054774A6}" type="datetimeFigureOut">
              <a:rPr lang="pt-BR" smtClean="0"/>
              <a:t>04/04/2024</a:t>
            </a:fld>
            <a:endParaRPr lang="pt-BR"/>
          </a:p>
        </p:txBody>
      </p:sp>
      <p:sp>
        <p:nvSpPr>
          <p:cNvPr id="5" name="Espaço Reservado para Rodapé 4">
            <a:extLst>
              <a:ext uri="{FF2B5EF4-FFF2-40B4-BE49-F238E27FC236}">
                <a16:creationId xmlns:a16="http://schemas.microsoft.com/office/drawing/2014/main" id="{B2FDD1DD-8272-DBA6-0389-ABCD0CF8F39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A8EA60D-4F10-717F-0CCE-BC56F38ADB5B}"/>
              </a:ext>
            </a:extLst>
          </p:cNvPr>
          <p:cNvSpPr>
            <a:spLocks noGrp="1"/>
          </p:cNvSpPr>
          <p:nvPr>
            <p:ph type="sldNum" sz="quarter" idx="12"/>
          </p:nvPr>
        </p:nvSpPr>
        <p:spPr/>
        <p:txBody>
          <a:bodyPr/>
          <a:lstStyle/>
          <a:p>
            <a:fld id="{668B0774-7957-4DA7-AB9A-3DB6E6AB9F46}" type="slidenum">
              <a:rPr lang="pt-BR" smtClean="0"/>
              <a:t>‹nº›</a:t>
            </a:fld>
            <a:endParaRPr lang="pt-BR"/>
          </a:p>
        </p:txBody>
      </p:sp>
    </p:spTree>
    <p:extLst>
      <p:ext uri="{BB962C8B-B14F-4D97-AF65-F5344CB8AC3E}">
        <p14:creationId xmlns:p14="http://schemas.microsoft.com/office/powerpoint/2010/main" val="4112139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95269390-785C-352A-00B2-A6F7196A05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CB1F6E52-8F42-AD38-F7FE-3C1856E3AC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2EEA071-3E1D-A243-1EFE-61D0CF2157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DF0FB3-CD19-4AAA-84DF-74FF054774A6}" type="datetimeFigureOut">
              <a:rPr lang="pt-BR" smtClean="0"/>
              <a:t>04/04/2024</a:t>
            </a:fld>
            <a:endParaRPr lang="pt-BR"/>
          </a:p>
        </p:txBody>
      </p:sp>
      <p:sp>
        <p:nvSpPr>
          <p:cNvPr id="5" name="Espaço Reservado para Rodapé 4">
            <a:extLst>
              <a:ext uri="{FF2B5EF4-FFF2-40B4-BE49-F238E27FC236}">
                <a16:creationId xmlns:a16="http://schemas.microsoft.com/office/drawing/2014/main" id="{1E230D00-6AB8-EFCE-46F6-6EF3B3F577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9BBF51F-ACA1-91E4-4AB7-FA8F7A9450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8B0774-7957-4DA7-AB9A-3DB6E6AB9F46}" type="slidenum">
              <a:rPr lang="pt-BR" smtClean="0"/>
              <a:t>‹nº›</a:t>
            </a:fld>
            <a:endParaRPr lang="pt-BR"/>
          </a:p>
        </p:txBody>
      </p:sp>
    </p:spTree>
    <p:extLst>
      <p:ext uri="{BB962C8B-B14F-4D97-AF65-F5344CB8AC3E}">
        <p14:creationId xmlns:p14="http://schemas.microsoft.com/office/powerpoint/2010/main" val="3603839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0979374D-AE3B-EA34-7856-90EC7B6D494D}"/>
              </a:ext>
            </a:extLst>
          </p:cNvPr>
          <p:cNvSpPr txBox="1"/>
          <p:nvPr/>
        </p:nvSpPr>
        <p:spPr>
          <a:xfrm>
            <a:off x="162613" y="96934"/>
            <a:ext cx="11809428" cy="2450094"/>
          </a:xfrm>
          <a:prstGeom prst="rect">
            <a:avLst/>
          </a:prstGeom>
          <a:noFill/>
        </p:spPr>
        <p:txBody>
          <a:bodyPr wrap="square">
            <a:spAutoFit/>
          </a:bodyPr>
          <a:lstStyle/>
          <a:p>
            <a:pPr algn="just">
              <a:lnSpc>
                <a:spcPct val="107000"/>
              </a:lnSpc>
              <a:spcAft>
                <a:spcPts val="800"/>
              </a:spcAft>
            </a:pPr>
            <a:r>
              <a:rPr lang="pt-BR" kern="100" dirty="0">
                <a:effectLst/>
                <a:latin typeface="Calibri" panose="020F0502020204030204" pitchFamily="34" charset="0"/>
                <a:ea typeface="Calibri" panose="020F0502020204030204" pitchFamily="34" charset="0"/>
                <a:cs typeface="Times New Roman" panose="02020603050405020304" pitchFamily="18" charset="0"/>
              </a:rPr>
              <a:t>Uma empresa responsável por manter um site voltado para entretenimento em todos os estados do Brasil quer o projeto de uma base de dados para a seção de cinema do site. Navegando no site, os internautas encontrarão informações de todos os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filmes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em cartaz em cada um dos cinemas de cada cidade do país. Poderão consultar as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sessões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de cada filme em cada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cinema</a:t>
            </a:r>
            <a:r>
              <a:rPr lang="pt-BR" kern="100" dirty="0">
                <a:effectLst/>
                <a:latin typeface="Calibri" panose="020F0502020204030204" pitchFamily="34" charset="0"/>
                <a:ea typeface="Calibri" panose="020F0502020204030204" pitchFamily="34" charset="0"/>
                <a:cs typeface="Times New Roman" panose="02020603050405020304" pitchFamily="18" charset="0"/>
              </a:rPr>
              <a:t>, com dias da semana, horários, preços de ingresso,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salas</a:t>
            </a:r>
            <a:r>
              <a:rPr lang="pt-BR" kern="100" dirty="0">
                <a:effectLst/>
                <a:latin typeface="Calibri" panose="020F0502020204030204" pitchFamily="34" charset="0"/>
                <a:ea typeface="Calibri" panose="020F0502020204030204" pitchFamily="34" charset="0"/>
                <a:cs typeface="Times New Roman" panose="02020603050405020304" pitchFamily="18" charset="0"/>
              </a:rPr>
              <a:t> (com informações sobre número de lugares, tipo de som, acesso a deficientes). Além disso, encontrarão informações a respeito dos filmes, como título no Brasil, título original, legendado/dublado, sinopse, diretores, elenco principal</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pt-BR" kern="100" dirty="0">
                <a:effectLst/>
                <a:latin typeface="Calibri" panose="020F0502020204030204" pitchFamily="34" charset="0"/>
                <a:ea typeface="Calibri" panose="020F0502020204030204" pitchFamily="34" charset="0"/>
                <a:cs typeface="Times New Roman" panose="02020603050405020304" pitchFamily="18" charset="0"/>
              </a:rPr>
              <a:t>(com indicação dos protagonistas), gênero e classificação. E, ao escolherem a melhor opção, poderão consultar endereço e telefone do cinema onde estiver passando o filme. O CNPJ do cinema também é armazenado.</a:t>
            </a:r>
            <a:endParaRPr lang="pt-BR"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CaixaDeTexto 13">
            <a:extLst>
              <a:ext uri="{FF2B5EF4-FFF2-40B4-BE49-F238E27FC236}">
                <a16:creationId xmlns:a16="http://schemas.microsoft.com/office/drawing/2014/main" id="{BFEA069A-E909-1618-A7FB-8951E12486BA}"/>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15" name="CaixaDeTexto 14">
            <a:extLst>
              <a:ext uri="{FF2B5EF4-FFF2-40B4-BE49-F238E27FC236}">
                <a16:creationId xmlns:a16="http://schemas.microsoft.com/office/drawing/2014/main" id="{362372F0-0747-80E4-C582-CDBA68CC4A72}"/>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16" name="CaixaDeTexto 15">
            <a:extLst>
              <a:ext uri="{FF2B5EF4-FFF2-40B4-BE49-F238E27FC236}">
                <a16:creationId xmlns:a16="http://schemas.microsoft.com/office/drawing/2014/main" id="{113511BD-46EC-2F7B-9BF0-347DA4400F4D}"/>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17" name="CaixaDeTexto 16">
            <a:extLst>
              <a:ext uri="{FF2B5EF4-FFF2-40B4-BE49-F238E27FC236}">
                <a16:creationId xmlns:a16="http://schemas.microsoft.com/office/drawing/2014/main" id="{FD67641C-6485-A5C2-D598-F881A8658652}"/>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spTree>
    <p:extLst>
      <p:ext uri="{BB962C8B-B14F-4D97-AF65-F5344CB8AC3E}">
        <p14:creationId xmlns:p14="http://schemas.microsoft.com/office/powerpoint/2010/main" val="2042195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FA9DDF26-33A2-DF39-1036-BA6957D9E306}"/>
              </a:ext>
            </a:extLst>
          </p:cNvPr>
          <p:cNvSpPr txBox="1"/>
          <p:nvPr/>
        </p:nvSpPr>
        <p:spPr>
          <a:xfrm>
            <a:off x="162613" y="96934"/>
            <a:ext cx="11799999" cy="2450094"/>
          </a:xfrm>
          <a:prstGeom prst="rect">
            <a:avLst/>
          </a:prstGeom>
          <a:noFill/>
        </p:spPr>
        <p:txBody>
          <a:bodyPr wrap="square">
            <a:spAutoFit/>
          </a:bodyPr>
          <a:lstStyle/>
          <a:p>
            <a:pPr algn="just">
              <a:lnSpc>
                <a:spcPct val="107000"/>
              </a:lnSpc>
              <a:spcAft>
                <a:spcPts val="800"/>
              </a:spcAft>
            </a:pPr>
            <a:r>
              <a:rPr lang="pt-BR" kern="100" dirty="0">
                <a:effectLst/>
                <a:latin typeface="Calibri" panose="020F0502020204030204" pitchFamily="34" charset="0"/>
                <a:ea typeface="Calibri" panose="020F0502020204030204" pitchFamily="34" charset="0"/>
                <a:cs typeface="Times New Roman" panose="02020603050405020304" pitchFamily="18" charset="0"/>
              </a:rPr>
              <a:t>Uma empresa responsável por manter um site voltado para entretenimento em todos os estados do Brasil quer o projeto de uma base de dados para a seção de cinema do site. Navegando no site, os internautas encontrarão informações de todos os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filmes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em cartaz em cada um dos cinemas de cada cidade do país. Poderão consultar as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sessões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de cada filme em cada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cinema</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com dias da semana</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horários</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preços</a:t>
            </a:r>
            <a:r>
              <a:rPr lang="pt-BR" kern="100" dirty="0">
                <a:effectLst/>
                <a:latin typeface="Calibri" panose="020F0502020204030204" pitchFamily="34" charset="0"/>
                <a:ea typeface="Calibri" panose="020F0502020204030204" pitchFamily="34" charset="0"/>
                <a:cs typeface="Times New Roman" panose="02020603050405020304" pitchFamily="18" charset="0"/>
              </a:rPr>
              <a:t> de ingresso,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salas</a:t>
            </a:r>
            <a:r>
              <a:rPr lang="pt-BR" kern="100" dirty="0">
                <a:effectLst/>
                <a:latin typeface="Calibri" panose="020F0502020204030204" pitchFamily="34" charset="0"/>
                <a:ea typeface="Calibri" panose="020F0502020204030204" pitchFamily="34" charset="0"/>
                <a:cs typeface="Times New Roman" panose="02020603050405020304" pitchFamily="18" charset="0"/>
              </a:rPr>
              <a:t> (com informações sobre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número de lugares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tipo de som</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acesso a deficientes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Além disso, encontrarão informações a respeito dos filmes, como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título</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no Brasil</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título original</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legendado/dublado</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sinopse</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diretores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elenco principal </a:t>
            </a:r>
            <a:r>
              <a:rPr lang="pt-BR" kern="100" dirty="0">
                <a:effectLst/>
                <a:latin typeface="Calibri" panose="020F0502020204030204" pitchFamily="34" charset="0"/>
                <a:ea typeface="Calibri" panose="020F0502020204030204" pitchFamily="34" charset="0"/>
                <a:cs typeface="Times New Roman" panose="02020603050405020304" pitchFamily="18" charset="0"/>
              </a:rPr>
              <a:t>(com indicação dos protagonistas), </a:t>
            </a:r>
            <a:r>
              <a:rPr lang="pt-BR" b="1"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gênero</a:t>
            </a:r>
            <a:r>
              <a:rPr lang="pt-BR" kern="100" dirty="0">
                <a:effectLst/>
                <a:latin typeface="Calibri" panose="020F0502020204030204" pitchFamily="34" charset="0"/>
                <a:ea typeface="Calibri" panose="020F0502020204030204" pitchFamily="34" charset="0"/>
                <a:cs typeface="Times New Roman" panose="02020603050405020304" pitchFamily="18" charset="0"/>
              </a:rPr>
              <a:t> e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classificação</a:t>
            </a:r>
            <a:r>
              <a:rPr lang="pt-BR" kern="100" dirty="0">
                <a:effectLst/>
                <a:latin typeface="Calibri" panose="020F0502020204030204" pitchFamily="34" charset="0"/>
                <a:ea typeface="Calibri" panose="020F0502020204030204" pitchFamily="34" charset="0"/>
                <a:cs typeface="Times New Roman" panose="02020603050405020304" pitchFamily="18" charset="0"/>
              </a:rPr>
              <a:t>. E, ao escolherem a melhor opção, poderão consultar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endereço</a:t>
            </a:r>
            <a:r>
              <a:rPr lang="pt-BR" kern="100" dirty="0">
                <a:effectLst/>
                <a:latin typeface="Calibri" panose="020F0502020204030204" pitchFamily="34" charset="0"/>
                <a:ea typeface="Calibri" panose="020F0502020204030204" pitchFamily="34" charset="0"/>
                <a:cs typeface="Times New Roman" panose="02020603050405020304" pitchFamily="18" charset="0"/>
              </a:rPr>
              <a:t> e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telefone</a:t>
            </a:r>
            <a:r>
              <a:rPr lang="pt-BR" kern="100" dirty="0">
                <a:effectLst/>
                <a:latin typeface="Calibri" panose="020F0502020204030204" pitchFamily="34" charset="0"/>
                <a:ea typeface="Calibri" panose="020F0502020204030204" pitchFamily="34" charset="0"/>
                <a:cs typeface="Times New Roman" panose="02020603050405020304" pitchFamily="18" charset="0"/>
              </a:rPr>
              <a:t> do cinema onde estiver passando o filme. O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CNPJ</a:t>
            </a:r>
            <a:r>
              <a:rPr lang="pt-BR" kern="100" dirty="0">
                <a:effectLst/>
                <a:latin typeface="Calibri" panose="020F0502020204030204" pitchFamily="34" charset="0"/>
                <a:ea typeface="Calibri" panose="020F0502020204030204" pitchFamily="34" charset="0"/>
                <a:cs typeface="Times New Roman" panose="02020603050405020304" pitchFamily="18" charset="0"/>
              </a:rPr>
              <a:t> do cinema também é armazenado.</a:t>
            </a:r>
            <a:endParaRPr lang="pt-BR"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CaixaDeTexto 29">
            <a:extLst>
              <a:ext uri="{FF2B5EF4-FFF2-40B4-BE49-F238E27FC236}">
                <a16:creationId xmlns:a16="http://schemas.microsoft.com/office/drawing/2014/main" id="{83BE4815-BF4D-0643-0CCC-94C6074AD8F7}"/>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31" name="CaixaDeTexto 30">
            <a:extLst>
              <a:ext uri="{FF2B5EF4-FFF2-40B4-BE49-F238E27FC236}">
                <a16:creationId xmlns:a16="http://schemas.microsoft.com/office/drawing/2014/main" id="{223D18EA-5AD9-783B-B45A-453934660424}"/>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32" name="CaixaDeTexto 31">
            <a:extLst>
              <a:ext uri="{FF2B5EF4-FFF2-40B4-BE49-F238E27FC236}">
                <a16:creationId xmlns:a16="http://schemas.microsoft.com/office/drawing/2014/main" id="{EDF3E6B8-23CC-9F66-5E7C-9C33C3AE7D88}"/>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33" name="CaixaDeTexto 32">
            <a:extLst>
              <a:ext uri="{FF2B5EF4-FFF2-40B4-BE49-F238E27FC236}">
                <a16:creationId xmlns:a16="http://schemas.microsoft.com/office/drawing/2014/main" id="{8A3438E9-8641-6D43-A091-B6AC07A0E402}"/>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cxnSp>
        <p:nvCxnSpPr>
          <p:cNvPr id="34" name="Conector reto 33">
            <a:extLst>
              <a:ext uri="{FF2B5EF4-FFF2-40B4-BE49-F238E27FC236}">
                <a16:creationId xmlns:a16="http://schemas.microsoft.com/office/drawing/2014/main" id="{845E7028-0333-C2AE-4D05-9D31C256B2C0}"/>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A8323D76-CA2C-5713-8BB5-7802BBDFB855}"/>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Conector reto 35">
            <a:extLst>
              <a:ext uri="{FF2B5EF4-FFF2-40B4-BE49-F238E27FC236}">
                <a16:creationId xmlns:a16="http://schemas.microsoft.com/office/drawing/2014/main" id="{8FDDD7EF-627F-D246-F6A4-B2A82C8D2A92}"/>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37" name="CaixaDeTexto 36">
            <a:extLst>
              <a:ext uri="{FF2B5EF4-FFF2-40B4-BE49-F238E27FC236}">
                <a16:creationId xmlns:a16="http://schemas.microsoft.com/office/drawing/2014/main" id="{CC44D780-6B03-5F62-8A7C-BBD37A078225}"/>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dirty="0"/>
              <a:t>CNPJ</a:t>
            </a:r>
          </a:p>
          <a:p>
            <a:pPr marL="285750" indent="-285750">
              <a:buFontTx/>
              <a:buChar char="-"/>
            </a:pPr>
            <a:r>
              <a:rPr lang="pt-BR" dirty="0"/>
              <a:t>Endereço</a:t>
            </a:r>
          </a:p>
          <a:p>
            <a:pPr marL="285750" indent="-285750">
              <a:buFontTx/>
              <a:buChar char="-"/>
            </a:pPr>
            <a:r>
              <a:rPr lang="pt-BR" dirty="0"/>
              <a:t>Telefone</a:t>
            </a:r>
          </a:p>
        </p:txBody>
      </p:sp>
      <p:sp>
        <p:nvSpPr>
          <p:cNvPr id="38" name="CaixaDeTexto 37">
            <a:extLst>
              <a:ext uri="{FF2B5EF4-FFF2-40B4-BE49-F238E27FC236}">
                <a16:creationId xmlns:a16="http://schemas.microsoft.com/office/drawing/2014/main" id="{538BFA9A-3E9C-4E25-424F-B9311B39D894}"/>
              </a:ext>
            </a:extLst>
          </p:cNvPr>
          <p:cNvSpPr txBox="1"/>
          <p:nvPr/>
        </p:nvSpPr>
        <p:spPr>
          <a:xfrm>
            <a:off x="2025991" y="4637782"/>
            <a:ext cx="3266390" cy="2308324"/>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a:p>
            <a:pPr marL="285750" indent="-285750">
              <a:buFontTx/>
              <a:buChar char="-"/>
            </a:pPr>
            <a:r>
              <a:rPr lang="pt-BR" b="1" dirty="0"/>
              <a:t>Diretores</a:t>
            </a:r>
          </a:p>
          <a:p>
            <a:pPr marL="285750" indent="-285750">
              <a:buFontTx/>
              <a:buChar char="-"/>
            </a:pPr>
            <a:r>
              <a:rPr lang="pt-BR" b="1" dirty="0"/>
              <a:t>Elenco Principal com indicação dos protagonistas</a:t>
            </a:r>
          </a:p>
        </p:txBody>
      </p:sp>
      <p:sp>
        <p:nvSpPr>
          <p:cNvPr id="39" name="CaixaDeTexto 38">
            <a:extLst>
              <a:ext uri="{FF2B5EF4-FFF2-40B4-BE49-F238E27FC236}">
                <a16:creationId xmlns:a16="http://schemas.microsoft.com/office/drawing/2014/main" id="{9F09B88A-1F2D-612B-7E53-5EB20D6CABCE}"/>
              </a:ext>
            </a:extLst>
          </p:cNvPr>
          <p:cNvSpPr txBox="1"/>
          <p:nvPr/>
        </p:nvSpPr>
        <p:spPr>
          <a:xfrm>
            <a:off x="6637454" y="4677609"/>
            <a:ext cx="1751816" cy="1477328"/>
          </a:xfrm>
          <a:prstGeom prst="rect">
            <a:avLst/>
          </a:prstGeom>
          <a:noFill/>
        </p:spPr>
        <p:txBody>
          <a:bodyPr wrap="square" rtlCol="0">
            <a:spAutoFit/>
          </a:bodyPr>
          <a:lstStyle/>
          <a:p>
            <a:pPr marL="285750" indent="-285750">
              <a:buFontTx/>
              <a:buChar char="-"/>
            </a:pPr>
            <a:r>
              <a:rPr lang="pt-BR" dirty="0"/>
              <a:t>Número de lugares</a:t>
            </a:r>
          </a:p>
          <a:p>
            <a:pPr marL="285750" indent="-285750">
              <a:buFontTx/>
              <a:buChar char="-"/>
            </a:pPr>
            <a:r>
              <a:rPr lang="pt-BR" dirty="0"/>
              <a:t>Tipo de som</a:t>
            </a:r>
          </a:p>
          <a:p>
            <a:pPr marL="285750" indent="-285750">
              <a:buFontTx/>
              <a:buChar char="-"/>
            </a:pPr>
            <a:r>
              <a:rPr lang="pt-BR" dirty="0"/>
              <a:t>Acesso a deficientes</a:t>
            </a:r>
          </a:p>
        </p:txBody>
      </p:sp>
      <p:sp>
        <p:nvSpPr>
          <p:cNvPr id="40" name="CaixaDeTexto 39">
            <a:extLst>
              <a:ext uri="{FF2B5EF4-FFF2-40B4-BE49-F238E27FC236}">
                <a16:creationId xmlns:a16="http://schemas.microsoft.com/office/drawing/2014/main" id="{5F16CF01-00E8-4272-5C5E-D375D64DF3A6}"/>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42" name="Conector reto 41">
            <a:extLst>
              <a:ext uri="{FF2B5EF4-FFF2-40B4-BE49-F238E27FC236}">
                <a16:creationId xmlns:a16="http://schemas.microsoft.com/office/drawing/2014/main" id="{F3638F39-5399-84BC-1B55-0590396C7449}"/>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9266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30FD02-42CB-8CAA-467E-3661A411D873}"/>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4" name="CaixaDeTexto 3">
            <a:extLst>
              <a:ext uri="{FF2B5EF4-FFF2-40B4-BE49-F238E27FC236}">
                <a16:creationId xmlns:a16="http://schemas.microsoft.com/office/drawing/2014/main" id="{35D6A63B-D3A2-D3AB-FFFD-92FD890E1AD7}"/>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6" name="CaixaDeTexto 5">
            <a:extLst>
              <a:ext uri="{FF2B5EF4-FFF2-40B4-BE49-F238E27FC236}">
                <a16:creationId xmlns:a16="http://schemas.microsoft.com/office/drawing/2014/main" id="{3B828840-CDF7-122B-D05F-B60DE22D0A8F}"/>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7" name="CaixaDeTexto 6">
            <a:extLst>
              <a:ext uri="{FF2B5EF4-FFF2-40B4-BE49-F238E27FC236}">
                <a16:creationId xmlns:a16="http://schemas.microsoft.com/office/drawing/2014/main" id="{AA2B8208-5AC9-F0F4-0ACC-DEFC82722907}"/>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cxnSp>
        <p:nvCxnSpPr>
          <p:cNvPr id="10" name="Conector reto 9">
            <a:extLst>
              <a:ext uri="{FF2B5EF4-FFF2-40B4-BE49-F238E27FC236}">
                <a16:creationId xmlns:a16="http://schemas.microsoft.com/office/drawing/2014/main" id="{25858B0C-A9E8-6884-F912-B6C196F68B83}"/>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D42337CD-9D76-AE18-F87D-4F2547CD0BF7}"/>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AFEDD4E-54EA-A604-5617-6A3AE13FDF74}"/>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FA9DDF26-33A2-DF39-1036-BA6957D9E306}"/>
              </a:ext>
            </a:extLst>
          </p:cNvPr>
          <p:cNvSpPr txBox="1"/>
          <p:nvPr/>
        </p:nvSpPr>
        <p:spPr>
          <a:xfrm>
            <a:off x="162613" y="96934"/>
            <a:ext cx="11799999" cy="2450094"/>
          </a:xfrm>
          <a:prstGeom prst="rect">
            <a:avLst/>
          </a:prstGeom>
          <a:noFill/>
        </p:spPr>
        <p:txBody>
          <a:bodyPr wrap="square">
            <a:spAutoFit/>
          </a:bodyPr>
          <a:lstStyle/>
          <a:p>
            <a:pPr algn="just">
              <a:lnSpc>
                <a:spcPct val="107000"/>
              </a:lnSpc>
              <a:spcAft>
                <a:spcPts val="800"/>
              </a:spcAft>
            </a:pPr>
            <a:r>
              <a:rPr lang="pt-BR" kern="100" dirty="0">
                <a:effectLst/>
                <a:latin typeface="Calibri" panose="020F0502020204030204" pitchFamily="34" charset="0"/>
                <a:ea typeface="Calibri" panose="020F0502020204030204" pitchFamily="34" charset="0"/>
                <a:cs typeface="Times New Roman" panose="02020603050405020304" pitchFamily="18" charset="0"/>
              </a:rPr>
              <a:t>Uma empresa responsável por manter um site voltado para entretenimento em todos os estados do Brasil quer o projeto de uma base de dados para a seção de cinema do site. Navegando no site, os internautas encontrarão informações de todos os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filmes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em cartaz em cada um dos cinemas de cada cidade do país. Poderão consultar as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sessões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de cada filme em cada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cinema</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com dias da semana</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horários</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preços</a:t>
            </a:r>
            <a:r>
              <a:rPr lang="pt-BR" kern="100" dirty="0">
                <a:effectLst/>
                <a:latin typeface="Calibri" panose="020F0502020204030204" pitchFamily="34" charset="0"/>
                <a:ea typeface="Calibri" panose="020F0502020204030204" pitchFamily="34" charset="0"/>
                <a:cs typeface="Times New Roman" panose="02020603050405020304" pitchFamily="18" charset="0"/>
              </a:rPr>
              <a:t> de ingresso, </a:t>
            </a:r>
            <a:r>
              <a:rPr lang="pt-BR"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salas</a:t>
            </a:r>
            <a:r>
              <a:rPr lang="pt-BR" kern="100" dirty="0">
                <a:effectLst/>
                <a:latin typeface="Calibri" panose="020F0502020204030204" pitchFamily="34" charset="0"/>
                <a:ea typeface="Calibri" panose="020F0502020204030204" pitchFamily="34" charset="0"/>
                <a:cs typeface="Times New Roman" panose="02020603050405020304" pitchFamily="18" charset="0"/>
              </a:rPr>
              <a:t> (com informações sobre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número de lugares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tipo de som</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acesso a deficientes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Além disso, encontrarão informações a respeito dos filmes, como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título</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no Brasil</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título original</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legendado/dublado</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sinopse</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diretores</a:t>
            </a:r>
            <a:r>
              <a:rPr lang="pt-BR" kern="100" dirty="0">
                <a:effectLst/>
                <a:latin typeface="Calibri" panose="020F0502020204030204" pitchFamily="34" charset="0"/>
                <a:ea typeface="Calibri" panose="020F0502020204030204" pitchFamily="34" charset="0"/>
                <a:cs typeface="Times New Roman" panose="02020603050405020304" pitchFamily="18" charset="0"/>
              </a:rPr>
              <a:t>, </a:t>
            </a:r>
            <a:r>
              <a:rPr lang="pt-BR" b="1"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elenco principal </a:t>
            </a:r>
            <a:r>
              <a:rPr lang="pt-BR" kern="100" dirty="0">
                <a:effectLst/>
                <a:latin typeface="Calibri" panose="020F0502020204030204" pitchFamily="34" charset="0"/>
                <a:ea typeface="Calibri" panose="020F0502020204030204" pitchFamily="34" charset="0"/>
                <a:cs typeface="Times New Roman" panose="02020603050405020304" pitchFamily="18" charset="0"/>
              </a:rPr>
              <a:t>(com indicação dos protagonistas), </a:t>
            </a:r>
            <a:r>
              <a:rPr lang="pt-BR" b="1"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gênero</a:t>
            </a:r>
            <a:r>
              <a:rPr lang="pt-BR" kern="100" dirty="0">
                <a:effectLst/>
                <a:latin typeface="Calibri" panose="020F0502020204030204" pitchFamily="34" charset="0"/>
                <a:ea typeface="Calibri" panose="020F0502020204030204" pitchFamily="34" charset="0"/>
                <a:cs typeface="Times New Roman" panose="02020603050405020304" pitchFamily="18" charset="0"/>
              </a:rPr>
              <a:t> e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classificação</a:t>
            </a:r>
            <a:r>
              <a:rPr lang="pt-BR" kern="100" dirty="0">
                <a:effectLst/>
                <a:latin typeface="Calibri" panose="020F0502020204030204" pitchFamily="34" charset="0"/>
                <a:ea typeface="Calibri" panose="020F0502020204030204" pitchFamily="34" charset="0"/>
                <a:cs typeface="Times New Roman" panose="02020603050405020304" pitchFamily="18" charset="0"/>
              </a:rPr>
              <a:t>. E, ao escolherem a melhor opção, poderão consultar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endereço</a:t>
            </a:r>
            <a:r>
              <a:rPr lang="pt-BR" kern="100" dirty="0">
                <a:effectLst/>
                <a:latin typeface="Calibri" panose="020F0502020204030204" pitchFamily="34" charset="0"/>
                <a:ea typeface="Calibri" panose="020F0502020204030204" pitchFamily="34" charset="0"/>
                <a:cs typeface="Times New Roman" panose="02020603050405020304" pitchFamily="18" charset="0"/>
              </a:rPr>
              <a:t> e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telefone</a:t>
            </a:r>
            <a:r>
              <a:rPr lang="pt-BR" kern="100" dirty="0">
                <a:effectLst/>
                <a:latin typeface="Calibri" panose="020F0502020204030204" pitchFamily="34" charset="0"/>
                <a:ea typeface="Calibri" panose="020F0502020204030204" pitchFamily="34" charset="0"/>
                <a:cs typeface="Times New Roman" panose="02020603050405020304" pitchFamily="18" charset="0"/>
              </a:rPr>
              <a:t> do cinema onde estiver passando o filme. O </a:t>
            </a:r>
            <a:r>
              <a:rPr lang="pt-BR"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CNPJ</a:t>
            </a:r>
            <a:r>
              <a:rPr lang="pt-BR" kern="100" dirty="0">
                <a:effectLst/>
                <a:latin typeface="Calibri" panose="020F0502020204030204" pitchFamily="34" charset="0"/>
                <a:ea typeface="Calibri" panose="020F0502020204030204" pitchFamily="34" charset="0"/>
                <a:cs typeface="Times New Roman" panose="02020603050405020304" pitchFamily="18" charset="0"/>
              </a:rPr>
              <a:t> do cinema também é armazenado.</a:t>
            </a:r>
            <a:endParaRPr lang="pt-BR"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aixaDeTexto 7">
            <a:extLst>
              <a:ext uri="{FF2B5EF4-FFF2-40B4-BE49-F238E27FC236}">
                <a16:creationId xmlns:a16="http://schemas.microsoft.com/office/drawing/2014/main" id="{CDED82E5-4ED8-040E-C873-EC18A1492A84}"/>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dirty="0"/>
              <a:t>CNPJ</a:t>
            </a:r>
          </a:p>
          <a:p>
            <a:pPr marL="285750" indent="-285750">
              <a:buFontTx/>
              <a:buChar char="-"/>
            </a:pPr>
            <a:r>
              <a:rPr lang="pt-BR" dirty="0"/>
              <a:t>Endereço</a:t>
            </a:r>
          </a:p>
          <a:p>
            <a:pPr marL="285750" indent="-285750">
              <a:buFontTx/>
              <a:buChar char="-"/>
            </a:pPr>
            <a:r>
              <a:rPr lang="pt-BR" dirty="0"/>
              <a:t>Telefone</a:t>
            </a:r>
          </a:p>
        </p:txBody>
      </p:sp>
      <p:sp>
        <p:nvSpPr>
          <p:cNvPr id="9" name="CaixaDeTexto 8">
            <a:extLst>
              <a:ext uri="{FF2B5EF4-FFF2-40B4-BE49-F238E27FC236}">
                <a16:creationId xmlns:a16="http://schemas.microsoft.com/office/drawing/2014/main" id="{2008D058-1C9A-1B76-3D59-C7018E4809DE}"/>
              </a:ext>
            </a:extLst>
          </p:cNvPr>
          <p:cNvSpPr txBox="1"/>
          <p:nvPr/>
        </p:nvSpPr>
        <p:spPr>
          <a:xfrm>
            <a:off x="2025991" y="4637782"/>
            <a:ext cx="3266390" cy="1477328"/>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p:txBody>
      </p:sp>
      <p:sp>
        <p:nvSpPr>
          <p:cNvPr id="14" name="CaixaDeTexto 13">
            <a:extLst>
              <a:ext uri="{FF2B5EF4-FFF2-40B4-BE49-F238E27FC236}">
                <a16:creationId xmlns:a16="http://schemas.microsoft.com/office/drawing/2014/main" id="{B54F5914-782C-A8A9-2724-8A1E3753800E}"/>
              </a:ext>
            </a:extLst>
          </p:cNvPr>
          <p:cNvSpPr txBox="1"/>
          <p:nvPr/>
        </p:nvSpPr>
        <p:spPr>
          <a:xfrm>
            <a:off x="6637454" y="4677609"/>
            <a:ext cx="1751816" cy="1477328"/>
          </a:xfrm>
          <a:prstGeom prst="rect">
            <a:avLst/>
          </a:prstGeom>
          <a:noFill/>
        </p:spPr>
        <p:txBody>
          <a:bodyPr wrap="square" rtlCol="0">
            <a:spAutoFit/>
          </a:bodyPr>
          <a:lstStyle/>
          <a:p>
            <a:pPr marL="285750" indent="-285750">
              <a:buFontTx/>
              <a:buChar char="-"/>
            </a:pPr>
            <a:r>
              <a:rPr lang="pt-BR" dirty="0"/>
              <a:t>Número de lugares</a:t>
            </a:r>
          </a:p>
          <a:p>
            <a:pPr marL="285750" indent="-285750">
              <a:buFontTx/>
              <a:buChar char="-"/>
            </a:pPr>
            <a:r>
              <a:rPr lang="pt-BR" dirty="0"/>
              <a:t>Tipo de som</a:t>
            </a:r>
          </a:p>
          <a:p>
            <a:pPr marL="285750" indent="-285750">
              <a:buFontTx/>
              <a:buChar char="-"/>
            </a:pPr>
            <a:r>
              <a:rPr lang="pt-BR" dirty="0"/>
              <a:t>Acesso a deficientes</a:t>
            </a:r>
          </a:p>
        </p:txBody>
      </p:sp>
      <p:sp>
        <p:nvSpPr>
          <p:cNvPr id="16" name="CaixaDeTexto 15">
            <a:extLst>
              <a:ext uri="{FF2B5EF4-FFF2-40B4-BE49-F238E27FC236}">
                <a16:creationId xmlns:a16="http://schemas.microsoft.com/office/drawing/2014/main" id="{E99EEB24-7D19-9DE5-B6D1-8BE8A510D588}"/>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22" name="Conector reto 21">
            <a:extLst>
              <a:ext uri="{FF2B5EF4-FFF2-40B4-BE49-F238E27FC236}">
                <a16:creationId xmlns:a16="http://schemas.microsoft.com/office/drawing/2014/main" id="{0BA7B12F-0042-518E-2C6B-271E476A0907}"/>
              </a:ext>
            </a:extLst>
          </p:cNvPr>
          <p:cNvCxnSpPr>
            <a:cxnSpLocks/>
          </p:cNvCxnSpPr>
          <p:nvPr/>
        </p:nvCxnSpPr>
        <p:spPr>
          <a:xfrm>
            <a:off x="8326216" y="4083597"/>
            <a:ext cx="0" cy="2623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F66F5879-07F5-24F3-78F6-D8885228146B}"/>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E634E543-5672-A1D9-1F01-48A88CF5E8B2}"/>
              </a:ext>
            </a:extLst>
          </p:cNvPr>
          <p:cNvSpPr txBox="1"/>
          <p:nvPr/>
        </p:nvSpPr>
        <p:spPr>
          <a:xfrm>
            <a:off x="8691108" y="4189481"/>
            <a:ext cx="1262802" cy="369332"/>
          </a:xfrm>
          <a:prstGeom prst="rect">
            <a:avLst/>
          </a:prstGeom>
          <a:noFill/>
          <a:ln>
            <a:solidFill>
              <a:schemeClr val="tx1"/>
            </a:solidFill>
          </a:ln>
        </p:spPr>
        <p:txBody>
          <a:bodyPr wrap="square" rtlCol="0">
            <a:spAutoFit/>
          </a:bodyPr>
          <a:lstStyle/>
          <a:p>
            <a:pPr algn="ctr"/>
            <a:r>
              <a:rPr lang="pt-BR" dirty="0"/>
              <a:t>Diretor</a:t>
            </a:r>
          </a:p>
        </p:txBody>
      </p:sp>
      <p:sp>
        <p:nvSpPr>
          <p:cNvPr id="26" name="CaixaDeTexto 25">
            <a:extLst>
              <a:ext uri="{FF2B5EF4-FFF2-40B4-BE49-F238E27FC236}">
                <a16:creationId xmlns:a16="http://schemas.microsoft.com/office/drawing/2014/main" id="{668D7A6A-5762-B31F-54EA-DC79AB3E1EF5}"/>
              </a:ext>
            </a:extLst>
          </p:cNvPr>
          <p:cNvSpPr txBox="1"/>
          <p:nvPr/>
        </p:nvSpPr>
        <p:spPr>
          <a:xfrm>
            <a:off x="10791345" y="4189481"/>
            <a:ext cx="1050515" cy="369332"/>
          </a:xfrm>
          <a:prstGeom prst="rect">
            <a:avLst/>
          </a:prstGeom>
          <a:noFill/>
          <a:ln>
            <a:solidFill>
              <a:schemeClr val="tx1"/>
            </a:solidFill>
          </a:ln>
        </p:spPr>
        <p:txBody>
          <a:bodyPr wrap="square" rtlCol="0">
            <a:spAutoFit/>
          </a:bodyPr>
          <a:lstStyle/>
          <a:p>
            <a:pPr algn="ctr"/>
            <a:r>
              <a:rPr lang="pt-BR" dirty="0"/>
              <a:t>Elenco</a:t>
            </a:r>
          </a:p>
        </p:txBody>
      </p:sp>
      <p:cxnSp>
        <p:nvCxnSpPr>
          <p:cNvPr id="27" name="Conector reto 26">
            <a:extLst>
              <a:ext uri="{FF2B5EF4-FFF2-40B4-BE49-F238E27FC236}">
                <a16:creationId xmlns:a16="http://schemas.microsoft.com/office/drawing/2014/main" id="{D74799A3-56C7-4706-19BE-1924D10991BE}"/>
              </a:ext>
            </a:extLst>
          </p:cNvPr>
          <p:cNvCxnSpPr>
            <a:cxnSpLocks/>
          </p:cNvCxnSpPr>
          <p:nvPr/>
        </p:nvCxnSpPr>
        <p:spPr>
          <a:xfrm>
            <a:off x="10372627"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30593127-4791-5209-092E-4720ACFFB238}"/>
              </a:ext>
            </a:extLst>
          </p:cNvPr>
          <p:cNvSpPr txBox="1"/>
          <p:nvPr/>
        </p:nvSpPr>
        <p:spPr>
          <a:xfrm>
            <a:off x="8378052" y="4671229"/>
            <a:ext cx="1751816" cy="369332"/>
          </a:xfrm>
          <a:prstGeom prst="rect">
            <a:avLst/>
          </a:prstGeom>
          <a:noFill/>
        </p:spPr>
        <p:txBody>
          <a:bodyPr wrap="square" rtlCol="0">
            <a:spAutoFit/>
          </a:bodyPr>
          <a:lstStyle/>
          <a:p>
            <a:pPr marL="285750" indent="-285750">
              <a:buFontTx/>
              <a:buChar char="-"/>
            </a:pPr>
            <a:r>
              <a:rPr lang="pt-BR" dirty="0"/>
              <a:t>Nome</a:t>
            </a:r>
          </a:p>
        </p:txBody>
      </p:sp>
      <p:sp>
        <p:nvSpPr>
          <p:cNvPr id="29" name="CaixaDeTexto 28">
            <a:extLst>
              <a:ext uri="{FF2B5EF4-FFF2-40B4-BE49-F238E27FC236}">
                <a16:creationId xmlns:a16="http://schemas.microsoft.com/office/drawing/2014/main" id="{F40F2788-96DA-CF46-A623-5460991ACACB}"/>
              </a:ext>
            </a:extLst>
          </p:cNvPr>
          <p:cNvSpPr txBox="1"/>
          <p:nvPr/>
        </p:nvSpPr>
        <p:spPr>
          <a:xfrm>
            <a:off x="10511282" y="4656453"/>
            <a:ext cx="1751816" cy="646331"/>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dirty="0"/>
              <a:t>Papel</a:t>
            </a:r>
          </a:p>
        </p:txBody>
      </p:sp>
    </p:spTree>
    <p:extLst>
      <p:ext uri="{BB962C8B-B14F-4D97-AF65-F5344CB8AC3E}">
        <p14:creationId xmlns:p14="http://schemas.microsoft.com/office/powerpoint/2010/main" val="2873987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30FD02-42CB-8CAA-467E-3661A411D873}"/>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4" name="CaixaDeTexto 3">
            <a:extLst>
              <a:ext uri="{FF2B5EF4-FFF2-40B4-BE49-F238E27FC236}">
                <a16:creationId xmlns:a16="http://schemas.microsoft.com/office/drawing/2014/main" id="{35D6A63B-D3A2-D3AB-FFFD-92FD890E1AD7}"/>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6" name="CaixaDeTexto 5">
            <a:extLst>
              <a:ext uri="{FF2B5EF4-FFF2-40B4-BE49-F238E27FC236}">
                <a16:creationId xmlns:a16="http://schemas.microsoft.com/office/drawing/2014/main" id="{3B828840-CDF7-122B-D05F-B60DE22D0A8F}"/>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7" name="CaixaDeTexto 6">
            <a:extLst>
              <a:ext uri="{FF2B5EF4-FFF2-40B4-BE49-F238E27FC236}">
                <a16:creationId xmlns:a16="http://schemas.microsoft.com/office/drawing/2014/main" id="{AA2B8208-5AC9-F0F4-0ACC-DEFC82722907}"/>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cxnSp>
        <p:nvCxnSpPr>
          <p:cNvPr id="10" name="Conector reto 9">
            <a:extLst>
              <a:ext uri="{FF2B5EF4-FFF2-40B4-BE49-F238E27FC236}">
                <a16:creationId xmlns:a16="http://schemas.microsoft.com/office/drawing/2014/main" id="{25858B0C-A9E8-6884-F912-B6C196F68B83}"/>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D42337CD-9D76-AE18-F87D-4F2547CD0BF7}"/>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AFEDD4E-54EA-A604-5617-6A3AE13FDF74}"/>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FA9DDF26-33A2-DF39-1036-BA6957D9E306}"/>
              </a:ext>
            </a:extLst>
          </p:cNvPr>
          <p:cNvSpPr txBox="1"/>
          <p:nvPr/>
        </p:nvSpPr>
        <p:spPr>
          <a:xfrm>
            <a:off x="162613" y="96934"/>
            <a:ext cx="11799999" cy="2450094"/>
          </a:xfrm>
          <a:prstGeom prst="rect">
            <a:avLst/>
          </a:prstGeom>
          <a:noFill/>
        </p:spPr>
        <p:txBody>
          <a:bodyPr wrap="square">
            <a:spAutoFit/>
          </a:bodyPr>
          <a:lstStyle/>
          <a:p>
            <a:pPr algn="just">
              <a:lnSpc>
                <a:spcPct val="107000"/>
              </a:lnSpc>
              <a:spcAft>
                <a:spcPts val="800"/>
              </a:spcAft>
            </a:pPr>
            <a:r>
              <a:rPr lang="pt-BR" kern="100" dirty="0">
                <a:effectLst/>
                <a:latin typeface="Calibri" panose="020F0502020204030204" pitchFamily="34" charset="0"/>
                <a:ea typeface="Calibri" panose="020F0502020204030204" pitchFamily="34" charset="0"/>
                <a:cs typeface="Times New Roman" panose="02020603050405020304" pitchFamily="18" charset="0"/>
              </a:rPr>
              <a:t>Uma empresa responsável por manter um site voltado para entretenimento em todos os estados do Brasil quer o projeto de uma base de dados para a seção de cinema do site. Navegando no site, os internautas encontrarão informações de </a:t>
            </a:r>
            <a:r>
              <a:rPr lang="pt-BR"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todos os filmes em cartaz em cada um dos cinemas de cada cidade do país</a:t>
            </a:r>
            <a:r>
              <a:rPr lang="pt-BR" kern="100" dirty="0">
                <a:effectLst/>
                <a:latin typeface="Calibri" panose="020F0502020204030204" pitchFamily="34" charset="0"/>
                <a:ea typeface="Calibri" panose="020F0502020204030204" pitchFamily="34" charset="0"/>
                <a:cs typeface="Times New Roman" panose="02020603050405020304" pitchFamily="18" charset="0"/>
              </a:rPr>
              <a:t>. Poderão consultar as sessões de cada filme em cada cinema, com dias da semana, horários, preços de ingresso, salas (com informações sobre número de lugares, tipo de som, acesso a deficientes). Além disso, encontrarão informações a respeito dos filmes, como título no Brasil, título original, legendado/dublado, sinopse, diretores, elenco principal (com indicação dos protagonistas), gênero e classificação. E, ao escolherem a melhor opção, poderão consultar endereço e telefone do cinema onde estiver passando o filme. O CNPJ do cinema também é armazenado.</a:t>
            </a:r>
            <a:endParaRPr lang="pt-BR"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aixaDeTexto 7">
            <a:extLst>
              <a:ext uri="{FF2B5EF4-FFF2-40B4-BE49-F238E27FC236}">
                <a16:creationId xmlns:a16="http://schemas.microsoft.com/office/drawing/2014/main" id="{CDED82E5-4ED8-040E-C873-EC18A1492A84}"/>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dirty="0"/>
              <a:t>CNPJ</a:t>
            </a:r>
          </a:p>
          <a:p>
            <a:pPr marL="285750" indent="-285750">
              <a:buFontTx/>
              <a:buChar char="-"/>
            </a:pPr>
            <a:r>
              <a:rPr lang="pt-BR" dirty="0"/>
              <a:t>Endereço</a:t>
            </a:r>
          </a:p>
          <a:p>
            <a:pPr marL="285750" indent="-285750">
              <a:buFontTx/>
              <a:buChar char="-"/>
            </a:pPr>
            <a:r>
              <a:rPr lang="pt-BR" dirty="0"/>
              <a:t>Telefone</a:t>
            </a:r>
          </a:p>
        </p:txBody>
      </p:sp>
      <p:sp>
        <p:nvSpPr>
          <p:cNvPr id="9" name="CaixaDeTexto 8">
            <a:extLst>
              <a:ext uri="{FF2B5EF4-FFF2-40B4-BE49-F238E27FC236}">
                <a16:creationId xmlns:a16="http://schemas.microsoft.com/office/drawing/2014/main" id="{2008D058-1C9A-1B76-3D59-C7018E4809DE}"/>
              </a:ext>
            </a:extLst>
          </p:cNvPr>
          <p:cNvSpPr txBox="1"/>
          <p:nvPr/>
        </p:nvSpPr>
        <p:spPr>
          <a:xfrm>
            <a:off x="2025991" y="4637782"/>
            <a:ext cx="3266390" cy="1477328"/>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p:txBody>
      </p:sp>
      <p:sp>
        <p:nvSpPr>
          <p:cNvPr id="14" name="CaixaDeTexto 13">
            <a:extLst>
              <a:ext uri="{FF2B5EF4-FFF2-40B4-BE49-F238E27FC236}">
                <a16:creationId xmlns:a16="http://schemas.microsoft.com/office/drawing/2014/main" id="{B54F5914-782C-A8A9-2724-8A1E3753800E}"/>
              </a:ext>
            </a:extLst>
          </p:cNvPr>
          <p:cNvSpPr txBox="1"/>
          <p:nvPr/>
        </p:nvSpPr>
        <p:spPr>
          <a:xfrm>
            <a:off x="6637454" y="4677609"/>
            <a:ext cx="1751816" cy="1200329"/>
          </a:xfrm>
          <a:prstGeom prst="rect">
            <a:avLst/>
          </a:prstGeom>
          <a:noFill/>
        </p:spPr>
        <p:txBody>
          <a:bodyPr wrap="square" rtlCol="0">
            <a:spAutoFit/>
          </a:bodyPr>
          <a:lstStyle/>
          <a:p>
            <a:pPr marL="285750" indent="-285750">
              <a:buFontTx/>
              <a:buChar char="-"/>
            </a:pPr>
            <a:r>
              <a:rPr lang="pt-BR" dirty="0"/>
              <a:t>N° de lugares</a:t>
            </a:r>
          </a:p>
          <a:p>
            <a:pPr marL="285750" indent="-285750">
              <a:buFontTx/>
              <a:buChar char="-"/>
            </a:pPr>
            <a:r>
              <a:rPr lang="pt-BR" dirty="0"/>
              <a:t>Tipo de som</a:t>
            </a:r>
          </a:p>
          <a:p>
            <a:pPr marL="285750" indent="-285750">
              <a:buFontTx/>
              <a:buChar char="-"/>
            </a:pPr>
            <a:r>
              <a:rPr lang="pt-BR" dirty="0"/>
              <a:t>Acesso a deficientes</a:t>
            </a:r>
          </a:p>
        </p:txBody>
      </p:sp>
      <p:sp>
        <p:nvSpPr>
          <p:cNvPr id="16" name="CaixaDeTexto 15">
            <a:extLst>
              <a:ext uri="{FF2B5EF4-FFF2-40B4-BE49-F238E27FC236}">
                <a16:creationId xmlns:a16="http://schemas.microsoft.com/office/drawing/2014/main" id="{E99EEB24-7D19-9DE5-B6D1-8BE8A510D588}"/>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22" name="Conector reto 21">
            <a:extLst>
              <a:ext uri="{FF2B5EF4-FFF2-40B4-BE49-F238E27FC236}">
                <a16:creationId xmlns:a16="http://schemas.microsoft.com/office/drawing/2014/main" id="{0BA7B12F-0042-518E-2C6B-271E476A0907}"/>
              </a:ext>
            </a:extLst>
          </p:cNvPr>
          <p:cNvCxnSpPr>
            <a:cxnSpLocks/>
          </p:cNvCxnSpPr>
          <p:nvPr/>
        </p:nvCxnSpPr>
        <p:spPr>
          <a:xfrm>
            <a:off x="8326216" y="4083597"/>
            <a:ext cx="0" cy="2623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F66F5879-07F5-24F3-78F6-D8885228146B}"/>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E634E543-5672-A1D9-1F01-48A88CF5E8B2}"/>
              </a:ext>
            </a:extLst>
          </p:cNvPr>
          <p:cNvSpPr txBox="1"/>
          <p:nvPr/>
        </p:nvSpPr>
        <p:spPr>
          <a:xfrm>
            <a:off x="8691108" y="4189481"/>
            <a:ext cx="1262802" cy="369332"/>
          </a:xfrm>
          <a:prstGeom prst="rect">
            <a:avLst/>
          </a:prstGeom>
          <a:noFill/>
          <a:ln>
            <a:solidFill>
              <a:schemeClr val="tx1"/>
            </a:solidFill>
          </a:ln>
        </p:spPr>
        <p:txBody>
          <a:bodyPr wrap="square" rtlCol="0">
            <a:spAutoFit/>
          </a:bodyPr>
          <a:lstStyle/>
          <a:p>
            <a:pPr algn="ctr"/>
            <a:r>
              <a:rPr lang="pt-BR" dirty="0"/>
              <a:t>Diretor</a:t>
            </a:r>
          </a:p>
        </p:txBody>
      </p:sp>
      <p:sp>
        <p:nvSpPr>
          <p:cNvPr id="26" name="CaixaDeTexto 25">
            <a:extLst>
              <a:ext uri="{FF2B5EF4-FFF2-40B4-BE49-F238E27FC236}">
                <a16:creationId xmlns:a16="http://schemas.microsoft.com/office/drawing/2014/main" id="{668D7A6A-5762-B31F-54EA-DC79AB3E1EF5}"/>
              </a:ext>
            </a:extLst>
          </p:cNvPr>
          <p:cNvSpPr txBox="1"/>
          <p:nvPr/>
        </p:nvSpPr>
        <p:spPr>
          <a:xfrm>
            <a:off x="10791345" y="4189481"/>
            <a:ext cx="1050515" cy="369332"/>
          </a:xfrm>
          <a:prstGeom prst="rect">
            <a:avLst/>
          </a:prstGeom>
          <a:noFill/>
          <a:ln>
            <a:solidFill>
              <a:schemeClr val="tx1"/>
            </a:solidFill>
          </a:ln>
        </p:spPr>
        <p:txBody>
          <a:bodyPr wrap="square" rtlCol="0">
            <a:spAutoFit/>
          </a:bodyPr>
          <a:lstStyle/>
          <a:p>
            <a:pPr algn="ctr"/>
            <a:r>
              <a:rPr lang="pt-BR" dirty="0"/>
              <a:t>Elenco</a:t>
            </a:r>
          </a:p>
        </p:txBody>
      </p:sp>
      <p:cxnSp>
        <p:nvCxnSpPr>
          <p:cNvPr id="27" name="Conector reto 26">
            <a:extLst>
              <a:ext uri="{FF2B5EF4-FFF2-40B4-BE49-F238E27FC236}">
                <a16:creationId xmlns:a16="http://schemas.microsoft.com/office/drawing/2014/main" id="{D74799A3-56C7-4706-19BE-1924D10991BE}"/>
              </a:ext>
            </a:extLst>
          </p:cNvPr>
          <p:cNvCxnSpPr>
            <a:cxnSpLocks/>
          </p:cNvCxnSpPr>
          <p:nvPr/>
        </p:nvCxnSpPr>
        <p:spPr>
          <a:xfrm>
            <a:off x="10372627"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30593127-4791-5209-092E-4720ACFFB238}"/>
              </a:ext>
            </a:extLst>
          </p:cNvPr>
          <p:cNvSpPr txBox="1"/>
          <p:nvPr/>
        </p:nvSpPr>
        <p:spPr>
          <a:xfrm>
            <a:off x="8378052" y="4671229"/>
            <a:ext cx="1751816" cy="369332"/>
          </a:xfrm>
          <a:prstGeom prst="rect">
            <a:avLst/>
          </a:prstGeom>
          <a:noFill/>
        </p:spPr>
        <p:txBody>
          <a:bodyPr wrap="square" rtlCol="0">
            <a:spAutoFit/>
          </a:bodyPr>
          <a:lstStyle/>
          <a:p>
            <a:pPr marL="285750" indent="-285750">
              <a:buFontTx/>
              <a:buChar char="-"/>
            </a:pPr>
            <a:r>
              <a:rPr lang="pt-BR" dirty="0"/>
              <a:t>Nome</a:t>
            </a:r>
          </a:p>
        </p:txBody>
      </p:sp>
      <p:sp>
        <p:nvSpPr>
          <p:cNvPr id="29" name="CaixaDeTexto 28">
            <a:extLst>
              <a:ext uri="{FF2B5EF4-FFF2-40B4-BE49-F238E27FC236}">
                <a16:creationId xmlns:a16="http://schemas.microsoft.com/office/drawing/2014/main" id="{F40F2788-96DA-CF46-A623-5460991ACACB}"/>
              </a:ext>
            </a:extLst>
          </p:cNvPr>
          <p:cNvSpPr txBox="1"/>
          <p:nvPr/>
        </p:nvSpPr>
        <p:spPr>
          <a:xfrm>
            <a:off x="10511282" y="4656453"/>
            <a:ext cx="1751816" cy="646331"/>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dirty="0"/>
              <a:t>Papel</a:t>
            </a:r>
          </a:p>
        </p:txBody>
      </p:sp>
      <p:sp>
        <p:nvSpPr>
          <p:cNvPr id="5" name="Fluxograma: Decisão 4">
            <a:extLst>
              <a:ext uri="{FF2B5EF4-FFF2-40B4-BE49-F238E27FC236}">
                <a16:creationId xmlns:a16="http://schemas.microsoft.com/office/drawing/2014/main" id="{B9CA9E2B-D81F-6950-D069-B30CB5B46E43}"/>
              </a:ext>
            </a:extLst>
          </p:cNvPr>
          <p:cNvSpPr/>
          <p:nvPr/>
        </p:nvSpPr>
        <p:spPr>
          <a:xfrm>
            <a:off x="1828800" y="3357813"/>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Angulado 17">
            <a:extLst>
              <a:ext uri="{FF2B5EF4-FFF2-40B4-BE49-F238E27FC236}">
                <a16:creationId xmlns:a16="http://schemas.microsoft.com/office/drawing/2014/main" id="{40F205C2-203F-FD46-A7D9-2C4A0DC3C25B}"/>
              </a:ext>
            </a:extLst>
          </p:cNvPr>
          <p:cNvCxnSpPr>
            <a:stCxn id="5" idx="3"/>
            <a:endCxn id="4" idx="0"/>
          </p:cNvCxnSpPr>
          <p:nvPr/>
        </p:nvCxnSpPr>
        <p:spPr>
          <a:xfrm>
            <a:off x="2960016" y="3645330"/>
            <a:ext cx="604307" cy="570138"/>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Conector: Angulado 19">
            <a:extLst>
              <a:ext uri="{FF2B5EF4-FFF2-40B4-BE49-F238E27FC236}">
                <a16:creationId xmlns:a16="http://schemas.microsoft.com/office/drawing/2014/main" id="{91B88FED-3320-DC23-3DDC-F54AA6E4CAC3}"/>
              </a:ext>
            </a:extLst>
          </p:cNvPr>
          <p:cNvCxnSpPr>
            <a:stCxn id="5" idx="1"/>
            <a:endCxn id="2" idx="0"/>
          </p:cNvCxnSpPr>
          <p:nvPr/>
        </p:nvCxnSpPr>
        <p:spPr>
          <a:xfrm rot="10800000" flipV="1">
            <a:off x="979614" y="3645330"/>
            <a:ext cx="849186" cy="56278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17B5895C-AE77-A3DC-06D7-C3917377D299}"/>
              </a:ext>
            </a:extLst>
          </p:cNvPr>
          <p:cNvSpPr txBox="1"/>
          <p:nvPr/>
        </p:nvSpPr>
        <p:spPr>
          <a:xfrm>
            <a:off x="2091976" y="3441994"/>
            <a:ext cx="849186" cy="369332"/>
          </a:xfrm>
          <a:prstGeom prst="rect">
            <a:avLst/>
          </a:prstGeom>
          <a:noFill/>
        </p:spPr>
        <p:txBody>
          <a:bodyPr wrap="square" rtlCol="0">
            <a:spAutoFit/>
          </a:bodyPr>
          <a:lstStyle/>
          <a:p>
            <a:r>
              <a:rPr lang="pt-BR" dirty="0"/>
              <a:t>exibe</a:t>
            </a:r>
          </a:p>
        </p:txBody>
      </p:sp>
      <p:sp>
        <p:nvSpPr>
          <p:cNvPr id="23" name="CaixaDeTexto 22">
            <a:extLst>
              <a:ext uri="{FF2B5EF4-FFF2-40B4-BE49-F238E27FC236}">
                <a16:creationId xmlns:a16="http://schemas.microsoft.com/office/drawing/2014/main" id="{60562041-1A6B-4BBF-0587-58F11F0F5480}"/>
              </a:ext>
            </a:extLst>
          </p:cNvPr>
          <p:cNvSpPr txBox="1"/>
          <p:nvPr/>
        </p:nvSpPr>
        <p:spPr>
          <a:xfrm>
            <a:off x="3236937" y="3838760"/>
            <a:ext cx="364893" cy="369332"/>
          </a:xfrm>
          <a:prstGeom prst="rect">
            <a:avLst/>
          </a:prstGeom>
          <a:noFill/>
        </p:spPr>
        <p:txBody>
          <a:bodyPr wrap="square" rtlCol="0">
            <a:spAutoFit/>
          </a:bodyPr>
          <a:lstStyle/>
          <a:p>
            <a:r>
              <a:rPr lang="pt-BR" dirty="0"/>
              <a:t>n</a:t>
            </a:r>
          </a:p>
        </p:txBody>
      </p:sp>
      <p:sp>
        <p:nvSpPr>
          <p:cNvPr id="30" name="CaixaDeTexto 29">
            <a:extLst>
              <a:ext uri="{FF2B5EF4-FFF2-40B4-BE49-F238E27FC236}">
                <a16:creationId xmlns:a16="http://schemas.microsoft.com/office/drawing/2014/main" id="{9403D9F8-DE67-1999-3C7B-B7544B594279}"/>
              </a:ext>
            </a:extLst>
          </p:cNvPr>
          <p:cNvSpPr txBox="1"/>
          <p:nvPr/>
        </p:nvSpPr>
        <p:spPr>
          <a:xfrm>
            <a:off x="938771" y="3868949"/>
            <a:ext cx="364893" cy="369332"/>
          </a:xfrm>
          <a:prstGeom prst="rect">
            <a:avLst/>
          </a:prstGeom>
          <a:noFill/>
        </p:spPr>
        <p:txBody>
          <a:bodyPr wrap="square" rtlCol="0">
            <a:spAutoFit/>
          </a:bodyPr>
          <a:lstStyle/>
          <a:p>
            <a:r>
              <a:rPr lang="pt-BR" dirty="0"/>
              <a:t>n</a:t>
            </a:r>
          </a:p>
        </p:txBody>
      </p:sp>
    </p:spTree>
    <p:extLst>
      <p:ext uri="{BB962C8B-B14F-4D97-AF65-F5344CB8AC3E}">
        <p14:creationId xmlns:p14="http://schemas.microsoft.com/office/powerpoint/2010/main" val="1686164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30FD02-42CB-8CAA-467E-3661A411D873}"/>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4" name="CaixaDeTexto 3">
            <a:extLst>
              <a:ext uri="{FF2B5EF4-FFF2-40B4-BE49-F238E27FC236}">
                <a16:creationId xmlns:a16="http://schemas.microsoft.com/office/drawing/2014/main" id="{35D6A63B-D3A2-D3AB-FFFD-92FD890E1AD7}"/>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6" name="CaixaDeTexto 5">
            <a:extLst>
              <a:ext uri="{FF2B5EF4-FFF2-40B4-BE49-F238E27FC236}">
                <a16:creationId xmlns:a16="http://schemas.microsoft.com/office/drawing/2014/main" id="{3B828840-CDF7-122B-D05F-B60DE22D0A8F}"/>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7" name="CaixaDeTexto 6">
            <a:extLst>
              <a:ext uri="{FF2B5EF4-FFF2-40B4-BE49-F238E27FC236}">
                <a16:creationId xmlns:a16="http://schemas.microsoft.com/office/drawing/2014/main" id="{AA2B8208-5AC9-F0F4-0ACC-DEFC82722907}"/>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cxnSp>
        <p:nvCxnSpPr>
          <p:cNvPr id="10" name="Conector reto 9">
            <a:extLst>
              <a:ext uri="{FF2B5EF4-FFF2-40B4-BE49-F238E27FC236}">
                <a16:creationId xmlns:a16="http://schemas.microsoft.com/office/drawing/2014/main" id="{25858B0C-A9E8-6884-F912-B6C196F68B83}"/>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D42337CD-9D76-AE18-F87D-4F2547CD0BF7}"/>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AFEDD4E-54EA-A604-5617-6A3AE13FDF74}"/>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FA9DDF26-33A2-DF39-1036-BA6957D9E306}"/>
              </a:ext>
            </a:extLst>
          </p:cNvPr>
          <p:cNvSpPr txBox="1"/>
          <p:nvPr/>
        </p:nvSpPr>
        <p:spPr>
          <a:xfrm>
            <a:off x="162613" y="96934"/>
            <a:ext cx="11799999" cy="2450094"/>
          </a:xfrm>
          <a:prstGeom prst="rect">
            <a:avLst/>
          </a:prstGeom>
          <a:noFill/>
        </p:spPr>
        <p:txBody>
          <a:bodyPr wrap="square">
            <a:spAutoFit/>
          </a:bodyPr>
          <a:lstStyle/>
          <a:p>
            <a:pPr algn="just">
              <a:lnSpc>
                <a:spcPct val="107000"/>
              </a:lnSpc>
              <a:spcAft>
                <a:spcPts val="800"/>
              </a:spcAft>
            </a:pPr>
            <a:r>
              <a:rPr lang="pt-BR" kern="100" dirty="0">
                <a:effectLst/>
                <a:latin typeface="Calibri" panose="020F0502020204030204" pitchFamily="34" charset="0"/>
                <a:ea typeface="Calibri" panose="020F0502020204030204" pitchFamily="34" charset="0"/>
                <a:cs typeface="Times New Roman" panose="02020603050405020304" pitchFamily="18" charset="0"/>
              </a:rPr>
              <a:t>Uma empresa responsável por manter um site voltado para entretenimento em todos os estados do Brasil quer o projeto de uma base de dados para a seção de cinema do site. Navegando no site, os internautas encontrarão informações de todos os filmes em cartaz em cada um dos cinemas de cada cidade do país. Poderão </a:t>
            </a:r>
            <a:r>
              <a:rPr lang="pt-BR"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consultar as sessões de cada filme em cada cinema</a:t>
            </a:r>
            <a:r>
              <a:rPr lang="pt-BR" kern="100" dirty="0">
                <a:effectLst/>
                <a:latin typeface="Calibri" panose="020F0502020204030204" pitchFamily="34" charset="0"/>
                <a:ea typeface="Calibri" panose="020F0502020204030204" pitchFamily="34" charset="0"/>
                <a:cs typeface="Times New Roman" panose="02020603050405020304" pitchFamily="18" charset="0"/>
              </a:rPr>
              <a:t>, com dias da semana, horários, preços de ingresso, salas (com informações sobre número de lugares, tipo de som, acesso a deficientes). Além disso, encontrarão informações a respeito dos filmes, como título no Brasil, título original, legendado/dublado, sinopse, diretores, elenco principal (com indicação dos protagonistas), gênero e classificação. E, ao escolherem a melhor opção, poderão consultar endereço e telefone do cinema onde estiver passando o filme. O CNPJ do cinema também é armazenado.</a:t>
            </a:r>
            <a:endParaRPr lang="pt-BR"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aixaDeTexto 7">
            <a:extLst>
              <a:ext uri="{FF2B5EF4-FFF2-40B4-BE49-F238E27FC236}">
                <a16:creationId xmlns:a16="http://schemas.microsoft.com/office/drawing/2014/main" id="{CDED82E5-4ED8-040E-C873-EC18A1492A84}"/>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dirty="0"/>
              <a:t>CNPJ</a:t>
            </a:r>
          </a:p>
          <a:p>
            <a:pPr marL="285750" indent="-285750">
              <a:buFontTx/>
              <a:buChar char="-"/>
            </a:pPr>
            <a:r>
              <a:rPr lang="pt-BR" dirty="0"/>
              <a:t>Endereço</a:t>
            </a:r>
          </a:p>
          <a:p>
            <a:pPr marL="285750" indent="-285750">
              <a:buFontTx/>
              <a:buChar char="-"/>
            </a:pPr>
            <a:r>
              <a:rPr lang="pt-BR" dirty="0"/>
              <a:t>Telefone</a:t>
            </a:r>
          </a:p>
        </p:txBody>
      </p:sp>
      <p:sp>
        <p:nvSpPr>
          <p:cNvPr id="9" name="CaixaDeTexto 8">
            <a:extLst>
              <a:ext uri="{FF2B5EF4-FFF2-40B4-BE49-F238E27FC236}">
                <a16:creationId xmlns:a16="http://schemas.microsoft.com/office/drawing/2014/main" id="{2008D058-1C9A-1B76-3D59-C7018E4809DE}"/>
              </a:ext>
            </a:extLst>
          </p:cNvPr>
          <p:cNvSpPr txBox="1"/>
          <p:nvPr/>
        </p:nvSpPr>
        <p:spPr>
          <a:xfrm>
            <a:off x="2025991" y="4637782"/>
            <a:ext cx="3266390" cy="1477328"/>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p:txBody>
      </p:sp>
      <p:sp>
        <p:nvSpPr>
          <p:cNvPr id="14" name="CaixaDeTexto 13">
            <a:extLst>
              <a:ext uri="{FF2B5EF4-FFF2-40B4-BE49-F238E27FC236}">
                <a16:creationId xmlns:a16="http://schemas.microsoft.com/office/drawing/2014/main" id="{B54F5914-782C-A8A9-2724-8A1E3753800E}"/>
              </a:ext>
            </a:extLst>
          </p:cNvPr>
          <p:cNvSpPr txBox="1"/>
          <p:nvPr/>
        </p:nvSpPr>
        <p:spPr>
          <a:xfrm>
            <a:off x="6637454" y="4677609"/>
            <a:ext cx="1751816" cy="1200329"/>
          </a:xfrm>
          <a:prstGeom prst="rect">
            <a:avLst/>
          </a:prstGeom>
          <a:noFill/>
        </p:spPr>
        <p:txBody>
          <a:bodyPr wrap="square" rtlCol="0">
            <a:spAutoFit/>
          </a:bodyPr>
          <a:lstStyle/>
          <a:p>
            <a:pPr marL="285750" indent="-285750">
              <a:buFontTx/>
              <a:buChar char="-"/>
            </a:pPr>
            <a:r>
              <a:rPr lang="pt-BR" dirty="0"/>
              <a:t>N° de lugares</a:t>
            </a:r>
          </a:p>
          <a:p>
            <a:pPr marL="285750" indent="-285750">
              <a:buFontTx/>
              <a:buChar char="-"/>
            </a:pPr>
            <a:r>
              <a:rPr lang="pt-BR" dirty="0"/>
              <a:t>Tipo de som</a:t>
            </a:r>
          </a:p>
          <a:p>
            <a:pPr marL="285750" indent="-285750">
              <a:buFontTx/>
              <a:buChar char="-"/>
            </a:pPr>
            <a:r>
              <a:rPr lang="pt-BR" dirty="0"/>
              <a:t>Acesso a deficientes</a:t>
            </a:r>
          </a:p>
        </p:txBody>
      </p:sp>
      <p:sp>
        <p:nvSpPr>
          <p:cNvPr id="16" name="CaixaDeTexto 15">
            <a:extLst>
              <a:ext uri="{FF2B5EF4-FFF2-40B4-BE49-F238E27FC236}">
                <a16:creationId xmlns:a16="http://schemas.microsoft.com/office/drawing/2014/main" id="{E99EEB24-7D19-9DE5-B6D1-8BE8A510D588}"/>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22" name="Conector reto 21">
            <a:extLst>
              <a:ext uri="{FF2B5EF4-FFF2-40B4-BE49-F238E27FC236}">
                <a16:creationId xmlns:a16="http://schemas.microsoft.com/office/drawing/2014/main" id="{0BA7B12F-0042-518E-2C6B-271E476A0907}"/>
              </a:ext>
            </a:extLst>
          </p:cNvPr>
          <p:cNvCxnSpPr>
            <a:cxnSpLocks/>
          </p:cNvCxnSpPr>
          <p:nvPr/>
        </p:nvCxnSpPr>
        <p:spPr>
          <a:xfrm>
            <a:off x="8326216" y="4083597"/>
            <a:ext cx="0" cy="2623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F66F5879-07F5-24F3-78F6-D8885228146B}"/>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E634E543-5672-A1D9-1F01-48A88CF5E8B2}"/>
              </a:ext>
            </a:extLst>
          </p:cNvPr>
          <p:cNvSpPr txBox="1"/>
          <p:nvPr/>
        </p:nvSpPr>
        <p:spPr>
          <a:xfrm>
            <a:off x="8691108" y="4189481"/>
            <a:ext cx="1262802" cy="369332"/>
          </a:xfrm>
          <a:prstGeom prst="rect">
            <a:avLst/>
          </a:prstGeom>
          <a:noFill/>
          <a:ln>
            <a:solidFill>
              <a:schemeClr val="tx1"/>
            </a:solidFill>
          </a:ln>
        </p:spPr>
        <p:txBody>
          <a:bodyPr wrap="square" rtlCol="0">
            <a:spAutoFit/>
          </a:bodyPr>
          <a:lstStyle/>
          <a:p>
            <a:pPr algn="ctr"/>
            <a:r>
              <a:rPr lang="pt-BR" dirty="0"/>
              <a:t>Diretor</a:t>
            </a:r>
          </a:p>
        </p:txBody>
      </p:sp>
      <p:sp>
        <p:nvSpPr>
          <p:cNvPr id="26" name="CaixaDeTexto 25">
            <a:extLst>
              <a:ext uri="{FF2B5EF4-FFF2-40B4-BE49-F238E27FC236}">
                <a16:creationId xmlns:a16="http://schemas.microsoft.com/office/drawing/2014/main" id="{668D7A6A-5762-B31F-54EA-DC79AB3E1EF5}"/>
              </a:ext>
            </a:extLst>
          </p:cNvPr>
          <p:cNvSpPr txBox="1"/>
          <p:nvPr/>
        </p:nvSpPr>
        <p:spPr>
          <a:xfrm>
            <a:off x="10791345" y="4189481"/>
            <a:ext cx="1050515" cy="369332"/>
          </a:xfrm>
          <a:prstGeom prst="rect">
            <a:avLst/>
          </a:prstGeom>
          <a:noFill/>
          <a:ln>
            <a:solidFill>
              <a:schemeClr val="tx1"/>
            </a:solidFill>
          </a:ln>
        </p:spPr>
        <p:txBody>
          <a:bodyPr wrap="square" rtlCol="0">
            <a:spAutoFit/>
          </a:bodyPr>
          <a:lstStyle/>
          <a:p>
            <a:pPr algn="ctr"/>
            <a:r>
              <a:rPr lang="pt-BR" dirty="0"/>
              <a:t>Elenco</a:t>
            </a:r>
          </a:p>
        </p:txBody>
      </p:sp>
      <p:cxnSp>
        <p:nvCxnSpPr>
          <p:cNvPr id="27" name="Conector reto 26">
            <a:extLst>
              <a:ext uri="{FF2B5EF4-FFF2-40B4-BE49-F238E27FC236}">
                <a16:creationId xmlns:a16="http://schemas.microsoft.com/office/drawing/2014/main" id="{D74799A3-56C7-4706-19BE-1924D10991BE}"/>
              </a:ext>
            </a:extLst>
          </p:cNvPr>
          <p:cNvCxnSpPr>
            <a:cxnSpLocks/>
          </p:cNvCxnSpPr>
          <p:nvPr/>
        </p:nvCxnSpPr>
        <p:spPr>
          <a:xfrm>
            <a:off x="10372627"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30593127-4791-5209-092E-4720ACFFB238}"/>
              </a:ext>
            </a:extLst>
          </p:cNvPr>
          <p:cNvSpPr txBox="1"/>
          <p:nvPr/>
        </p:nvSpPr>
        <p:spPr>
          <a:xfrm>
            <a:off x="8378052" y="4671229"/>
            <a:ext cx="1751816" cy="369332"/>
          </a:xfrm>
          <a:prstGeom prst="rect">
            <a:avLst/>
          </a:prstGeom>
          <a:noFill/>
        </p:spPr>
        <p:txBody>
          <a:bodyPr wrap="square" rtlCol="0">
            <a:spAutoFit/>
          </a:bodyPr>
          <a:lstStyle/>
          <a:p>
            <a:pPr marL="285750" indent="-285750">
              <a:buFontTx/>
              <a:buChar char="-"/>
            </a:pPr>
            <a:r>
              <a:rPr lang="pt-BR" dirty="0"/>
              <a:t>Nome</a:t>
            </a:r>
          </a:p>
        </p:txBody>
      </p:sp>
      <p:sp>
        <p:nvSpPr>
          <p:cNvPr id="29" name="CaixaDeTexto 28">
            <a:extLst>
              <a:ext uri="{FF2B5EF4-FFF2-40B4-BE49-F238E27FC236}">
                <a16:creationId xmlns:a16="http://schemas.microsoft.com/office/drawing/2014/main" id="{F40F2788-96DA-CF46-A623-5460991ACACB}"/>
              </a:ext>
            </a:extLst>
          </p:cNvPr>
          <p:cNvSpPr txBox="1"/>
          <p:nvPr/>
        </p:nvSpPr>
        <p:spPr>
          <a:xfrm>
            <a:off x="10511282" y="4656453"/>
            <a:ext cx="1751816" cy="646331"/>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dirty="0"/>
              <a:t>Papel</a:t>
            </a:r>
          </a:p>
        </p:txBody>
      </p:sp>
      <p:sp>
        <p:nvSpPr>
          <p:cNvPr id="5" name="Fluxograma: Decisão 4">
            <a:extLst>
              <a:ext uri="{FF2B5EF4-FFF2-40B4-BE49-F238E27FC236}">
                <a16:creationId xmlns:a16="http://schemas.microsoft.com/office/drawing/2014/main" id="{B9CA9E2B-D81F-6950-D069-B30CB5B46E43}"/>
              </a:ext>
            </a:extLst>
          </p:cNvPr>
          <p:cNvSpPr/>
          <p:nvPr/>
        </p:nvSpPr>
        <p:spPr>
          <a:xfrm>
            <a:off x="1828800" y="3357813"/>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Angulado 17">
            <a:extLst>
              <a:ext uri="{FF2B5EF4-FFF2-40B4-BE49-F238E27FC236}">
                <a16:creationId xmlns:a16="http://schemas.microsoft.com/office/drawing/2014/main" id="{40F205C2-203F-FD46-A7D9-2C4A0DC3C25B}"/>
              </a:ext>
            </a:extLst>
          </p:cNvPr>
          <p:cNvCxnSpPr>
            <a:stCxn id="5" idx="3"/>
            <a:endCxn id="4" idx="0"/>
          </p:cNvCxnSpPr>
          <p:nvPr/>
        </p:nvCxnSpPr>
        <p:spPr>
          <a:xfrm>
            <a:off x="2960016" y="3645330"/>
            <a:ext cx="604307" cy="570138"/>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Conector: Angulado 19">
            <a:extLst>
              <a:ext uri="{FF2B5EF4-FFF2-40B4-BE49-F238E27FC236}">
                <a16:creationId xmlns:a16="http://schemas.microsoft.com/office/drawing/2014/main" id="{91B88FED-3320-DC23-3DDC-F54AA6E4CAC3}"/>
              </a:ext>
            </a:extLst>
          </p:cNvPr>
          <p:cNvCxnSpPr>
            <a:stCxn id="5" idx="1"/>
            <a:endCxn id="2" idx="0"/>
          </p:cNvCxnSpPr>
          <p:nvPr/>
        </p:nvCxnSpPr>
        <p:spPr>
          <a:xfrm rot="10800000" flipV="1">
            <a:off x="979614" y="3645330"/>
            <a:ext cx="849186" cy="56278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17B5895C-AE77-A3DC-06D7-C3917377D299}"/>
              </a:ext>
            </a:extLst>
          </p:cNvPr>
          <p:cNvSpPr txBox="1"/>
          <p:nvPr/>
        </p:nvSpPr>
        <p:spPr>
          <a:xfrm>
            <a:off x="2091976" y="3441994"/>
            <a:ext cx="849186" cy="369332"/>
          </a:xfrm>
          <a:prstGeom prst="rect">
            <a:avLst/>
          </a:prstGeom>
          <a:noFill/>
        </p:spPr>
        <p:txBody>
          <a:bodyPr wrap="square" rtlCol="0">
            <a:spAutoFit/>
          </a:bodyPr>
          <a:lstStyle/>
          <a:p>
            <a:r>
              <a:rPr lang="pt-BR" dirty="0"/>
              <a:t>exibe</a:t>
            </a:r>
          </a:p>
        </p:txBody>
      </p:sp>
      <p:sp>
        <p:nvSpPr>
          <p:cNvPr id="12" name="Fluxograma: Decisão 11">
            <a:extLst>
              <a:ext uri="{FF2B5EF4-FFF2-40B4-BE49-F238E27FC236}">
                <a16:creationId xmlns:a16="http://schemas.microsoft.com/office/drawing/2014/main" id="{1E1F5E88-9528-C372-D17E-647E2FA56E93}"/>
              </a:ext>
            </a:extLst>
          </p:cNvPr>
          <p:cNvSpPr/>
          <p:nvPr/>
        </p:nvSpPr>
        <p:spPr>
          <a:xfrm>
            <a:off x="4286234" y="3344819"/>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C02B0734-3158-A9A9-4447-FEA8C9112BCD}"/>
              </a:ext>
            </a:extLst>
          </p:cNvPr>
          <p:cNvSpPr txBox="1"/>
          <p:nvPr/>
        </p:nvSpPr>
        <p:spPr>
          <a:xfrm>
            <a:off x="4484802" y="3437454"/>
            <a:ext cx="849186" cy="369332"/>
          </a:xfrm>
          <a:prstGeom prst="rect">
            <a:avLst/>
          </a:prstGeom>
          <a:noFill/>
        </p:spPr>
        <p:txBody>
          <a:bodyPr wrap="square" rtlCol="0">
            <a:spAutoFit/>
          </a:bodyPr>
          <a:lstStyle/>
          <a:p>
            <a:r>
              <a:rPr lang="pt-BR" dirty="0"/>
              <a:t>passa</a:t>
            </a:r>
          </a:p>
        </p:txBody>
      </p:sp>
      <p:cxnSp>
        <p:nvCxnSpPr>
          <p:cNvPr id="19" name="Conector: Angulado 18">
            <a:extLst>
              <a:ext uri="{FF2B5EF4-FFF2-40B4-BE49-F238E27FC236}">
                <a16:creationId xmlns:a16="http://schemas.microsoft.com/office/drawing/2014/main" id="{EE7779E3-A0A5-C1BA-8987-B582C0795933}"/>
              </a:ext>
            </a:extLst>
          </p:cNvPr>
          <p:cNvCxnSpPr>
            <a:stCxn id="12" idx="1"/>
          </p:cNvCxnSpPr>
          <p:nvPr/>
        </p:nvCxnSpPr>
        <p:spPr>
          <a:xfrm rot="10800000" flipV="1">
            <a:off x="3846136" y="3632336"/>
            <a:ext cx="440098" cy="65686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0" name="Conector: Angulado 29">
            <a:extLst>
              <a:ext uri="{FF2B5EF4-FFF2-40B4-BE49-F238E27FC236}">
                <a16:creationId xmlns:a16="http://schemas.microsoft.com/office/drawing/2014/main" id="{45B30AC6-7FC9-DF4C-FB81-41284D0AFC53}"/>
              </a:ext>
            </a:extLst>
          </p:cNvPr>
          <p:cNvCxnSpPr>
            <a:cxnSpLocks/>
            <a:stCxn id="12" idx="3"/>
            <a:endCxn id="6" idx="0"/>
          </p:cNvCxnSpPr>
          <p:nvPr/>
        </p:nvCxnSpPr>
        <p:spPr>
          <a:xfrm>
            <a:off x="5417450" y="3632336"/>
            <a:ext cx="410859" cy="57776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0415962D-1049-056C-87DC-734D0EA8A81A}"/>
              </a:ext>
            </a:extLst>
          </p:cNvPr>
          <p:cNvSpPr txBox="1"/>
          <p:nvPr/>
        </p:nvSpPr>
        <p:spPr>
          <a:xfrm>
            <a:off x="3236937" y="3838760"/>
            <a:ext cx="364893" cy="369332"/>
          </a:xfrm>
          <a:prstGeom prst="rect">
            <a:avLst/>
          </a:prstGeom>
          <a:noFill/>
        </p:spPr>
        <p:txBody>
          <a:bodyPr wrap="square" rtlCol="0">
            <a:spAutoFit/>
          </a:bodyPr>
          <a:lstStyle/>
          <a:p>
            <a:r>
              <a:rPr lang="pt-BR" dirty="0"/>
              <a:t>n</a:t>
            </a:r>
          </a:p>
        </p:txBody>
      </p:sp>
      <p:sp>
        <p:nvSpPr>
          <p:cNvPr id="33" name="CaixaDeTexto 32">
            <a:extLst>
              <a:ext uri="{FF2B5EF4-FFF2-40B4-BE49-F238E27FC236}">
                <a16:creationId xmlns:a16="http://schemas.microsoft.com/office/drawing/2014/main" id="{279F58E1-DF87-4BD0-EB3A-7F7B43D46EDD}"/>
              </a:ext>
            </a:extLst>
          </p:cNvPr>
          <p:cNvSpPr txBox="1"/>
          <p:nvPr/>
        </p:nvSpPr>
        <p:spPr>
          <a:xfrm>
            <a:off x="938771" y="3868949"/>
            <a:ext cx="364893" cy="369332"/>
          </a:xfrm>
          <a:prstGeom prst="rect">
            <a:avLst/>
          </a:prstGeom>
          <a:noFill/>
        </p:spPr>
        <p:txBody>
          <a:bodyPr wrap="square" rtlCol="0">
            <a:spAutoFit/>
          </a:bodyPr>
          <a:lstStyle/>
          <a:p>
            <a:r>
              <a:rPr lang="pt-BR" dirty="0"/>
              <a:t>n</a:t>
            </a:r>
          </a:p>
        </p:txBody>
      </p:sp>
      <p:sp>
        <p:nvSpPr>
          <p:cNvPr id="34" name="CaixaDeTexto 33">
            <a:extLst>
              <a:ext uri="{FF2B5EF4-FFF2-40B4-BE49-F238E27FC236}">
                <a16:creationId xmlns:a16="http://schemas.microsoft.com/office/drawing/2014/main" id="{794D5C8D-7F31-CCFB-BDE3-2353F393B07D}"/>
              </a:ext>
            </a:extLst>
          </p:cNvPr>
          <p:cNvSpPr txBox="1"/>
          <p:nvPr/>
        </p:nvSpPr>
        <p:spPr>
          <a:xfrm>
            <a:off x="5544741" y="3880311"/>
            <a:ext cx="364893" cy="369332"/>
          </a:xfrm>
          <a:prstGeom prst="rect">
            <a:avLst/>
          </a:prstGeom>
          <a:noFill/>
        </p:spPr>
        <p:txBody>
          <a:bodyPr wrap="square" rtlCol="0">
            <a:spAutoFit/>
          </a:bodyPr>
          <a:lstStyle/>
          <a:p>
            <a:r>
              <a:rPr lang="pt-BR" dirty="0"/>
              <a:t>n</a:t>
            </a:r>
          </a:p>
        </p:txBody>
      </p:sp>
      <p:sp>
        <p:nvSpPr>
          <p:cNvPr id="35" name="CaixaDeTexto 34">
            <a:extLst>
              <a:ext uri="{FF2B5EF4-FFF2-40B4-BE49-F238E27FC236}">
                <a16:creationId xmlns:a16="http://schemas.microsoft.com/office/drawing/2014/main" id="{CE0B3B16-B6F7-52FF-117F-4A58D5F192CF}"/>
              </a:ext>
            </a:extLst>
          </p:cNvPr>
          <p:cNvSpPr txBox="1"/>
          <p:nvPr/>
        </p:nvSpPr>
        <p:spPr>
          <a:xfrm>
            <a:off x="3823076" y="3899271"/>
            <a:ext cx="364893" cy="369332"/>
          </a:xfrm>
          <a:prstGeom prst="rect">
            <a:avLst/>
          </a:prstGeom>
          <a:noFill/>
        </p:spPr>
        <p:txBody>
          <a:bodyPr wrap="square" rtlCol="0">
            <a:spAutoFit/>
          </a:bodyPr>
          <a:lstStyle/>
          <a:p>
            <a:r>
              <a:rPr lang="pt-BR" dirty="0"/>
              <a:t>1</a:t>
            </a:r>
          </a:p>
        </p:txBody>
      </p:sp>
    </p:spTree>
    <p:extLst>
      <p:ext uri="{BB962C8B-B14F-4D97-AF65-F5344CB8AC3E}">
        <p14:creationId xmlns:p14="http://schemas.microsoft.com/office/powerpoint/2010/main" val="960102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30FD02-42CB-8CAA-467E-3661A411D873}"/>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4" name="CaixaDeTexto 3">
            <a:extLst>
              <a:ext uri="{FF2B5EF4-FFF2-40B4-BE49-F238E27FC236}">
                <a16:creationId xmlns:a16="http://schemas.microsoft.com/office/drawing/2014/main" id="{35D6A63B-D3A2-D3AB-FFFD-92FD890E1AD7}"/>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6" name="CaixaDeTexto 5">
            <a:extLst>
              <a:ext uri="{FF2B5EF4-FFF2-40B4-BE49-F238E27FC236}">
                <a16:creationId xmlns:a16="http://schemas.microsoft.com/office/drawing/2014/main" id="{3B828840-CDF7-122B-D05F-B60DE22D0A8F}"/>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7" name="CaixaDeTexto 6">
            <a:extLst>
              <a:ext uri="{FF2B5EF4-FFF2-40B4-BE49-F238E27FC236}">
                <a16:creationId xmlns:a16="http://schemas.microsoft.com/office/drawing/2014/main" id="{AA2B8208-5AC9-F0F4-0ACC-DEFC82722907}"/>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cxnSp>
        <p:nvCxnSpPr>
          <p:cNvPr id="10" name="Conector reto 9">
            <a:extLst>
              <a:ext uri="{FF2B5EF4-FFF2-40B4-BE49-F238E27FC236}">
                <a16:creationId xmlns:a16="http://schemas.microsoft.com/office/drawing/2014/main" id="{25858B0C-A9E8-6884-F912-B6C196F68B83}"/>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D42337CD-9D76-AE18-F87D-4F2547CD0BF7}"/>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AFEDD4E-54EA-A604-5617-6A3AE13FDF74}"/>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FA9DDF26-33A2-DF39-1036-BA6957D9E306}"/>
              </a:ext>
            </a:extLst>
          </p:cNvPr>
          <p:cNvSpPr txBox="1"/>
          <p:nvPr/>
        </p:nvSpPr>
        <p:spPr>
          <a:xfrm>
            <a:off x="162613" y="96934"/>
            <a:ext cx="11799999" cy="2450094"/>
          </a:xfrm>
          <a:prstGeom prst="rect">
            <a:avLst/>
          </a:prstGeom>
          <a:noFill/>
        </p:spPr>
        <p:txBody>
          <a:bodyPr wrap="square">
            <a:spAutoFit/>
          </a:bodyPr>
          <a:lstStyle/>
          <a:p>
            <a:pPr algn="just">
              <a:lnSpc>
                <a:spcPct val="107000"/>
              </a:lnSpc>
              <a:spcAft>
                <a:spcPts val="800"/>
              </a:spcAft>
            </a:pPr>
            <a:r>
              <a:rPr lang="pt-BR" kern="100" dirty="0">
                <a:effectLst/>
                <a:latin typeface="Calibri" panose="020F0502020204030204" pitchFamily="34" charset="0"/>
                <a:ea typeface="Calibri" panose="020F0502020204030204" pitchFamily="34" charset="0"/>
                <a:cs typeface="Times New Roman" panose="02020603050405020304" pitchFamily="18" charset="0"/>
              </a:rPr>
              <a:t>Uma empresa responsável por manter um site voltado para entretenimento em todos os estados do Brasil quer o projeto de uma base de dados para a seção de cinema do site. Navegando no site, os internautas encontrarão informações de todos os filmes em cartaz em cada um dos cinemas de cada cidade do país. Poderão consultar as </a:t>
            </a:r>
            <a:r>
              <a:rPr lang="pt-BR"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sessões de cada filme</a:t>
            </a:r>
            <a:r>
              <a:rPr lang="pt-BR" kern="100" dirty="0">
                <a:effectLst/>
                <a:latin typeface="Calibri" panose="020F0502020204030204" pitchFamily="34" charset="0"/>
                <a:ea typeface="Calibri" panose="020F0502020204030204" pitchFamily="34" charset="0"/>
                <a:cs typeface="Times New Roman" panose="02020603050405020304" pitchFamily="18" charset="0"/>
              </a:rPr>
              <a:t> em cada cinema, com dias da semana, horários, preços de ingresso, </a:t>
            </a:r>
            <a:r>
              <a:rPr lang="pt-BR"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salas</a:t>
            </a:r>
            <a:r>
              <a:rPr lang="pt-BR" kern="100" dirty="0">
                <a:effectLst/>
                <a:latin typeface="Calibri" panose="020F0502020204030204" pitchFamily="34" charset="0"/>
                <a:ea typeface="Calibri" panose="020F0502020204030204" pitchFamily="34" charset="0"/>
                <a:cs typeface="Times New Roman" panose="02020603050405020304" pitchFamily="18" charset="0"/>
              </a:rPr>
              <a:t> (com informações sobre número de lugares, tipo de som, acesso a deficientes). Além disso, encontrarão informações a respeito dos filmes, como título no Brasil, título original, legendado/dublado, sinopse, diretores, elenco principal (com indicação dos protagonistas), gênero e classificação. E, ao escolherem a melhor opção, poderão consultar endereço e telefone do cinema onde estiver passando o filme. O CNPJ do cinema também é armazenado.</a:t>
            </a:r>
            <a:endParaRPr lang="pt-BR"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aixaDeTexto 7">
            <a:extLst>
              <a:ext uri="{FF2B5EF4-FFF2-40B4-BE49-F238E27FC236}">
                <a16:creationId xmlns:a16="http://schemas.microsoft.com/office/drawing/2014/main" id="{CDED82E5-4ED8-040E-C873-EC18A1492A84}"/>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dirty="0"/>
              <a:t>CNPJ</a:t>
            </a:r>
          </a:p>
          <a:p>
            <a:pPr marL="285750" indent="-285750">
              <a:buFontTx/>
              <a:buChar char="-"/>
            </a:pPr>
            <a:r>
              <a:rPr lang="pt-BR" dirty="0"/>
              <a:t>Endereço</a:t>
            </a:r>
          </a:p>
          <a:p>
            <a:pPr marL="285750" indent="-285750">
              <a:buFontTx/>
              <a:buChar char="-"/>
            </a:pPr>
            <a:r>
              <a:rPr lang="pt-BR" dirty="0"/>
              <a:t>Telefone</a:t>
            </a:r>
          </a:p>
        </p:txBody>
      </p:sp>
      <p:sp>
        <p:nvSpPr>
          <p:cNvPr id="9" name="CaixaDeTexto 8">
            <a:extLst>
              <a:ext uri="{FF2B5EF4-FFF2-40B4-BE49-F238E27FC236}">
                <a16:creationId xmlns:a16="http://schemas.microsoft.com/office/drawing/2014/main" id="{2008D058-1C9A-1B76-3D59-C7018E4809DE}"/>
              </a:ext>
            </a:extLst>
          </p:cNvPr>
          <p:cNvSpPr txBox="1"/>
          <p:nvPr/>
        </p:nvSpPr>
        <p:spPr>
          <a:xfrm>
            <a:off x="2025991" y="4637782"/>
            <a:ext cx="3266390" cy="1477328"/>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p:txBody>
      </p:sp>
      <p:sp>
        <p:nvSpPr>
          <p:cNvPr id="14" name="CaixaDeTexto 13">
            <a:extLst>
              <a:ext uri="{FF2B5EF4-FFF2-40B4-BE49-F238E27FC236}">
                <a16:creationId xmlns:a16="http://schemas.microsoft.com/office/drawing/2014/main" id="{B54F5914-782C-A8A9-2724-8A1E3753800E}"/>
              </a:ext>
            </a:extLst>
          </p:cNvPr>
          <p:cNvSpPr txBox="1"/>
          <p:nvPr/>
        </p:nvSpPr>
        <p:spPr>
          <a:xfrm>
            <a:off x="6637454" y="4677609"/>
            <a:ext cx="1751816" cy="1200329"/>
          </a:xfrm>
          <a:prstGeom prst="rect">
            <a:avLst/>
          </a:prstGeom>
          <a:noFill/>
        </p:spPr>
        <p:txBody>
          <a:bodyPr wrap="square" rtlCol="0">
            <a:spAutoFit/>
          </a:bodyPr>
          <a:lstStyle/>
          <a:p>
            <a:pPr marL="285750" indent="-285750">
              <a:buFontTx/>
              <a:buChar char="-"/>
            </a:pPr>
            <a:r>
              <a:rPr lang="pt-BR" dirty="0"/>
              <a:t>N° de lugares</a:t>
            </a:r>
          </a:p>
          <a:p>
            <a:pPr marL="285750" indent="-285750">
              <a:buFontTx/>
              <a:buChar char="-"/>
            </a:pPr>
            <a:r>
              <a:rPr lang="pt-BR" dirty="0"/>
              <a:t>Tipo de som</a:t>
            </a:r>
          </a:p>
          <a:p>
            <a:pPr marL="285750" indent="-285750">
              <a:buFontTx/>
              <a:buChar char="-"/>
            </a:pPr>
            <a:r>
              <a:rPr lang="pt-BR" dirty="0"/>
              <a:t>Acesso a deficientes</a:t>
            </a:r>
          </a:p>
        </p:txBody>
      </p:sp>
      <p:sp>
        <p:nvSpPr>
          <p:cNvPr id="16" name="CaixaDeTexto 15">
            <a:extLst>
              <a:ext uri="{FF2B5EF4-FFF2-40B4-BE49-F238E27FC236}">
                <a16:creationId xmlns:a16="http://schemas.microsoft.com/office/drawing/2014/main" id="{E99EEB24-7D19-9DE5-B6D1-8BE8A510D588}"/>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22" name="Conector reto 21">
            <a:extLst>
              <a:ext uri="{FF2B5EF4-FFF2-40B4-BE49-F238E27FC236}">
                <a16:creationId xmlns:a16="http://schemas.microsoft.com/office/drawing/2014/main" id="{0BA7B12F-0042-518E-2C6B-271E476A0907}"/>
              </a:ext>
            </a:extLst>
          </p:cNvPr>
          <p:cNvCxnSpPr>
            <a:cxnSpLocks/>
          </p:cNvCxnSpPr>
          <p:nvPr/>
        </p:nvCxnSpPr>
        <p:spPr>
          <a:xfrm>
            <a:off x="8326216" y="4083597"/>
            <a:ext cx="0" cy="2623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F66F5879-07F5-24F3-78F6-D8885228146B}"/>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E634E543-5672-A1D9-1F01-48A88CF5E8B2}"/>
              </a:ext>
            </a:extLst>
          </p:cNvPr>
          <p:cNvSpPr txBox="1"/>
          <p:nvPr/>
        </p:nvSpPr>
        <p:spPr>
          <a:xfrm>
            <a:off x="8691108" y="4189481"/>
            <a:ext cx="1262802" cy="369332"/>
          </a:xfrm>
          <a:prstGeom prst="rect">
            <a:avLst/>
          </a:prstGeom>
          <a:noFill/>
          <a:ln>
            <a:solidFill>
              <a:schemeClr val="tx1"/>
            </a:solidFill>
          </a:ln>
        </p:spPr>
        <p:txBody>
          <a:bodyPr wrap="square" rtlCol="0">
            <a:spAutoFit/>
          </a:bodyPr>
          <a:lstStyle/>
          <a:p>
            <a:pPr algn="ctr"/>
            <a:r>
              <a:rPr lang="pt-BR" dirty="0"/>
              <a:t>Diretor</a:t>
            </a:r>
          </a:p>
        </p:txBody>
      </p:sp>
      <p:sp>
        <p:nvSpPr>
          <p:cNvPr id="26" name="CaixaDeTexto 25">
            <a:extLst>
              <a:ext uri="{FF2B5EF4-FFF2-40B4-BE49-F238E27FC236}">
                <a16:creationId xmlns:a16="http://schemas.microsoft.com/office/drawing/2014/main" id="{668D7A6A-5762-B31F-54EA-DC79AB3E1EF5}"/>
              </a:ext>
            </a:extLst>
          </p:cNvPr>
          <p:cNvSpPr txBox="1"/>
          <p:nvPr/>
        </p:nvSpPr>
        <p:spPr>
          <a:xfrm>
            <a:off x="10791345" y="4189481"/>
            <a:ext cx="1050515" cy="369332"/>
          </a:xfrm>
          <a:prstGeom prst="rect">
            <a:avLst/>
          </a:prstGeom>
          <a:noFill/>
          <a:ln>
            <a:solidFill>
              <a:schemeClr val="tx1"/>
            </a:solidFill>
          </a:ln>
        </p:spPr>
        <p:txBody>
          <a:bodyPr wrap="square" rtlCol="0">
            <a:spAutoFit/>
          </a:bodyPr>
          <a:lstStyle/>
          <a:p>
            <a:pPr algn="ctr"/>
            <a:r>
              <a:rPr lang="pt-BR" dirty="0"/>
              <a:t>Elenco</a:t>
            </a:r>
          </a:p>
        </p:txBody>
      </p:sp>
      <p:cxnSp>
        <p:nvCxnSpPr>
          <p:cNvPr id="27" name="Conector reto 26">
            <a:extLst>
              <a:ext uri="{FF2B5EF4-FFF2-40B4-BE49-F238E27FC236}">
                <a16:creationId xmlns:a16="http://schemas.microsoft.com/office/drawing/2014/main" id="{D74799A3-56C7-4706-19BE-1924D10991BE}"/>
              </a:ext>
            </a:extLst>
          </p:cNvPr>
          <p:cNvCxnSpPr>
            <a:cxnSpLocks/>
          </p:cNvCxnSpPr>
          <p:nvPr/>
        </p:nvCxnSpPr>
        <p:spPr>
          <a:xfrm>
            <a:off x="10372627"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30593127-4791-5209-092E-4720ACFFB238}"/>
              </a:ext>
            </a:extLst>
          </p:cNvPr>
          <p:cNvSpPr txBox="1"/>
          <p:nvPr/>
        </p:nvSpPr>
        <p:spPr>
          <a:xfrm>
            <a:off x="8378052" y="4671229"/>
            <a:ext cx="1751816" cy="369332"/>
          </a:xfrm>
          <a:prstGeom prst="rect">
            <a:avLst/>
          </a:prstGeom>
          <a:noFill/>
        </p:spPr>
        <p:txBody>
          <a:bodyPr wrap="square" rtlCol="0">
            <a:spAutoFit/>
          </a:bodyPr>
          <a:lstStyle/>
          <a:p>
            <a:pPr marL="285750" indent="-285750">
              <a:buFontTx/>
              <a:buChar char="-"/>
            </a:pPr>
            <a:r>
              <a:rPr lang="pt-BR" dirty="0"/>
              <a:t>Nome</a:t>
            </a:r>
          </a:p>
        </p:txBody>
      </p:sp>
      <p:sp>
        <p:nvSpPr>
          <p:cNvPr id="29" name="CaixaDeTexto 28">
            <a:extLst>
              <a:ext uri="{FF2B5EF4-FFF2-40B4-BE49-F238E27FC236}">
                <a16:creationId xmlns:a16="http://schemas.microsoft.com/office/drawing/2014/main" id="{F40F2788-96DA-CF46-A623-5460991ACACB}"/>
              </a:ext>
            </a:extLst>
          </p:cNvPr>
          <p:cNvSpPr txBox="1"/>
          <p:nvPr/>
        </p:nvSpPr>
        <p:spPr>
          <a:xfrm>
            <a:off x="10511282" y="4656453"/>
            <a:ext cx="1751816" cy="646331"/>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dirty="0"/>
              <a:t>Papel</a:t>
            </a:r>
          </a:p>
        </p:txBody>
      </p:sp>
      <p:sp>
        <p:nvSpPr>
          <p:cNvPr id="5" name="Fluxograma: Decisão 4">
            <a:extLst>
              <a:ext uri="{FF2B5EF4-FFF2-40B4-BE49-F238E27FC236}">
                <a16:creationId xmlns:a16="http://schemas.microsoft.com/office/drawing/2014/main" id="{B9CA9E2B-D81F-6950-D069-B30CB5B46E43}"/>
              </a:ext>
            </a:extLst>
          </p:cNvPr>
          <p:cNvSpPr/>
          <p:nvPr/>
        </p:nvSpPr>
        <p:spPr>
          <a:xfrm>
            <a:off x="1828800" y="3357813"/>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Angulado 17">
            <a:extLst>
              <a:ext uri="{FF2B5EF4-FFF2-40B4-BE49-F238E27FC236}">
                <a16:creationId xmlns:a16="http://schemas.microsoft.com/office/drawing/2014/main" id="{40F205C2-203F-FD46-A7D9-2C4A0DC3C25B}"/>
              </a:ext>
            </a:extLst>
          </p:cNvPr>
          <p:cNvCxnSpPr>
            <a:stCxn id="5" idx="3"/>
            <a:endCxn id="4" idx="0"/>
          </p:cNvCxnSpPr>
          <p:nvPr/>
        </p:nvCxnSpPr>
        <p:spPr>
          <a:xfrm>
            <a:off x="2960016" y="3645330"/>
            <a:ext cx="604307" cy="570138"/>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Conector: Angulado 19">
            <a:extLst>
              <a:ext uri="{FF2B5EF4-FFF2-40B4-BE49-F238E27FC236}">
                <a16:creationId xmlns:a16="http://schemas.microsoft.com/office/drawing/2014/main" id="{91B88FED-3320-DC23-3DDC-F54AA6E4CAC3}"/>
              </a:ext>
            </a:extLst>
          </p:cNvPr>
          <p:cNvCxnSpPr>
            <a:stCxn id="5" idx="1"/>
            <a:endCxn id="2" idx="0"/>
          </p:cNvCxnSpPr>
          <p:nvPr/>
        </p:nvCxnSpPr>
        <p:spPr>
          <a:xfrm rot="10800000" flipV="1">
            <a:off x="979614" y="3645330"/>
            <a:ext cx="849186" cy="56278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17B5895C-AE77-A3DC-06D7-C3917377D299}"/>
              </a:ext>
            </a:extLst>
          </p:cNvPr>
          <p:cNvSpPr txBox="1"/>
          <p:nvPr/>
        </p:nvSpPr>
        <p:spPr>
          <a:xfrm>
            <a:off x="2091976" y="3441994"/>
            <a:ext cx="849186" cy="369332"/>
          </a:xfrm>
          <a:prstGeom prst="rect">
            <a:avLst/>
          </a:prstGeom>
          <a:noFill/>
        </p:spPr>
        <p:txBody>
          <a:bodyPr wrap="square" rtlCol="0">
            <a:spAutoFit/>
          </a:bodyPr>
          <a:lstStyle/>
          <a:p>
            <a:r>
              <a:rPr lang="pt-BR" dirty="0"/>
              <a:t>exibe</a:t>
            </a:r>
          </a:p>
        </p:txBody>
      </p:sp>
      <p:sp>
        <p:nvSpPr>
          <p:cNvPr id="12" name="Fluxograma: Decisão 11">
            <a:extLst>
              <a:ext uri="{FF2B5EF4-FFF2-40B4-BE49-F238E27FC236}">
                <a16:creationId xmlns:a16="http://schemas.microsoft.com/office/drawing/2014/main" id="{1E1F5E88-9528-C372-D17E-647E2FA56E93}"/>
              </a:ext>
            </a:extLst>
          </p:cNvPr>
          <p:cNvSpPr/>
          <p:nvPr/>
        </p:nvSpPr>
        <p:spPr>
          <a:xfrm>
            <a:off x="4286234" y="3344819"/>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C02B0734-3158-A9A9-4447-FEA8C9112BCD}"/>
              </a:ext>
            </a:extLst>
          </p:cNvPr>
          <p:cNvSpPr txBox="1"/>
          <p:nvPr/>
        </p:nvSpPr>
        <p:spPr>
          <a:xfrm>
            <a:off x="4516048" y="3441269"/>
            <a:ext cx="849186" cy="369332"/>
          </a:xfrm>
          <a:prstGeom prst="rect">
            <a:avLst/>
          </a:prstGeom>
          <a:noFill/>
        </p:spPr>
        <p:txBody>
          <a:bodyPr wrap="square" rtlCol="0">
            <a:spAutoFit/>
          </a:bodyPr>
          <a:lstStyle/>
          <a:p>
            <a:r>
              <a:rPr lang="pt-BR" dirty="0"/>
              <a:t>passa</a:t>
            </a:r>
          </a:p>
        </p:txBody>
      </p:sp>
      <p:cxnSp>
        <p:nvCxnSpPr>
          <p:cNvPr id="19" name="Conector: Angulado 18">
            <a:extLst>
              <a:ext uri="{FF2B5EF4-FFF2-40B4-BE49-F238E27FC236}">
                <a16:creationId xmlns:a16="http://schemas.microsoft.com/office/drawing/2014/main" id="{EE7779E3-A0A5-C1BA-8987-B582C0795933}"/>
              </a:ext>
            </a:extLst>
          </p:cNvPr>
          <p:cNvCxnSpPr>
            <a:cxnSpLocks/>
            <a:stCxn id="12" idx="1"/>
          </p:cNvCxnSpPr>
          <p:nvPr/>
        </p:nvCxnSpPr>
        <p:spPr>
          <a:xfrm rot="10800000" flipV="1">
            <a:off x="3823076" y="3632336"/>
            <a:ext cx="463158" cy="5831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0" name="Conector: Angulado 29">
            <a:extLst>
              <a:ext uri="{FF2B5EF4-FFF2-40B4-BE49-F238E27FC236}">
                <a16:creationId xmlns:a16="http://schemas.microsoft.com/office/drawing/2014/main" id="{45B30AC6-7FC9-DF4C-FB81-41284D0AFC53}"/>
              </a:ext>
            </a:extLst>
          </p:cNvPr>
          <p:cNvCxnSpPr>
            <a:cxnSpLocks/>
            <a:stCxn id="12" idx="3"/>
            <a:endCxn id="6" idx="0"/>
          </p:cNvCxnSpPr>
          <p:nvPr/>
        </p:nvCxnSpPr>
        <p:spPr>
          <a:xfrm>
            <a:off x="5417450" y="3632336"/>
            <a:ext cx="410859" cy="57776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0415962D-1049-056C-87DC-734D0EA8A81A}"/>
              </a:ext>
            </a:extLst>
          </p:cNvPr>
          <p:cNvSpPr txBox="1"/>
          <p:nvPr/>
        </p:nvSpPr>
        <p:spPr>
          <a:xfrm>
            <a:off x="3236937" y="3838760"/>
            <a:ext cx="364893" cy="369332"/>
          </a:xfrm>
          <a:prstGeom prst="rect">
            <a:avLst/>
          </a:prstGeom>
          <a:noFill/>
        </p:spPr>
        <p:txBody>
          <a:bodyPr wrap="square" rtlCol="0">
            <a:spAutoFit/>
          </a:bodyPr>
          <a:lstStyle/>
          <a:p>
            <a:r>
              <a:rPr lang="pt-BR" dirty="0"/>
              <a:t>n</a:t>
            </a:r>
          </a:p>
        </p:txBody>
      </p:sp>
      <p:sp>
        <p:nvSpPr>
          <p:cNvPr id="33" name="CaixaDeTexto 32">
            <a:extLst>
              <a:ext uri="{FF2B5EF4-FFF2-40B4-BE49-F238E27FC236}">
                <a16:creationId xmlns:a16="http://schemas.microsoft.com/office/drawing/2014/main" id="{279F58E1-DF87-4BD0-EB3A-7F7B43D46EDD}"/>
              </a:ext>
            </a:extLst>
          </p:cNvPr>
          <p:cNvSpPr txBox="1"/>
          <p:nvPr/>
        </p:nvSpPr>
        <p:spPr>
          <a:xfrm>
            <a:off x="938771" y="3868949"/>
            <a:ext cx="364893" cy="369332"/>
          </a:xfrm>
          <a:prstGeom prst="rect">
            <a:avLst/>
          </a:prstGeom>
          <a:noFill/>
        </p:spPr>
        <p:txBody>
          <a:bodyPr wrap="square" rtlCol="0">
            <a:spAutoFit/>
          </a:bodyPr>
          <a:lstStyle/>
          <a:p>
            <a:r>
              <a:rPr lang="pt-BR" dirty="0"/>
              <a:t>n</a:t>
            </a:r>
          </a:p>
        </p:txBody>
      </p:sp>
      <p:sp>
        <p:nvSpPr>
          <p:cNvPr id="34" name="CaixaDeTexto 33">
            <a:extLst>
              <a:ext uri="{FF2B5EF4-FFF2-40B4-BE49-F238E27FC236}">
                <a16:creationId xmlns:a16="http://schemas.microsoft.com/office/drawing/2014/main" id="{794D5C8D-7F31-CCFB-BDE3-2353F393B07D}"/>
              </a:ext>
            </a:extLst>
          </p:cNvPr>
          <p:cNvSpPr txBox="1"/>
          <p:nvPr/>
        </p:nvSpPr>
        <p:spPr>
          <a:xfrm>
            <a:off x="5544741" y="3880311"/>
            <a:ext cx="364893" cy="369332"/>
          </a:xfrm>
          <a:prstGeom prst="rect">
            <a:avLst/>
          </a:prstGeom>
          <a:noFill/>
        </p:spPr>
        <p:txBody>
          <a:bodyPr wrap="square" rtlCol="0">
            <a:spAutoFit/>
          </a:bodyPr>
          <a:lstStyle/>
          <a:p>
            <a:r>
              <a:rPr lang="pt-BR" dirty="0"/>
              <a:t>n</a:t>
            </a:r>
          </a:p>
        </p:txBody>
      </p:sp>
      <p:sp>
        <p:nvSpPr>
          <p:cNvPr id="35" name="CaixaDeTexto 34">
            <a:extLst>
              <a:ext uri="{FF2B5EF4-FFF2-40B4-BE49-F238E27FC236}">
                <a16:creationId xmlns:a16="http://schemas.microsoft.com/office/drawing/2014/main" id="{CE0B3B16-B6F7-52FF-117F-4A58D5F192CF}"/>
              </a:ext>
            </a:extLst>
          </p:cNvPr>
          <p:cNvSpPr txBox="1"/>
          <p:nvPr/>
        </p:nvSpPr>
        <p:spPr>
          <a:xfrm>
            <a:off x="3823076" y="3899271"/>
            <a:ext cx="364893" cy="369332"/>
          </a:xfrm>
          <a:prstGeom prst="rect">
            <a:avLst/>
          </a:prstGeom>
          <a:noFill/>
        </p:spPr>
        <p:txBody>
          <a:bodyPr wrap="square" rtlCol="0">
            <a:spAutoFit/>
          </a:bodyPr>
          <a:lstStyle/>
          <a:p>
            <a:r>
              <a:rPr lang="pt-BR" dirty="0"/>
              <a:t>1</a:t>
            </a:r>
          </a:p>
        </p:txBody>
      </p:sp>
      <p:sp>
        <p:nvSpPr>
          <p:cNvPr id="31" name="CaixaDeTexto 30">
            <a:extLst>
              <a:ext uri="{FF2B5EF4-FFF2-40B4-BE49-F238E27FC236}">
                <a16:creationId xmlns:a16="http://schemas.microsoft.com/office/drawing/2014/main" id="{C9F9C29D-70B4-27D2-AE0E-3C9F8AAE1A73}"/>
              </a:ext>
            </a:extLst>
          </p:cNvPr>
          <p:cNvSpPr txBox="1"/>
          <p:nvPr/>
        </p:nvSpPr>
        <p:spPr>
          <a:xfrm>
            <a:off x="6427540" y="3447052"/>
            <a:ext cx="1024719" cy="369332"/>
          </a:xfrm>
          <a:prstGeom prst="rect">
            <a:avLst/>
          </a:prstGeom>
          <a:noFill/>
        </p:spPr>
        <p:txBody>
          <a:bodyPr wrap="square" rtlCol="0">
            <a:spAutoFit/>
          </a:bodyPr>
          <a:lstStyle/>
          <a:p>
            <a:r>
              <a:rPr lang="pt-BR" dirty="0"/>
              <a:t>localiza</a:t>
            </a:r>
          </a:p>
        </p:txBody>
      </p:sp>
      <p:cxnSp>
        <p:nvCxnSpPr>
          <p:cNvPr id="36" name="Conector: Angulado 35">
            <a:extLst>
              <a:ext uri="{FF2B5EF4-FFF2-40B4-BE49-F238E27FC236}">
                <a16:creationId xmlns:a16="http://schemas.microsoft.com/office/drawing/2014/main" id="{874F7486-1293-86CE-A517-B9FBFCA663A8}"/>
              </a:ext>
            </a:extLst>
          </p:cNvPr>
          <p:cNvCxnSpPr>
            <a:cxnSpLocks/>
            <a:stCxn id="40" idx="1"/>
          </p:cNvCxnSpPr>
          <p:nvPr/>
        </p:nvCxnSpPr>
        <p:spPr>
          <a:xfrm rot="10800000" flipV="1">
            <a:off x="6014068" y="3632335"/>
            <a:ext cx="266341" cy="57532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7" name="Conector: Angulado 36">
            <a:extLst>
              <a:ext uri="{FF2B5EF4-FFF2-40B4-BE49-F238E27FC236}">
                <a16:creationId xmlns:a16="http://schemas.microsoft.com/office/drawing/2014/main" id="{6BF5F485-8FB4-1641-86DC-CB58336AF5D8}"/>
              </a:ext>
            </a:extLst>
          </p:cNvPr>
          <p:cNvCxnSpPr>
            <a:cxnSpLocks/>
          </p:cNvCxnSpPr>
          <p:nvPr/>
        </p:nvCxnSpPr>
        <p:spPr>
          <a:xfrm rot="16200000" flipH="1">
            <a:off x="7202634" y="3794256"/>
            <a:ext cx="549967" cy="228937"/>
          </a:xfrm>
          <a:prstGeom prst="bentConnector3">
            <a:avLst>
              <a:gd name="adj1" fmla="val 292"/>
            </a:avLst>
          </a:prstGeom>
        </p:spPr>
        <p:style>
          <a:lnRef idx="1">
            <a:schemeClr val="accent1"/>
          </a:lnRef>
          <a:fillRef idx="0">
            <a:schemeClr val="accent1"/>
          </a:fillRef>
          <a:effectRef idx="0">
            <a:schemeClr val="accent1"/>
          </a:effectRef>
          <a:fontRef idx="minor">
            <a:schemeClr val="tx1"/>
          </a:fontRef>
        </p:style>
      </p:cxnSp>
      <p:sp>
        <p:nvSpPr>
          <p:cNvPr id="38" name="CaixaDeTexto 37">
            <a:extLst>
              <a:ext uri="{FF2B5EF4-FFF2-40B4-BE49-F238E27FC236}">
                <a16:creationId xmlns:a16="http://schemas.microsoft.com/office/drawing/2014/main" id="{A066C1F9-287D-80FC-84F9-6DAE6725AF79}"/>
              </a:ext>
            </a:extLst>
          </p:cNvPr>
          <p:cNvSpPr txBox="1"/>
          <p:nvPr/>
        </p:nvSpPr>
        <p:spPr>
          <a:xfrm>
            <a:off x="7217765" y="3851511"/>
            <a:ext cx="364893" cy="369332"/>
          </a:xfrm>
          <a:prstGeom prst="rect">
            <a:avLst/>
          </a:prstGeom>
          <a:noFill/>
        </p:spPr>
        <p:txBody>
          <a:bodyPr wrap="square" rtlCol="0">
            <a:spAutoFit/>
          </a:bodyPr>
          <a:lstStyle/>
          <a:p>
            <a:r>
              <a:rPr lang="pt-BR" dirty="0"/>
              <a:t>1</a:t>
            </a:r>
          </a:p>
        </p:txBody>
      </p:sp>
      <p:sp>
        <p:nvSpPr>
          <p:cNvPr id="39" name="CaixaDeTexto 38">
            <a:extLst>
              <a:ext uri="{FF2B5EF4-FFF2-40B4-BE49-F238E27FC236}">
                <a16:creationId xmlns:a16="http://schemas.microsoft.com/office/drawing/2014/main" id="{0AEBDA61-D0F6-94C6-8392-CCAADAA2BA79}"/>
              </a:ext>
            </a:extLst>
          </p:cNvPr>
          <p:cNvSpPr txBox="1"/>
          <p:nvPr/>
        </p:nvSpPr>
        <p:spPr>
          <a:xfrm>
            <a:off x="6014065" y="3891464"/>
            <a:ext cx="364893" cy="369332"/>
          </a:xfrm>
          <a:prstGeom prst="rect">
            <a:avLst/>
          </a:prstGeom>
          <a:noFill/>
        </p:spPr>
        <p:txBody>
          <a:bodyPr wrap="square" rtlCol="0">
            <a:spAutoFit/>
          </a:bodyPr>
          <a:lstStyle/>
          <a:p>
            <a:r>
              <a:rPr lang="pt-BR" dirty="0"/>
              <a:t>n</a:t>
            </a:r>
          </a:p>
        </p:txBody>
      </p:sp>
      <p:sp>
        <p:nvSpPr>
          <p:cNvPr id="40" name="Fluxograma: Decisão 39">
            <a:extLst>
              <a:ext uri="{FF2B5EF4-FFF2-40B4-BE49-F238E27FC236}">
                <a16:creationId xmlns:a16="http://schemas.microsoft.com/office/drawing/2014/main" id="{E22E8CB5-0DE9-32F5-1A79-1553BA2DF533}"/>
              </a:ext>
            </a:extLst>
          </p:cNvPr>
          <p:cNvSpPr/>
          <p:nvPr/>
        </p:nvSpPr>
        <p:spPr>
          <a:xfrm>
            <a:off x="6280408" y="3344818"/>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5160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30FD02-42CB-8CAA-467E-3661A411D873}"/>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4" name="CaixaDeTexto 3">
            <a:extLst>
              <a:ext uri="{FF2B5EF4-FFF2-40B4-BE49-F238E27FC236}">
                <a16:creationId xmlns:a16="http://schemas.microsoft.com/office/drawing/2014/main" id="{35D6A63B-D3A2-D3AB-FFFD-92FD890E1AD7}"/>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6" name="CaixaDeTexto 5">
            <a:extLst>
              <a:ext uri="{FF2B5EF4-FFF2-40B4-BE49-F238E27FC236}">
                <a16:creationId xmlns:a16="http://schemas.microsoft.com/office/drawing/2014/main" id="{3B828840-CDF7-122B-D05F-B60DE22D0A8F}"/>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7" name="CaixaDeTexto 6">
            <a:extLst>
              <a:ext uri="{FF2B5EF4-FFF2-40B4-BE49-F238E27FC236}">
                <a16:creationId xmlns:a16="http://schemas.microsoft.com/office/drawing/2014/main" id="{AA2B8208-5AC9-F0F4-0ACC-DEFC82722907}"/>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cxnSp>
        <p:nvCxnSpPr>
          <p:cNvPr id="10" name="Conector reto 9">
            <a:extLst>
              <a:ext uri="{FF2B5EF4-FFF2-40B4-BE49-F238E27FC236}">
                <a16:creationId xmlns:a16="http://schemas.microsoft.com/office/drawing/2014/main" id="{25858B0C-A9E8-6884-F912-B6C196F68B83}"/>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D42337CD-9D76-AE18-F87D-4F2547CD0BF7}"/>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AFEDD4E-54EA-A604-5617-6A3AE13FDF74}"/>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FA9DDF26-33A2-DF39-1036-BA6957D9E306}"/>
              </a:ext>
            </a:extLst>
          </p:cNvPr>
          <p:cNvSpPr txBox="1"/>
          <p:nvPr/>
        </p:nvSpPr>
        <p:spPr>
          <a:xfrm>
            <a:off x="162613" y="96934"/>
            <a:ext cx="11799999" cy="2450094"/>
          </a:xfrm>
          <a:prstGeom prst="rect">
            <a:avLst/>
          </a:prstGeom>
          <a:noFill/>
        </p:spPr>
        <p:txBody>
          <a:bodyPr wrap="square">
            <a:spAutoFit/>
          </a:bodyPr>
          <a:lstStyle/>
          <a:p>
            <a:pPr algn="just">
              <a:lnSpc>
                <a:spcPct val="107000"/>
              </a:lnSpc>
              <a:spcAft>
                <a:spcPts val="800"/>
              </a:spcAft>
            </a:pPr>
            <a:r>
              <a:rPr lang="pt-BR" kern="100" dirty="0">
                <a:effectLst/>
                <a:latin typeface="Calibri" panose="020F0502020204030204" pitchFamily="34" charset="0"/>
                <a:ea typeface="Calibri" panose="020F0502020204030204" pitchFamily="34" charset="0"/>
                <a:cs typeface="Times New Roman" panose="02020603050405020304" pitchFamily="18" charset="0"/>
              </a:rPr>
              <a:t>Uma empresa responsável por manter um site voltado para entretenimento em todos os estados do Brasil quer o projeto de uma base de dados para a seção de cinema do site. Navegando no site, os internautas encontrarão informações de todos os filmes em cartaz em cada um dos cinemas de cada cidade do país. Poderão consultar as sessões de cada filme em cada cinema, com dias da semana, horários, preços de ingresso, salas (com informações sobre número de lugares, tipo de som, acesso a deficientes). Além disso, encontrarão informações a respeito dos filmes, como título no Brasil, título original, legendado/dublado, sinopse, diretores, elenco principal (com indicação dos protagonistas), gênero e classificação. E, ao escolherem a melhor opção, poderão consultar endereço e telefone do cinema onde estiver passando o filme. O CNPJ do cinema também é armazenado.</a:t>
            </a:r>
            <a:endParaRPr lang="pt-BR"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aixaDeTexto 7">
            <a:extLst>
              <a:ext uri="{FF2B5EF4-FFF2-40B4-BE49-F238E27FC236}">
                <a16:creationId xmlns:a16="http://schemas.microsoft.com/office/drawing/2014/main" id="{CDED82E5-4ED8-040E-C873-EC18A1492A84}"/>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dirty="0"/>
              <a:t>CNPJ</a:t>
            </a:r>
          </a:p>
          <a:p>
            <a:pPr marL="285750" indent="-285750">
              <a:buFontTx/>
              <a:buChar char="-"/>
            </a:pPr>
            <a:r>
              <a:rPr lang="pt-BR" dirty="0"/>
              <a:t>Endereço</a:t>
            </a:r>
          </a:p>
          <a:p>
            <a:pPr marL="285750" indent="-285750">
              <a:buFontTx/>
              <a:buChar char="-"/>
            </a:pPr>
            <a:r>
              <a:rPr lang="pt-BR" dirty="0"/>
              <a:t>Telefone</a:t>
            </a:r>
          </a:p>
        </p:txBody>
      </p:sp>
      <p:sp>
        <p:nvSpPr>
          <p:cNvPr id="9" name="CaixaDeTexto 8">
            <a:extLst>
              <a:ext uri="{FF2B5EF4-FFF2-40B4-BE49-F238E27FC236}">
                <a16:creationId xmlns:a16="http://schemas.microsoft.com/office/drawing/2014/main" id="{2008D058-1C9A-1B76-3D59-C7018E4809DE}"/>
              </a:ext>
            </a:extLst>
          </p:cNvPr>
          <p:cNvSpPr txBox="1"/>
          <p:nvPr/>
        </p:nvSpPr>
        <p:spPr>
          <a:xfrm>
            <a:off x="2025991" y="4637782"/>
            <a:ext cx="3266390" cy="1477328"/>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p:txBody>
      </p:sp>
      <p:sp>
        <p:nvSpPr>
          <p:cNvPr id="14" name="CaixaDeTexto 13">
            <a:extLst>
              <a:ext uri="{FF2B5EF4-FFF2-40B4-BE49-F238E27FC236}">
                <a16:creationId xmlns:a16="http://schemas.microsoft.com/office/drawing/2014/main" id="{B54F5914-782C-A8A9-2724-8A1E3753800E}"/>
              </a:ext>
            </a:extLst>
          </p:cNvPr>
          <p:cNvSpPr txBox="1"/>
          <p:nvPr/>
        </p:nvSpPr>
        <p:spPr>
          <a:xfrm>
            <a:off x="6637454" y="4677609"/>
            <a:ext cx="1751816" cy="1200329"/>
          </a:xfrm>
          <a:prstGeom prst="rect">
            <a:avLst/>
          </a:prstGeom>
          <a:noFill/>
        </p:spPr>
        <p:txBody>
          <a:bodyPr wrap="square" rtlCol="0">
            <a:spAutoFit/>
          </a:bodyPr>
          <a:lstStyle/>
          <a:p>
            <a:pPr marL="285750" indent="-285750">
              <a:buFontTx/>
              <a:buChar char="-"/>
            </a:pPr>
            <a:r>
              <a:rPr lang="pt-BR" dirty="0"/>
              <a:t>N° de lugares</a:t>
            </a:r>
          </a:p>
          <a:p>
            <a:pPr marL="285750" indent="-285750">
              <a:buFontTx/>
              <a:buChar char="-"/>
            </a:pPr>
            <a:r>
              <a:rPr lang="pt-BR" dirty="0"/>
              <a:t>Tipo de som</a:t>
            </a:r>
          </a:p>
          <a:p>
            <a:pPr marL="285750" indent="-285750">
              <a:buFontTx/>
              <a:buChar char="-"/>
            </a:pPr>
            <a:r>
              <a:rPr lang="pt-BR" dirty="0"/>
              <a:t>Acesso a deficientes</a:t>
            </a:r>
          </a:p>
        </p:txBody>
      </p:sp>
      <p:sp>
        <p:nvSpPr>
          <p:cNvPr id="16" name="CaixaDeTexto 15">
            <a:extLst>
              <a:ext uri="{FF2B5EF4-FFF2-40B4-BE49-F238E27FC236}">
                <a16:creationId xmlns:a16="http://schemas.microsoft.com/office/drawing/2014/main" id="{E99EEB24-7D19-9DE5-B6D1-8BE8A510D588}"/>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22" name="Conector reto 21">
            <a:extLst>
              <a:ext uri="{FF2B5EF4-FFF2-40B4-BE49-F238E27FC236}">
                <a16:creationId xmlns:a16="http://schemas.microsoft.com/office/drawing/2014/main" id="{0BA7B12F-0042-518E-2C6B-271E476A0907}"/>
              </a:ext>
            </a:extLst>
          </p:cNvPr>
          <p:cNvCxnSpPr>
            <a:cxnSpLocks/>
          </p:cNvCxnSpPr>
          <p:nvPr/>
        </p:nvCxnSpPr>
        <p:spPr>
          <a:xfrm>
            <a:off x="8326216" y="4083597"/>
            <a:ext cx="0" cy="2623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F66F5879-07F5-24F3-78F6-D8885228146B}"/>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E634E543-5672-A1D9-1F01-48A88CF5E8B2}"/>
              </a:ext>
            </a:extLst>
          </p:cNvPr>
          <p:cNvSpPr txBox="1"/>
          <p:nvPr/>
        </p:nvSpPr>
        <p:spPr>
          <a:xfrm>
            <a:off x="8691108" y="4189481"/>
            <a:ext cx="1262802" cy="369332"/>
          </a:xfrm>
          <a:prstGeom prst="rect">
            <a:avLst/>
          </a:prstGeom>
          <a:noFill/>
          <a:ln>
            <a:solidFill>
              <a:schemeClr val="tx1"/>
            </a:solidFill>
          </a:ln>
        </p:spPr>
        <p:txBody>
          <a:bodyPr wrap="square" rtlCol="0">
            <a:spAutoFit/>
          </a:bodyPr>
          <a:lstStyle/>
          <a:p>
            <a:pPr algn="ctr"/>
            <a:r>
              <a:rPr lang="pt-BR" dirty="0"/>
              <a:t>Diretor</a:t>
            </a:r>
          </a:p>
        </p:txBody>
      </p:sp>
      <p:sp>
        <p:nvSpPr>
          <p:cNvPr id="26" name="CaixaDeTexto 25">
            <a:extLst>
              <a:ext uri="{FF2B5EF4-FFF2-40B4-BE49-F238E27FC236}">
                <a16:creationId xmlns:a16="http://schemas.microsoft.com/office/drawing/2014/main" id="{668D7A6A-5762-B31F-54EA-DC79AB3E1EF5}"/>
              </a:ext>
            </a:extLst>
          </p:cNvPr>
          <p:cNvSpPr txBox="1"/>
          <p:nvPr/>
        </p:nvSpPr>
        <p:spPr>
          <a:xfrm>
            <a:off x="10791345" y="4189481"/>
            <a:ext cx="1050515" cy="369332"/>
          </a:xfrm>
          <a:prstGeom prst="rect">
            <a:avLst/>
          </a:prstGeom>
          <a:noFill/>
          <a:ln>
            <a:solidFill>
              <a:schemeClr val="tx1"/>
            </a:solidFill>
          </a:ln>
        </p:spPr>
        <p:txBody>
          <a:bodyPr wrap="square" rtlCol="0">
            <a:spAutoFit/>
          </a:bodyPr>
          <a:lstStyle/>
          <a:p>
            <a:pPr algn="ctr"/>
            <a:r>
              <a:rPr lang="pt-BR" dirty="0"/>
              <a:t>Elenco</a:t>
            </a:r>
          </a:p>
        </p:txBody>
      </p:sp>
      <p:cxnSp>
        <p:nvCxnSpPr>
          <p:cNvPr id="27" name="Conector reto 26">
            <a:extLst>
              <a:ext uri="{FF2B5EF4-FFF2-40B4-BE49-F238E27FC236}">
                <a16:creationId xmlns:a16="http://schemas.microsoft.com/office/drawing/2014/main" id="{D74799A3-56C7-4706-19BE-1924D10991BE}"/>
              </a:ext>
            </a:extLst>
          </p:cNvPr>
          <p:cNvCxnSpPr>
            <a:cxnSpLocks/>
          </p:cNvCxnSpPr>
          <p:nvPr/>
        </p:nvCxnSpPr>
        <p:spPr>
          <a:xfrm>
            <a:off x="10372627"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30593127-4791-5209-092E-4720ACFFB238}"/>
              </a:ext>
            </a:extLst>
          </p:cNvPr>
          <p:cNvSpPr txBox="1"/>
          <p:nvPr/>
        </p:nvSpPr>
        <p:spPr>
          <a:xfrm>
            <a:off x="8378052" y="4671229"/>
            <a:ext cx="1751816" cy="369332"/>
          </a:xfrm>
          <a:prstGeom prst="rect">
            <a:avLst/>
          </a:prstGeom>
          <a:noFill/>
        </p:spPr>
        <p:txBody>
          <a:bodyPr wrap="square" rtlCol="0">
            <a:spAutoFit/>
          </a:bodyPr>
          <a:lstStyle/>
          <a:p>
            <a:pPr marL="285750" indent="-285750">
              <a:buFontTx/>
              <a:buChar char="-"/>
            </a:pPr>
            <a:r>
              <a:rPr lang="pt-BR" dirty="0"/>
              <a:t>Nome</a:t>
            </a:r>
          </a:p>
        </p:txBody>
      </p:sp>
      <p:sp>
        <p:nvSpPr>
          <p:cNvPr id="29" name="CaixaDeTexto 28">
            <a:extLst>
              <a:ext uri="{FF2B5EF4-FFF2-40B4-BE49-F238E27FC236}">
                <a16:creationId xmlns:a16="http://schemas.microsoft.com/office/drawing/2014/main" id="{F40F2788-96DA-CF46-A623-5460991ACACB}"/>
              </a:ext>
            </a:extLst>
          </p:cNvPr>
          <p:cNvSpPr txBox="1"/>
          <p:nvPr/>
        </p:nvSpPr>
        <p:spPr>
          <a:xfrm>
            <a:off x="10511282" y="4656453"/>
            <a:ext cx="1751816" cy="646331"/>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dirty="0"/>
              <a:t>Papel</a:t>
            </a:r>
          </a:p>
        </p:txBody>
      </p:sp>
      <p:sp>
        <p:nvSpPr>
          <p:cNvPr id="5" name="Fluxograma: Decisão 4">
            <a:extLst>
              <a:ext uri="{FF2B5EF4-FFF2-40B4-BE49-F238E27FC236}">
                <a16:creationId xmlns:a16="http://schemas.microsoft.com/office/drawing/2014/main" id="{B9CA9E2B-D81F-6950-D069-B30CB5B46E43}"/>
              </a:ext>
            </a:extLst>
          </p:cNvPr>
          <p:cNvSpPr/>
          <p:nvPr/>
        </p:nvSpPr>
        <p:spPr>
          <a:xfrm>
            <a:off x="1828800" y="3357813"/>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Angulado 17">
            <a:extLst>
              <a:ext uri="{FF2B5EF4-FFF2-40B4-BE49-F238E27FC236}">
                <a16:creationId xmlns:a16="http://schemas.microsoft.com/office/drawing/2014/main" id="{40F205C2-203F-FD46-A7D9-2C4A0DC3C25B}"/>
              </a:ext>
            </a:extLst>
          </p:cNvPr>
          <p:cNvCxnSpPr>
            <a:cxnSpLocks/>
            <a:stCxn id="5" idx="3"/>
          </p:cNvCxnSpPr>
          <p:nvPr/>
        </p:nvCxnSpPr>
        <p:spPr>
          <a:xfrm>
            <a:off x="2960016" y="3645330"/>
            <a:ext cx="248510" cy="59295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Conector: Angulado 19">
            <a:extLst>
              <a:ext uri="{FF2B5EF4-FFF2-40B4-BE49-F238E27FC236}">
                <a16:creationId xmlns:a16="http://schemas.microsoft.com/office/drawing/2014/main" id="{91B88FED-3320-DC23-3DDC-F54AA6E4CAC3}"/>
              </a:ext>
            </a:extLst>
          </p:cNvPr>
          <p:cNvCxnSpPr>
            <a:stCxn id="5" idx="1"/>
            <a:endCxn id="2" idx="0"/>
          </p:cNvCxnSpPr>
          <p:nvPr/>
        </p:nvCxnSpPr>
        <p:spPr>
          <a:xfrm rot="10800000" flipV="1">
            <a:off x="979614" y="3645330"/>
            <a:ext cx="849186" cy="56278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17B5895C-AE77-A3DC-06D7-C3917377D299}"/>
              </a:ext>
            </a:extLst>
          </p:cNvPr>
          <p:cNvSpPr txBox="1"/>
          <p:nvPr/>
        </p:nvSpPr>
        <p:spPr>
          <a:xfrm>
            <a:off x="2091976" y="3441994"/>
            <a:ext cx="849186" cy="369332"/>
          </a:xfrm>
          <a:prstGeom prst="rect">
            <a:avLst/>
          </a:prstGeom>
          <a:noFill/>
        </p:spPr>
        <p:txBody>
          <a:bodyPr wrap="square" rtlCol="0">
            <a:spAutoFit/>
          </a:bodyPr>
          <a:lstStyle/>
          <a:p>
            <a:r>
              <a:rPr lang="pt-BR" dirty="0"/>
              <a:t>exibe</a:t>
            </a:r>
          </a:p>
        </p:txBody>
      </p:sp>
      <p:sp>
        <p:nvSpPr>
          <p:cNvPr id="12" name="Fluxograma: Decisão 11">
            <a:extLst>
              <a:ext uri="{FF2B5EF4-FFF2-40B4-BE49-F238E27FC236}">
                <a16:creationId xmlns:a16="http://schemas.microsoft.com/office/drawing/2014/main" id="{1E1F5E88-9528-C372-D17E-647E2FA56E93}"/>
              </a:ext>
            </a:extLst>
          </p:cNvPr>
          <p:cNvSpPr/>
          <p:nvPr/>
        </p:nvSpPr>
        <p:spPr>
          <a:xfrm>
            <a:off x="4286234" y="3344819"/>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C02B0734-3158-A9A9-4447-FEA8C9112BCD}"/>
              </a:ext>
            </a:extLst>
          </p:cNvPr>
          <p:cNvSpPr txBox="1"/>
          <p:nvPr/>
        </p:nvSpPr>
        <p:spPr>
          <a:xfrm>
            <a:off x="4516048" y="3441269"/>
            <a:ext cx="849186" cy="369332"/>
          </a:xfrm>
          <a:prstGeom prst="rect">
            <a:avLst/>
          </a:prstGeom>
          <a:noFill/>
        </p:spPr>
        <p:txBody>
          <a:bodyPr wrap="square" rtlCol="0">
            <a:spAutoFit/>
          </a:bodyPr>
          <a:lstStyle/>
          <a:p>
            <a:r>
              <a:rPr lang="pt-BR" dirty="0"/>
              <a:t>passa</a:t>
            </a:r>
          </a:p>
        </p:txBody>
      </p:sp>
      <p:cxnSp>
        <p:nvCxnSpPr>
          <p:cNvPr id="19" name="Conector: Angulado 18">
            <a:extLst>
              <a:ext uri="{FF2B5EF4-FFF2-40B4-BE49-F238E27FC236}">
                <a16:creationId xmlns:a16="http://schemas.microsoft.com/office/drawing/2014/main" id="{EE7779E3-A0A5-C1BA-8987-B582C0795933}"/>
              </a:ext>
            </a:extLst>
          </p:cNvPr>
          <p:cNvCxnSpPr>
            <a:cxnSpLocks/>
            <a:stCxn id="12" idx="1"/>
          </p:cNvCxnSpPr>
          <p:nvPr/>
        </p:nvCxnSpPr>
        <p:spPr>
          <a:xfrm rot="10800000" flipV="1">
            <a:off x="3823076" y="3632336"/>
            <a:ext cx="463158" cy="5831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0" name="Conector: Angulado 29">
            <a:extLst>
              <a:ext uri="{FF2B5EF4-FFF2-40B4-BE49-F238E27FC236}">
                <a16:creationId xmlns:a16="http://schemas.microsoft.com/office/drawing/2014/main" id="{45B30AC6-7FC9-DF4C-FB81-41284D0AFC53}"/>
              </a:ext>
            </a:extLst>
          </p:cNvPr>
          <p:cNvCxnSpPr>
            <a:cxnSpLocks/>
            <a:stCxn id="12" idx="3"/>
            <a:endCxn id="6" idx="0"/>
          </p:cNvCxnSpPr>
          <p:nvPr/>
        </p:nvCxnSpPr>
        <p:spPr>
          <a:xfrm>
            <a:off x="5417450" y="3632336"/>
            <a:ext cx="410859" cy="57776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0415962D-1049-056C-87DC-734D0EA8A81A}"/>
              </a:ext>
            </a:extLst>
          </p:cNvPr>
          <p:cNvSpPr txBox="1"/>
          <p:nvPr/>
        </p:nvSpPr>
        <p:spPr>
          <a:xfrm>
            <a:off x="2982490" y="3875875"/>
            <a:ext cx="261129" cy="369332"/>
          </a:xfrm>
          <a:prstGeom prst="rect">
            <a:avLst/>
          </a:prstGeom>
          <a:noFill/>
        </p:spPr>
        <p:txBody>
          <a:bodyPr wrap="square" rtlCol="0">
            <a:spAutoFit/>
          </a:bodyPr>
          <a:lstStyle/>
          <a:p>
            <a:r>
              <a:rPr lang="pt-BR" dirty="0"/>
              <a:t>n</a:t>
            </a:r>
          </a:p>
        </p:txBody>
      </p:sp>
      <p:sp>
        <p:nvSpPr>
          <p:cNvPr id="33" name="CaixaDeTexto 32">
            <a:extLst>
              <a:ext uri="{FF2B5EF4-FFF2-40B4-BE49-F238E27FC236}">
                <a16:creationId xmlns:a16="http://schemas.microsoft.com/office/drawing/2014/main" id="{279F58E1-DF87-4BD0-EB3A-7F7B43D46EDD}"/>
              </a:ext>
            </a:extLst>
          </p:cNvPr>
          <p:cNvSpPr txBox="1"/>
          <p:nvPr/>
        </p:nvSpPr>
        <p:spPr>
          <a:xfrm>
            <a:off x="938771" y="3868949"/>
            <a:ext cx="364893" cy="369332"/>
          </a:xfrm>
          <a:prstGeom prst="rect">
            <a:avLst/>
          </a:prstGeom>
          <a:noFill/>
        </p:spPr>
        <p:txBody>
          <a:bodyPr wrap="square" rtlCol="0">
            <a:spAutoFit/>
          </a:bodyPr>
          <a:lstStyle/>
          <a:p>
            <a:r>
              <a:rPr lang="pt-BR" dirty="0"/>
              <a:t>n</a:t>
            </a:r>
          </a:p>
        </p:txBody>
      </p:sp>
      <p:sp>
        <p:nvSpPr>
          <p:cNvPr id="34" name="CaixaDeTexto 33">
            <a:extLst>
              <a:ext uri="{FF2B5EF4-FFF2-40B4-BE49-F238E27FC236}">
                <a16:creationId xmlns:a16="http://schemas.microsoft.com/office/drawing/2014/main" id="{794D5C8D-7F31-CCFB-BDE3-2353F393B07D}"/>
              </a:ext>
            </a:extLst>
          </p:cNvPr>
          <p:cNvSpPr txBox="1"/>
          <p:nvPr/>
        </p:nvSpPr>
        <p:spPr>
          <a:xfrm>
            <a:off x="5544741" y="3880311"/>
            <a:ext cx="364893" cy="369332"/>
          </a:xfrm>
          <a:prstGeom prst="rect">
            <a:avLst/>
          </a:prstGeom>
          <a:noFill/>
        </p:spPr>
        <p:txBody>
          <a:bodyPr wrap="square" rtlCol="0">
            <a:spAutoFit/>
          </a:bodyPr>
          <a:lstStyle/>
          <a:p>
            <a:r>
              <a:rPr lang="pt-BR" dirty="0"/>
              <a:t>n</a:t>
            </a:r>
          </a:p>
        </p:txBody>
      </p:sp>
      <p:sp>
        <p:nvSpPr>
          <p:cNvPr id="35" name="CaixaDeTexto 34">
            <a:extLst>
              <a:ext uri="{FF2B5EF4-FFF2-40B4-BE49-F238E27FC236}">
                <a16:creationId xmlns:a16="http://schemas.microsoft.com/office/drawing/2014/main" id="{CE0B3B16-B6F7-52FF-117F-4A58D5F192CF}"/>
              </a:ext>
            </a:extLst>
          </p:cNvPr>
          <p:cNvSpPr txBox="1"/>
          <p:nvPr/>
        </p:nvSpPr>
        <p:spPr>
          <a:xfrm>
            <a:off x="3823076" y="3899271"/>
            <a:ext cx="364893" cy="369332"/>
          </a:xfrm>
          <a:prstGeom prst="rect">
            <a:avLst/>
          </a:prstGeom>
          <a:noFill/>
        </p:spPr>
        <p:txBody>
          <a:bodyPr wrap="square" rtlCol="0">
            <a:spAutoFit/>
          </a:bodyPr>
          <a:lstStyle/>
          <a:p>
            <a:r>
              <a:rPr lang="pt-BR" dirty="0"/>
              <a:t>1</a:t>
            </a:r>
          </a:p>
        </p:txBody>
      </p:sp>
      <p:sp>
        <p:nvSpPr>
          <p:cNvPr id="31" name="CaixaDeTexto 30">
            <a:extLst>
              <a:ext uri="{FF2B5EF4-FFF2-40B4-BE49-F238E27FC236}">
                <a16:creationId xmlns:a16="http://schemas.microsoft.com/office/drawing/2014/main" id="{C9F9C29D-70B4-27D2-AE0E-3C9F8AAE1A73}"/>
              </a:ext>
            </a:extLst>
          </p:cNvPr>
          <p:cNvSpPr txBox="1"/>
          <p:nvPr/>
        </p:nvSpPr>
        <p:spPr>
          <a:xfrm>
            <a:off x="6427540" y="3447052"/>
            <a:ext cx="1024719" cy="369332"/>
          </a:xfrm>
          <a:prstGeom prst="rect">
            <a:avLst/>
          </a:prstGeom>
          <a:noFill/>
        </p:spPr>
        <p:txBody>
          <a:bodyPr wrap="square" rtlCol="0">
            <a:spAutoFit/>
          </a:bodyPr>
          <a:lstStyle/>
          <a:p>
            <a:r>
              <a:rPr lang="pt-BR" dirty="0"/>
              <a:t>localiza</a:t>
            </a:r>
          </a:p>
        </p:txBody>
      </p:sp>
      <p:cxnSp>
        <p:nvCxnSpPr>
          <p:cNvPr id="36" name="Conector: Angulado 35">
            <a:extLst>
              <a:ext uri="{FF2B5EF4-FFF2-40B4-BE49-F238E27FC236}">
                <a16:creationId xmlns:a16="http://schemas.microsoft.com/office/drawing/2014/main" id="{874F7486-1293-86CE-A517-B9FBFCA663A8}"/>
              </a:ext>
            </a:extLst>
          </p:cNvPr>
          <p:cNvCxnSpPr>
            <a:cxnSpLocks/>
            <a:stCxn id="40" idx="1"/>
          </p:cNvCxnSpPr>
          <p:nvPr/>
        </p:nvCxnSpPr>
        <p:spPr>
          <a:xfrm rot="10800000" flipV="1">
            <a:off x="6014068" y="3632335"/>
            <a:ext cx="266341" cy="57532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7" name="Conector: Angulado 36">
            <a:extLst>
              <a:ext uri="{FF2B5EF4-FFF2-40B4-BE49-F238E27FC236}">
                <a16:creationId xmlns:a16="http://schemas.microsoft.com/office/drawing/2014/main" id="{6BF5F485-8FB4-1641-86DC-CB58336AF5D8}"/>
              </a:ext>
            </a:extLst>
          </p:cNvPr>
          <p:cNvCxnSpPr>
            <a:cxnSpLocks/>
          </p:cNvCxnSpPr>
          <p:nvPr/>
        </p:nvCxnSpPr>
        <p:spPr>
          <a:xfrm rot="16200000" flipH="1">
            <a:off x="7202634" y="3794256"/>
            <a:ext cx="549967" cy="228937"/>
          </a:xfrm>
          <a:prstGeom prst="bentConnector3">
            <a:avLst>
              <a:gd name="adj1" fmla="val 292"/>
            </a:avLst>
          </a:prstGeom>
        </p:spPr>
        <p:style>
          <a:lnRef idx="1">
            <a:schemeClr val="accent1"/>
          </a:lnRef>
          <a:fillRef idx="0">
            <a:schemeClr val="accent1"/>
          </a:fillRef>
          <a:effectRef idx="0">
            <a:schemeClr val="accent1"/>
          </a:effectRef>
          <a:fontRef idx="minor">
            <a:schemeClr val="tx1"/>
          </a:fontRef>
        </p:style>
      </p:cxnSp>
      <p:sp>
        <p:nvSpPr>
          <p:cNvPr id="38" name="CaixaDeTexto 37">
            <a:extLst>
              <a:ext uri="{FF2B5EF4-FFF2-40B4-BE49-F238E27FC236}">
                <a16:creationId xmlns:a16="http://schemas.microsoft.com/office/drawing/2014/main" id="{A066C1F9-287D-80FC-84F9-6DAE6725AF79}"/>
              </a:ext>
            </a:extLst>
          </p:cNvPr>
          <p:cNvSpPr txBox="1"/>
          <p:nvPr/>
        </p:nvSpPr>
        <p:spPr>
          <a:xfrm>
            <a:off x="7217765" y="3851511"/>
            <a:ext cx="364893" cy="369332"/>
          </a:xfrm>
          <a:prstGeom prst="rect">
            <a:avLst/>
          </a:prstGeom>
          <a:noFill/>
        </p:spPr>
        <p:txBody>
          <a:bodyPr wrap="square" rtlCol="0">
            <a:spAutoFit/>
          </a:bodyPr>
          <a:lstStyle/>
          <a:p>
            <a:r>
              <a:rPr lang="pt-BR" dirty="0"/>
              <a:t>1</a:t>
            </a:r>
          </a:p>
        </p:txBody>
      </p:sp>
      <p:sp>
        <p:nvSpPr>
          <p:cNvPr id="39" name="CaixaDeTexto 38">
            <a:extLst>
              <a:ext uri="{FF2B5EF4-FFF2-40B4-BE49-F238E27FC236}">
                <a16:creationId xmlns:a16="http://schemas.microsoft.com/office/drawing/2014/main" id="{0AEBDA61-D0F6-94C6-8392-CCAADAA2BA79}"/>
              </a:ext>
            </a:extLst>
          </p:cNvPr>
          <p:cNvSpPr txBox="1"/>
          <p:nvPr/>
        </p:nvSpPr>
        <p:spPr>
          <a:xfrm>
            <a:off x="6014065" y="3891464"/>
            <a:ext cx="364893" cy="369332"/>
          </a:xfrm>
          <a:prstGeom prst="rect">
            <a:avLst/>
          </a:prstGeom>
          <a:noFill/>
        </p:spPr>
        <p:txBody>
          <a:bodyPr wrap="square" rtlCol="0">
            <a:spAutoFit/>
          </a:bodyPr>
          <a:lstStyle/>
          <a:p>
            <a:r>
              <a:rPr lang="pt-BR" dirty="0"/>
              <a:t>n</a:t>
            </a:r>
          </a:p>
        </p:txBody>
      </p:sp>
      <p:sp>
        <p:nvSpPr>
          <p:cNvPr id="40" name="Fluxograma: Decisão 39">
            <a:extLst>
              <a:ext uri="{FF2B5EF4-FFF2-40B4-BE49-F238E27FC236}">
                <a16:creationId xmlns:a16="http://schemas.microsoft.com/office/drawing/2014/main" id="{E22E8CB5-0DE9-32F5-1A79-1553BA2DF533}"/>
              </a:ext>
            </a:extLst>
          </p:cNvPr>
          <p:cNvSpPr/>
          <p:nvPr/>
        </p:nvSpPr>
        <p:spPr>
          <a:xfrm>
            <a:off x="6280408" y="3344818"/>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luxograma: Decisão 16">
            <a:extLst>
              <a:ext uri="{FF2B5EF4-FFF2-40B4-BE49-F238E27FC236}">
                <a16:creationId xmlns:a16="http://schemas.microsoft.com/office/drawing/2014/main" id="{4695768D-1EC4-264A-8A09-9B88FFCC1579}"/>
              </a:ext>
            </a:extLst>
          </p:cNvPr>
          <p:cNvSpPr/>
          <p:nvPr/>
        </p:nvSpPr>
        <p:spPr>
          <a:xfrm>
            <a:off x="8881549" y="2827604"/>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CaixaDeTexto 41">
            <a:extLst>
              <a:ext uri="{FF2B5EF4-FFF2-40B4-BE49-F238E27FC236}">
                <a16:creationId xmlns:a16="http://schemas.microsoft.com/office/drawing/2014/main" id="{E6705FA8-D1E9-96D0-D374-3B90D71202B9}"/>
              </a:ext>
            </a:extLst>
          </p:cNvPr>
          <p:cNvSpPr txBox="1"/>
          <p:nvPr/>
        </p:nvSpPr>
        <p:spPr>
          <a:xfrm>
            <a:off x="8911180" y="2923609"/>
            <a:ext cx="1050514" cy="369332"/>
          </a:xfrm>
          <a:prstGeom prst="rect">
            <a:avLst/>
          </a:prstGeom>
          <a:noFill/>
        </p:spPr>
        <p:txBody>
          <a:bodyPr wrap="square" rtlCol="0">
            <a:spAutoFit/>
          </a:bodyPr>
          <a:lstStyle/>
          <a:p>
            <a:r>
              <a:rPr lang="pt-BR" dirty="0"/>
              <a:t>dirigido</a:t>
            </a:r>
          </a:p>
        </p:txBody>
      </p:sp>
      <p:cxnSp>
        <p:nvCxnSpPr>
          <p:cNvPr id="44" name="Conector: Angulado 43">
            <a:extLst>
              <a:ext uri="{FF2B5EF4-FFF2-40B4-BE49-F238E27FC236}">
                <a16:creationId xmlns:a16="http://schemas.microsoft.com/office/drawing/2014/main" id="{6D160554-EC64-87B6-69E6-9B7F14391D2C}"/>
              </a:ext>
            </a:extLst>
          </p:cNvPr>
          <p:cNvCxnSpPr>
            <a:cxnSpLocks/>
            <a:endCxn id="42" idx="1"/>
          </p:cNvCxnSpPr>
          <p:nvPr/>
        </p:nvCxnSpPr>
        <p:spPr>
          <a:xfrm flipV="1">
            <a:off x="3381876" y="3108275"/>
            <a:ext cx="5529304" cy="1118077"/>
          </a:xfrm>
          <a:prstGeom prst="bentConnector3">
            <a:avLst>
              <a:gd name="adj1" fmla="val 5503"/>
            </a:avLst>
          </a:prstGeom>
        </p:spPr>
        <p:style>
          <a:lnRef idx="1">
            <a:schemeClr val="accent1"/>
          </a:lnRef>
          <a:fillRef idx="0">
            <a:schemeClr val="accent1"/>
          </a:fillRef>
          <a:effectRef idx="0">
            <a:schemeClr val="accent1"/>
          </a:effectRef>
          <a:fontRef idx="minor">
            <a:schemeClr val="tx1"/>
          </a:fontRef>
        </p:style>
      </p:cxnSp>
      <p:cxnSp>
        <p:nvCxnSpPr>
          <p:cNvPr id="47" name="Conector reto 46">
            <a:extLst>
              <a:ext uri="{FF2B5EF4-FFF2-40B4-BE49-F238E27FC236}">
                <a16:creationId xmlns:a16="http://schemas.microsoft.com/office/drawing/2014/main" id="{EC4CE640-33D5-FA08-1F06-9B9EE279C545}"/>
              </a:ext>
            </a:extLst>
          </p:cNvPr>
          <p:cNvCxnSpPr>
            <a:stCxn id="25" idx="0"/>
            <a:endCxn id="17" idx="2"/>
          </p:cNvCxnSpPr>
          <p:nvPr/>
        </p:nvCxnSpPr>
        <p:spPr>
          <a:xfrm flipH="1" flipV="1">
            <a:off x="9318528" y="3377570"/>
            <a:ext cx="3981" cy="8119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ector reto 48">
            <a:extLst>
              <a:ext uri="{FF2B5EF4-FFF2-40B4-BE49-F238E27FC236}">
                <a16:creationId xmlns:a16="http://schemas.microsoft.com/office/drawing/2014/main" id="{E7A64442-4953-D5A5-FA69-B98378BAE2C1}"/>
              </a:ext>
            </a:extLst>
          </p:cNvPr>
          <p:cNvCxnSpPr>
            <a:cxnSpLocks/>
            <a:stCxn id="62" idx="2"/>
            <a:endCxn id="26" idx="0"/>
          </p:cNvCxnSpPr>
          <p:nvPr/>
        </p:nvCxnSpPr>
        <p:spPr>
          <a:xfrm>
            <a:off x="11316602" y="2831634"/>
            <a:ext cx="1" cy="1357847"/>
          </a:xfrm>
          <a:prstGeom prst="line">
            <a:avLst/>
          </a:prstGeom>
        </p:spPr>
        <p:style>
          <a:lnRef idx="1">
            <a:schemeClr val="accent1"/>
          </a:lnRef>
          <a:fillRef idx="0">
            <a:schemeClr val="accent1"/>
          </a:fillRef>
          <a:effectRef idx="0">
            <a:schemeClr val="accent1"/>
          </a:effectRef>
          <a:fontRef idx="minor">
            <a:schemeClr val="tx1"/>
          </a:fontRef>
        </p:style>
      </p:cxnSp>
      <p:sp>
        <p:nvSpPr>
          <p:cNvPr id="50" name="CaixaDeTexto 49">
            <a:extLst>
              <a:ext uri="{FF2B5EF4-FFF2-40B4-BE49-F238E27FC236}">
                <a16:creationId xmlns:a16="http://schemas.microsoft.com/office/drawing/2014/main" id="{C8F9EE63-91C0-03C9-6BA3-AF247924E0A6}"/>
              </a:ext>
            </a:extLst>
          </p:cNvPr>
          <p:cNvSpPr txBox="1"/>
          <p:nvPr/>
        </p:nvSpPr>
        <p:spPr>
          <a:xfrm>
            <a:off x="11316602" y="3838760"/>
            <a:ext cx="364563" cy="369332"/>
          </a:xfrm>
          <a:prstGeom prst="rect">
            <a:avLst/>
          </a:prstGeom>
          <a:noFill/>
        </p:spPr>
        <p:txBody>
          <a:bodyPr wrap="square" rtlCol="0">
            <a:spAutoFit/>
          </a:bodyPr>
          <a:lstStyle/>
          <a:p>
            <a:r>
              <a:rPr lang="pt-BR" dirty="0"/>
              <a:t>n</a:t>
            </a:r>
          </a:p>
        </p:txBody>
      </p:sp>
      <p:sp>
        <p:nvSpPr>
          <p:cNvPr id="51" name="CaixaDeTexto 50">
            <a:extLst>
              <a:ext uri="{FF2B5EF4-FFF2-40B4-BE49-F238E27FC236}">
                <a16:creationId xmlns:a16="http://schemas.microsoft.com/office/drawing/2014/main" id="{81CE1960-B531-5559-ED25-6901A9C8F91E}"/>
              </a:ext>
            </a:extLst>
          </p:cNvPr>
          <p:cNvSpPr txBox="1"/>
          <p:nvPr/>
        </p:nvSpPr>
        <p:spPr>
          <a:xfrm>
            <a:off x="9071874" y="3842134"/>
            <a:ext cx="364563" cy="369332"/>
          </a:xfrm>
          <a:prstGeom prst="rect">
            <a:avLst/>
          </a:prstGeom>
          <a:noFill/>
        </p:spPr>
        <p:txBody>
          <a:bodyPr wrap="square" rtlCol="0">
            <a:spAutoFit/>
          </a:bodyPr>
          <a:lstStyle/>
          <a:p>
            <a:r>
              <a:rPr lang="pt-BR" dirty="0"/>
              <a:t>n</a:t>
            </a:r>
          </a:p>
        </p:txBody>
      </p:sp>
      <p:sp>
        <p:nvSpPr>
          <p:cNvPr id="52" name="CaixaDeTexto 51">
            <a:extLst>
              <a:ext uri="{FF2B5EF4-FFF2-40B4-BE49-F238E27FC236}">
                <a16:creationId xmlns:a16="http://schemas.microsoft.com/office/drawing/2014/main" id="{90D6C8B0-46E4-4FC8-1B89-627568A6BAD6}"/>
              </a:ext>
            </a:extLst>
          </p:cNvPr>
          <p:cNvSpPr txBox="1"/>
          <p:nvPr/>
        </p:nvSpPr>
        <p:spPr>
          <a:xfrm>
            <a:off x="3199897" y="3875875"/>
            <a:ext cx="364563" cy="369332"/>
          </a:xfrm>
          <a:prstGeom prst="rect">
            <a:avLst/>
          </a:prstGeom>
          <a:noFill/>
        </p:spPr>
        <p:txBody>
          <a:bodyPr wrap="square" rtlCol="0">
            <a:spAutoFit/>
          </a:bodyPr>
          <a:lstStyle/>
          <a:p>
            <a:r>
              <a:rPr lang="pt-BR" dirty="0"/>
              <a:t>n</a:t>
            </a:r>
          </a:p>
        </p:txBody>
      </p:sp>
      <p:sp>
        <p:nvSpPr>
          <p:cNvPr id="62" name="Fluxograma: Decisão 61">
            <a:extLst>
              <a:ext uri="{FF2B5EF4-FFF2-40B4-BE49-F238E27FC236}">
                <a16:creationId xmlns:a16="http://schemas.microsoft.com/office/drawing/2014/main" id="{EF063440-DE5E-4BE9-870A-236FCC21A069}"/>
              </a:ext>
            </a:extLst>
          </p:cNvPr>
          <p:cNvSpPr/>
          <p:nvPr/>
        </p:nvSpPr>
        <p:spPr>
          <a:xfrm>
            <a:off x="10879623" y="2281668"/>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5" name="Conector: Angulado 64">
            <a:extLst>
              <a:ext uri="{FF2B5EF4-FFF2-40B4-BE49-F238E27FC236}">
                <a16:creationId xmlns:a16="http://schemas.microsoft.com/office/drawing/2014/main" id="{9A515691-33F3-51E3-FB50-8240E5BF8594}"/>
              </a:ext>
            </a:extLst>
          </p:cNvPr>
          <p:cNvCxnSpPr>
            <a:cxnSpLocks/>
          </p:cNvCxnSpPr>
          <p:nvPr/>
        </p:nvCxnSpPr>
        <p:spPr>
          <a:xfrm rot="10800000" flipV="1">
            <a:off x="3403628" y="2556651"/>
            <a:ext cx="7315300" cy="165881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9" name="CaixaDeTexto 68">
            <a:extLst>
              <a:ext uri="{FF2B5EF4-FFF2-40B4-BE49-F238E27FC236}">
                <a16:creationId xmlns:a16="http://schemas.microsoft.com/office/drawing/2014/main" id="{CE466B15-09AA-9011-D786-131B0D83DA9B}"/>
              </a:ext>
            </a:extLst>
          </p:cNvPr>
          <p:cNvSpPr txBox="1"/>
          <p:nvPr/>
        </p:nvSpPr>
        <p:spPr>
          <a:xfrm>
            <a:off x="10894596" y="2379085"/>
            <a:ext cx="1050514" cy="369332"/>
          </a:xfrm>
          <a:prstGeom prst="rect">
            <a:avLst/>
          </a:prstGeom>
          <a:noFill/>
        </p:spPr>
        <p:txBody>
          <a:bodyPr wrap="square" rtlCol="0">
            <a:spAutoFit/>
          </a:bodyPr>
          <a:lstStyle/>
          <a:p>
            <a:r>
              <a:rPr lang="pt-BR" dirty="0"/>
              <a:t>contém</a:t>
            </a:r>
          </a:p>
        </p:txBody>
      </p:sp>
      <p:sp>
        <p:nvSpPr>
          <p:cNvPr id="71" name="CaixaDeTexto 70">
            <a:extLst>
              <a:ext uri="{FF2B5EF4-FFF2-40B4-BE49-F238E27FC236}">
                <a16:creationId xmlns:a16="http://schemas.microsoft.com/office/drawing/2014/main" id="{F1EF3300-A117-11C5-7C09-8A07F96D2DB1}"/>
              </a:ext>
            </a:extLst>
          </p:cNvPr>
          <p:cNvSpPr txBox="1"/>
          <p:nvPr/>
        </p:nvSpPr>
        <p:spPr>
          <a:xfrm>
            <a:off x="3465827" y="3876442"/>
            <a:ext cx="364563" cy="369332"/>
          </a:xfrm>
          <a:prstGeom prst="rect">
            <a:avLst/>
          </a:prstGeom>
          <a:noFill/>
        </p:spPr>
        <p:txBody>
          <a:bodyPr wrap="square" rtlCol="0">
            <a:spAutoFit/>
          </a:bodyPr>
          <a:lstStyle/>
          <a:p>
            <a:r>
              <a:rPr lang="pt-BR" dirty="0"/>
              <a:t>n</a:t>
            </a:r>
          </a:p>
        </p:txBody>
      </p:sp>
    </p:spTree>
    <p:extLst>
      <p:ext uri="{BB962C8B-B14F-4D97-AF65-F5344CB8AC3E}">
        <p14:creationId xmlns:p14="http://schemas.microsoft.com/office/powerpoint/2010/main" val="2968868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30FD02-42CB-8CAA-467E-3661A411D873}"/>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4" name="CaixaDeTexto 3">
            <a:extLst>
              <a:ext uri="{FF2B5EF4-FFF2-40B4-BE49-F238E27FC236}">
                <a16:creationId xmlns:a16="http://schemas.microsoft.com/office/drawing/2014/main" id="{35D6A63B-D3A2-D3AB-FFFD-92FD890E1AD7}"/>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6" name="CaixaDeTexto 5">
            <a:extLst>
              <a:ext uri="{FF2B5EF4-FFF2-40B4-BE49-F238E27FC236}">
                <a16:creationId xmlns:a16="http://schemas.microsoft.com/office/drawing/2014/main" id="{3B828840-CDF7-122B-D05F-B60DE22D0A8F}"/>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7" name="CaixaDeTexto 6">
            <a:extLst>
              <a:ext uri="{FF2B5EF4-FFF2-40B4-BE49-F238E27FC236}">
                <a16:creationId xmlns:a16="http://schemas.microsoft.com/office/drawing/2014/main" id="{AA2B8208-5AC9-F0F4-0ACC-DEFC82722907}"/>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cxnSp>
        <p:nvCxnSpPr>
          <p:cNvPr id="10" name="Conector reto 9">
            <a:extLst>
              <a:ext uri="{FF2B5EF4-FFF2-40B4-BE49-F238E27FC236}">
                <a16:creationId xmlns:a16="http://schemas.microsoft.com/office/drawing/2014/main" id="{25858B0C-A9E8-6884-F912-B6C196F68B83}"/>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D42337CD-9D76-AE18-F87D-4F2547CD0BF7}"/>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AFEDD4E-54EA-A604-5617-6A3AE13FDF74}"/>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FA9DDF26-33A2-DF39-1036-BA6957D9E306}"/>
              </a:ext>
            </a:extLst>
          </p:cNvPr>
          <p:cNvSpPr txBox="1"/>
          <p:nvPr/>
        </p:nvSpPr>
        <p:spPr>
          <a:xfrm>
            <a:off x="162613" y="96934"/>
            <a:ext cx="11799999" cy="2450094"/>
          </a:xfrm>
          <a:prstGeom prst="rect">
            <a:avLst/>
          </a:prstGeom>
          <a:noFill/>
        </p:spPr>
        <p:txBody>
          <a:bodyPr wrap="square">
            <a:spAutoFit/>
          </a:bodyPr>
          <a:lstStyle/>
          <a:p>
            <a:pPr algn="just">
              <a:lnSpc>
                <a:spcPct val="107000"/>
              </a:lnSpc>
              <a:spcAft>
                <a:spcPts val="800"/>
              </a:spcAft>
            </a:pPr>
            <a:r>
              <a:rPr lang="pt-BR" kern="100" dirty="0">
                <a:effectLst/>
                <a:latin typeface="Calibri" panose="020F0502020204030204" pitchFamily="34" charset="0"/>
                <a:ea typeface="Calibri" panose="020F0502020204030204" pitchFamily="34" charset="0"/>
                <a:cs typeface="Times New Roman" panose="02020603050405020304" pitchFamily="18" charset="0"/>
              </a:rPr>
              <a:t>Uma empresa responsável por manter um site voltado para entretenimento em todos os estados do Brasil quer o projeto de uma base de dados para a seção de cinema do site. Navegando no site, os internautas encontrarão informações de todos os filmes em cartaz em cada um dos cinemas de cada cidade do país. Poderão consultar as sessões de cada filme em cada cinema, com dias da semana, horários, preços de ingresso, salas (com informações sobre número de lugares, tipo de som, acesso a deficientes). Além disso, encontrarão informações a respeito dos filmes, como título no Brasil, título original, legendado/dublado, sinopse, diretores, elenco principal (com indicação dos protagonistas), gênero e classificação. E, ao escolherem a melhor opção, poderão consultar endereço e telefone do cinema onde estiver passando o filme. O CNPJ do cinema também é armazenado.</a:t>
            </a:r>
            <a:endParaRPr lang="pt-BR"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aixaDeTexto 7">
            <a:extLst>
              <a:ext uri="{FF2B5EF4-FFF2-40B4-BE49-F238E27FC236}">
                <a16:creationId xmlns:a16="http://schemas.microsoft.com/office/drawing/2014/main" id="{CDED82E5-4ED8-040E-C873-EC18A1492A84}"/>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u="sng" dirty="0">
                <a:highlight>
                  <a:srgbClr val="FFFF00"/>
                </a:highlight>
              </a:rPr>
              <a:t>CNPJ</a:t>
            </a:r>
          </a:p>
          <a:p>
            <a:pPr marL="285750" indent="-285750">
              <a:buFontTx/>
              <a:buChar char="-"/>
            </a:pPr>
            <a:r>
              <a:rPr lang="pt-BR" dirty="0"/>
              <a:t>Endereço</a:t>
            </a:r>
          </a:p>
          <a:p>
            <a:pPr marL="285750" indent="-285750">
              <a:buFontTx/>
              <a:buChar char="-"/>
            </a:pPr>
            <a:r>
              <a:rPr lang="pt-BR" dirty="0"/>
              <a:t>Telefone</a:t>
            </a:r>
          </a:p>
        </p:txBody>
      </p:sp>
      <p:sp>
        <p:nvSpPr>
          <p:cNvPr id="9" name="CaixaDeTexto 8">
            <a:extLst>
              <a:ext uri="{FF2B5EF4-FFF2-40B4-BE49-F238E27FC236}">
                <a16:creationId xmlns:a16="http://schemas.microsoft.com/office/drawing/2014/main" id="{2008D058-1C9A-1B76-3D59-C7018E4809DE}"/>
              </a:ext>
            </a:extLst>
          </p:cNvPr>
          <p:cNvSpPr txBox="1"/>
          <p:nvPr/>
        </p:nvSpPr>
        <p:spPr>
          <a:xfrm>
            <a:off x="2025991" y="4637782"/>
            <a:ext cx="3266390" cy="1754326"/>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a:p>
            <a:pPr marL="285750" indent="-285750">
              <a:buFontTx/>
              <a:buChar char="-"/>
            </a:pPr>
            <a:r>
              <a:rPr lang="pt-BR" u="sng" dirty="0" err="1">
                <a:highlight>
                  <a:srgbClr val="FFFF00"/>
                </a:highlight>
              </a:rPr>
              <a:t>id_filme</a:t>
            </a:r>
            <a:endParaRPr lang="pt-BR" u="sng" dirty="0">
              <a:highlight>
                <a:srgbClr val="FFFF00"/>
              </a:highlight>
            </a:endParaRPr>
          </a:p>
        </p:txBody>
      </p:sp>
      <p:sp>
        <p:nvSpPr>
          <p:cNvPr id="14" name="CaixaDeTexto 13">
            <a:extLst>
              <a:ext uri="{FF2B5EF4-FFF2-40B4-BE49-F238E27FC236}">
                <a16:creationId xmlns:a16="http://schemas.microsoft.com/office/drawing/2014/main" id="{B54F5914-782C-A8A9-2724-8A1E3753800E}"/>
              </a:ext>
            </a:extLst>
          </p:cNvPr>
          <p:cNvSpPr txBox="1"/>
          <p:nvPr/>
        </p:nvSpPr>
        <p:spPr>
          <a:xfrm>
            <a:off x="6637454" y="4677609"/>
            <a:ext cx="1751816" cy="1477328"/>
          </a:xfrm>
          <a:prstGeom prst="rect">
            <a:avLst/>
          </a:prstGeom>
          <a:noFill/>
        </p:spPr>
        <p:txBody>
          <a:bodyPr wrap="square" rtlCol="0">
            <a:spAutoFit/>
          </a:bodyPr>
          <a:lstStyle/>
          <a:p>
            <a:pPr marL="285750" indent="-285750">
              <a:buFontTx/>
              <a:buChar char="-"/>
            </a:pPr>
            <a:r>
              <a:rPr lang="pt-BR" dirty="0"/>
              <a:t>N° de lugares</a:t>
            </a:r>
          </a:p>
          <a:p>
            <a:pPr marL="285750" indent="-285750">
              <a:buFontTx/>
              <a:buChar char="-"/>
            </a:pPr>
            <a:r>
              <a:rPr lang="pt-BR" dirty="0"/>
              <a:t>Tipo de som</a:t>
            </a:r>
          </a:p>
          <a:p>
            <a:pPr marL="285750" indent="-285750">
              <a:buFontTx/>
              <a:buChar char="-"/>
            </a:pPr>
            <a:r>
              <a:rPr lang="pt-BR" dirty="0"/>
              <a:t>Acesso a deficientes</a:t>
            </a:r>
          </a:p>
          <a:p>
            <a:pPr marL="285750" indent="-285750">
              <a:buFontTx/>
              <a:buChar char="-"/>
            </a:pPr>
            <a:r>
              <a:rPr lang="pt-BR" u="sng" dirty="0" err="1">
                <a:highlight>
                  <a:srgbClr val="FFFF00"/>
                </a:highlight>
              </a:rPr>
              <a:t>id_sala</a:t>
            </a:r>
            <a:endParaRPr lang="pt-BR" u="sng" dirty="0">
              <a:highlight>
                <a:srgbClr val="FFFF00"/>
              </a:highlight>
            </a:endParaRPr>
          </a:p>
        </p:txBody>
      </p:sp>
      <p:sp>
        <p:nvSpPr>
          <p:cNvPr id="16" name="CaixaDeTexto 15">
            <a:extLst>
              <a:ext uri="{FF2B5EF4-FFF2-40B4-BE49-F238E27FC236}">
                <a16:creationId xmlns:a16="http://schemas.microsoft.com/office/drawing/2014/main" id="{E99EEB24-7D19-9DE5-B6D1-8BE8A510D588}"/>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22" name="Conector reto 21">
            <a:extLst>
              <a:ext uri="{FF2B5EF4-FFF2-40B4-BE49-F238E27FC236}">
                <a16:creationId xmlns:a16="http://schemas.microsoft.com/office/drawing/2014/main" id="{0BA7B12F-0042-518E-2C6B-271E476A0907}"/>
              </a:ext>
            </a:extLst>
          </p:cNvPr>
          <p:cNvCxnSpPr>
            <a:cxnSpLocks/>
          </p:cNvCxnSpPr>
          <p:nvPr/>
        </p:nvCxnSpPr>
        <p:spPr>
          <a:xfrm>
            <a:off x="8326216" y="4083597"/>
            <a:ext cx="0" cy="2623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F66F5879-07F5-24F3-78F6-D8885228146B}"/>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E634E543-5672-A1D9-1F01-48A88CF5E8B2}"/>
              </a:ext>
            </a:extLst>
          </p:cNvPr>
          <p:cNvSpPr txBox="1"/>
          <p:nvPr/>
        </p:nvSpPr>
        <p:spPr>
          <a:xfrm>
            <a:off x="8691108" y="4189481"/>
            <a:ext cx="1262802" cy="369332"/>
          </a:xfrm>
          <a:prstGeom prst="rect">
            <a:avLst/>
          </a:prstGeom>
          <a:noFill/>
          <a:ln>
            <a:solidFill>
              <a:schemeClr val="tx1"/>
            </a:solidFill>
          </a:ln>
        </p:spPr>
        <p:txBody>
          <a:bodyPr wrap="square" rtlCol="0">
            <a:spAutoFit/>
          </a:bodyPr>
          <a:lstStyle/>
          <a:p>
            <a:pPr algn="ctr"/>
            <a:r>
              <a:rPr lang="pt-BR" dirty="0"/>
              <a:t>Diretor</a:t>
            </a:r>
          </a:p>
        </p:txBody>
      </p:sp>
      <p:sp>
        <p:nvSpPr>
          <p:cNvPr id="26" name="CaixaDeTexto 25">
            <a:extLst>
              <a:ext uri="{FF2B5EF4-FFF2-40B4-BE49-F238E27FC236}">
                <a16:creationId xmlns:a16="http://schemas.microsoft.com/office/drawing/2014/main" id="{668D7A6A-5762-B31F-54EA-DC79AB3E1EF5}"/>
              </a:ext>
            </a:extLst>
          </p:cNvPr>
          <p:cNvSpPr txBox="1"/>
          <p:nvPr/>
        </p:nvSpPr>
        <p:spPr>
          <a:xfrm>
            <a:off x="10791345" y="4189481"/>
            <a:ext cx="1050515" cy="369332"/>
          </a:xfrm>
          <a:prstGeom prst="rect">
            <a:avLst/>
          </a:prstGeom>
          <a:noFill/>
          <a:ln>
            <a:solidFill>
              <a:schemeClr val="tx1"/>
            </a:solidFill>
          </a:ln>
        </p:spPr>
        <p:txBody>
          <a:bodyPr wrap="square" rtlCol="0">
            <a:spAutoFit/>
          </a:bodyPr>
          <a:lstStyle/>
          <a:p>
            <a:pPr algn="ctr"/>
            <a:r>
              <a:rPr lang="pt-BR" dirty="0"/>
              <a:t>Elenco</a:t>
            </a:r>
          </a:p>
        </p:txBody>
      </p:sp>
      <p:cxnSp>
        <p:nvCxnSpPr>
          <p:cNvPr id="27" name="Conector reto 26">
            <a:extLst>
              <a:ext uri="{FF2B5EF4-FFF2-40B4-BE49-F238E27FC236}">
                <a16:creationId xmlns:a16="http://schemas.microsoft.com/office/drawing/2014/main" id="{D74799A3-56C7-4706-19BE-1924D10991BE}"/>
              </a:ext>
            </a:extLst>
          </p:cNvPr>
          <p:cNvCxnSpPr>
            <a:cxnSpLocks/>
          </p:cNvCxnSpPr>
          <p:nvPr/>
        </p:nvCxnSpPr>
        <p:spPr>
          <a:xfrm>
            <a:off x="10372627"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30593127-4791-5209-092E-4720ACFFB238}"/>
              </a:ext>
            </a:extLst>
          </p:cNvPr>
          <p:cNvSpPr txBox="1"/>
          <p:nvPr/>
        </p:nvSpPr>
        <p:spPr>
          <a:xfrm>
            <a:off x="8378052" y="4671229"/>
            <a:ext cx="1751816" cy="646331"/>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u="sng" dirty="0" err="1">
                <a:highlight>
                  <a:srgbClr val="FFFF00"/>
                </a:highlight>
              </a:rPr>
              <a:t>id_diretor</a:t>
            </a:r>
            <a:endParaRPr lang="pt-BR" u="sng" dirty="0">
              <a:highlight>
                <a:srgbClr val="FFFF00"/>
              </a:highlight>
            </a:endParaRPr>
          </a:p>
        </p:txBody>
      </p:sp>
      <p:sp>
        <p:nvSpPr>
          <p:cNvPr id="29" name="CaixaDeTexto 28">
            <a:extLst>
              <a:ext uri="{FF2B5EF4-FFF2-40B4-BE49-F238E27FC236}">
                <a16:creationId xmlns:a16="http://schemas.microsoft.com/office/drawing/2014/main" id="{F40F2788-96DA-CF46-A623-5460991ACACB}"/>
              </a:ext>
            </a:extLst>
          </p:cNvPr>
          <p:cNvSpPr txBox="1"/>
          <p:nvPr/>
        </p:nvSpPr>
        <p:spPr>
          <a:xfrm>
            <a:off x="10511282" y="4656453"/>
            <a:ext cx="1751816" cy="923330"/>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dirty="0"/>
              <a:t>Papel</a:t>
            </a:r>
          </a:p>
          <a:p>
            <a:pPr marL="285750" indent="-285750">
              <a:buFontTx/>
              <a:buChar char="-"/>
            </a:pPr>
            <a:r>
              <a:rPr lang="pt-BR" u="sng" dirty="0" err="1">
                <a:highlight>
                  <a:srgbClr val="FFFF00"/>
                </a:highlight>
              </a:rPr>
              <a:t>id_elenco</a:t>
            </a:r>
            <a:endParaRPr lang="pt-BR" u="sng" dirty="0">
              <a:highlight>
                <a:srgbClr val="FFFF00"/>
              </a:highlight>
            </a:endParaRPr>
          </a:p>
        </p:txBody>
      </p:sp>
      <p:sp>
        <p:nvSpPr>
          <p:cNvPr id="5" name="Fluxograma: Decisão 4">
            <a:extLst>
              <a:ext uri="{FF2B5EF4-FFF2-40B4-BE49-F238E27FC236}">
                <a16:creationId xmlns:a16="http://schemas.microsoft.com/office/drawing/2014/main" id="{B9CA9E2B-D81F-6950-D069-B30CB5B46E43}"/>
              </a:ext>
            </a:extLst>
          </p:cNvPr>
          <p:cNvSpPr/>
          <p:nvPr/>
        </p:nvSpPr>
        <p:spPr>
          <a:xfrm>
            <a:off x="1828800" y="3357813"/>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Angulado 17">
            <a:extLst>
              <a:ext uri="{FF2B5EF4-FFF2-40B4-BE49-F238E27FC236}">
                <a16:creationId xmlns:a16="http://schemas.microsoft.com/office/drawing/2014/main" id="{40F205C2-203F-FD46-A7D9-2C4A0DC3C25B}"/>
              </a:ext>
            </a:extLst>
          </p:cNvPr>
          <p:cNvCxnSpPr>
            <a:cxnSpLocks/>
            <a:stCxn id="5" idx="3"/>
          </p:cNvCxnSpPr>
          <p:nvPr/>
        </p:nvCxnSpPr>
        <p:spPr>
          <a:xfrm>
            <a:off x="2960016" y="3645330"/>
            <a:ext cx="248510" cy="59295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Conector: Angulado 19">
            <a:extLst>
              <a:ext uri="{FF2B5EF4-FFF2-40B4-BE49-F238E27FC236}">
                <a16:creationId xmlns:a16="http://schemas.microsoft.com/office/drawing/2014/main" id="{91B88FED-3320-DC23-3DDC-F54AA6E4CAC3}"/>
              </a:ext>
            </a:extLst>
          </p:cNvPr>
          <p:cNvCxnSpPr>
            <a:stCxn id="5" idx="1"/>
            <a:endCxn id="2" idx="0"/>
          </p:cNvCxnSpPr>
          <p:nvPr/>
        </p:nvCxnSpPr>
        <p:spPr>
          <a:xfrm rot="10800000" flipV="1">
            <a:off x="979614" y="3645330"/>
            <a:ext cx="849186" cy="56278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17B5895C-AE77-A3DC-06D7-C3917377D299}"/>
              </a:ext>
            </a:extLst>
          </p:cNvPr>
          <p:cNvSpPr txBox="1"/>
          <p:nvPr/>
        </p:nvSpPr>
        <p:spPr>
          <a:xfrm>
            <a:off x="2091976" y="3441994"/>
            <a:ext cx="849186" cy="369332"/>
          </a:xfrm>
          <a:prstGeom prst="rect">
            <a:avLst/>
          </a:prstGeom>
          <a:noFill/>
        </p:spPr>
        <p:txBody>
          <a:bodyPr wrap="square" rtlCol="0">
            <a:spAutoFit/>
          </a:bodyPr>
          <a:lstStyle/>
          <a:p>
            <a:r>
              <a:rPr lang="pt-BR" dirty="0"/>
              <a:t>exibe</a:t>
            </a:r>
          </a:p>
        </p:txBody>
      </p:sp>
      <p:sp>
        <p:nvSpPr>
          <p:cNvPr id="12" name="Fluxograma: Decisão 11">
            <a:extLst>
              <a:ext uri="{FF2B5EF4-FFF2-40B4-BE49-F238E27FC236}">
                <a16:creationId xmlns:a16="http://schemas.microsoft.com/office/drawing/2014/main" id="{1E1F5E88-9528-C372-D17E-647E2FA56E93}"/>
              </a:ext>
            </a:extLst>
          </p:cNvPr>
          <p:cNvSpPr/>
          <p:nvPr/>
        </p:nvSpPr>
        <p:spPr>
          <a:xfrm>
            <a:off x="4286234" y="3344819"/>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C02B0734-3158-A9A9-4447-FEA8C9112BCD}"/>
              </a:ext>
            </a:extLst>
          </p:cNvPr>
          <p:cNvSpPr txBox="1"/>
          <p:nvPr/>
        </p:nvSpPr>
        <p:spPr>
          <a:xfrm>
            <a:off x="4516048" y="3441269"/>
            <a:ext cx="849186" cy="369332"/>
          </a:xfrm>
          <a:prstGeom prst="rect">
            <a:avLst/>
          </a:prstGeom>
          <a:noFill/>
        </p:spPr>
        <p:txBody>
          <a:bodyPr wrap="square" rtlCol="0">
            <a:spAutoFit/>
          </a:bodyPr>
          <a:lstStyle/>
          <a:p>
            <a:r>
              <a:rPr lang="pt-BR" dirty="0"/>
              <a:t>passa</a:t>
            </a:r>
          </a:p>
        </p:txBody>
      </p:sp>
      <p:cxnSp>
        <p:nvCxnSpPr>
          <p:cNvPr id="19" name="Conector: Angulado 18">
            <a:extLst>
              <a:ext uri="{FF2B5EF4-FFF2-40B4-BE49-F238E27FC236}">
                <a16:creationId xmlns:a16="http://schemas.microsoft.com/office/drawing/2014/main" id="{EE7779E3-A0A5-C1BA-8987-B582C0795933}"/>
              </a:ext>
            </a:extLst>
          </p:cNvPr>
          <p:cNvCxnSpPr>
            <a:cxnSpLocks/>
            <a:stCxn id="12" idx="1"/>
          </p:cNvCxnSpPr>
          <p:nvPr/>
        </p:nvCxnSpPr>
        <p:spPr>
          <a:xfrm rot="10800000" flipV="1">
            <a:off x="3823076" y="3632336"/>
            <a:ext cx="463158" cy="5831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0" name="Conector: Angulado 29">
            <a:extLst>
              <a:ext uri="{FF2B5EF4-FFF2-40B4-BE49-F238E27FC236}">
                <a16:creationId xmlns:a16="http://schemas.microsoft.com/office/drawing/2014/main" id="{45B30AC6-7FC9-DF4C-FB81-41284D0AFC53}"/>
              </a:ext>
            </a:extLst>
          </p:cNvPr>
          <p:cNvCxnSpPr>
            <a:cxnSpLocks/>
            <a:stCxn id="12" idx="3"/>
            <a:endCxn id="6" idx="0"/>
          </p:cNvCxnSpPr>
          <p:nvPr/>
        </p:nvCxnSpPr>
        <p:spPr>
          <a:xfrm>
            <a:off x="5417450" y="3632336"/>
            <a:ext cx="410859" cy="57776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0415962D-1049-056C-87DC-734D0EA8A81A}"/>
              </a:ext>
            </a:extLst>
          </p:cNvPr>
          <p:cNvSpPr txBox="1"/>
          <p:nvPr/>
        </p:nvSpPr>
        <p:spPr>
          <a:xfrm>
            <a:off x="2982490" y="3875875"/>
            <a:ext cx="261129" cy="369332"/>
          </a:xfrm>
          <a:prstGeom prst="rect">
            <a:avLst/>
          </a:prstGeom>
          <a:noFill/>
        </p:spPr>
        <p:txBody>
          <a:bodyPr wrap="square" rtlCol="0">
            <a:spAutoFit/>
          </a:bodyPr>
          <a:lstStyle/>
          <a:p>
            <a:r>
              <a:rPr lang="pt-BR" dirty="0"/>
              <a:t>n</a:t>
            </a:r>
          </a:p>
        </p:txBody>
      </p:sp>
      <p:sp>
        <p:nvSpPr>
          <p:cNvPr id="33" name="CaixaDeTexto 32">
            <a:extLst>
              <a:ext uri="{FF2B5EF4-FFF2-40B4-BE49-F238E27FC236}">
                <a16:creationId xmlns:a16="http://schemas.microsoft.com/office/drawing/2014/main" id="{279F58E1-DF87-4BD0-EB3A-7F7B43D46EDD}"/>
              </a:ext>
            </a:extLst>
          </p:cNvPr>
          <p:cNvSpPr txBox="1"/>
          <p:nvPr/>
        </p:nvSpPr>
        <p:spPr>
          <a:xfrm>
            <a:off x="938771" y="3868949"/>
            <a:ext cx="364893" cy="369332"/>
          </a:xfrm>
          <a:prstGeom prst="rect">
            <a:avLst/>
          </a:prstGeom>
          <a:noFill/>
        </p:spPr>
        <p:txBody>
          <a:bodyPr wrap="square" rtlCol="0">
            <a:spAutoFit/>
          </a:bodyPr>
          <a:lstStyle/>
          <a:p>
            <a:r>
              <a:rPr lang="pt-BR" dirty="0"/>
              <a:t>n</a:t>
            </a:r>
          </a:p>
        </p:txBody>
      </p:sp>
      <p:sp>
        <p:nvSpPr>
          <p:cNvPr id="34" name="CaixaDeTexto 33">
            <a:extLst>
              <a:ext uri="{FF2B5EF4-FFF2-40B4-BE49-F238E27FC236}">
                <a16:creationId xmlns:a16="http://schemas.microsoft.com/office/drawing/2014/main" id="{794D5C8D-7F31-CCFB-BDE3-2353F393B07D}"/>
              </a:ext>
            </a:extLst>
          </p:cNvPr>
          <p:cNvSpPr txBox="1"/>
          <p:nvPr/>
        </p:nvSpPr>
        <p:spPr>
          <a:xfrm>
            <a:off x="5544741" y="3880311"/>
            <a:ext cx="364893" cy="369332"/>
          </a:xfrm>
          <a:prstGeom prst="rect">
            <a:avLst/>
          </a:prstGeom>
          <a:noFill/>
        </p:spPr>
        <p:txBody>
          <a:bodyPr wrap="square" rtlCol="0">
            <a:spAutoFit/>
          </a:bodyPr>
          <a:lstStyle/>
          <a:p>
            <a:r>
              <a:rPr lang="pt-BR" dirty="0"/>
              <a:t>n</a:t>
            </a:r>
          </a:p>
        </p:txBody>
      </p:sp>
      <p:sp>
        <p:nvSpPr>
          <p:cNvPr id="35" name="CaixaDeTexto 34">
            <a:extLst>
              <a:ext uri="{FF2B5EF4-FFF2-40B4-BE49-F238E27FC236}">
                <a16:creationId xmlns:a16="http://schemas.microsoft.com/office/drawing/2014/main" id="{CE0B3B16-B6F7-52FF-117F-4A58D5F192CF}"/>
              </a:ext>
            </a:extLst>
          </p:cNvPr>
          <p:cNvSpPr txBox="1"/>
          <p:nvPr/>
        </p:nvSpPr>
        <p:spPr>
          <a:xfrm>
            <a:off x="3823076" y="3899271"/>
            <a:ext cx="364893" cy="369332"/>
          </a:xfrm>
          <a:prstGeom prst="rect">
            <a:avLst/>
          </a:prstGeom>
          <a:noFill/>
        </p:spPr>
        <p:txBody>
          <a:bodyPr wrap="square" rtlCol="0">
            <a:spAutoFit/>
          </a:bodyPr>
          <a:lstStyle/>
          <a:p>
            <a:r>
              <a:rPr lang="pt-BR" dirty="0"/>
              <a:t>1</a:t>
            </a:r>
          </a:p>
        </p:txBody>
      </p:sp>
      <p:sp>
        <p:nvSpPr>
          <p:cNvPr id="31" name="CaixaDeTexto 30">
            <a:extLst>
              <a:ext uri="{FF2B5EF4-FFF2-40B4-BE49-F238E27FC236}">
                <a16:creationId xmlns:a16="http://schemas.microsoft.com/office/drawing/2014/main" id="{C9F9C29D-70B4-27D2-AE0E-3C9F8AAE1A73}"/>
              </a:ext>
            </a:extLst>
          </p:cNvPr>
          <p:cNvSpPr txBox="1"/>
          <p:nvPr/>
        </p:nvSpPr>
        <p:spPr>
          <a:xfrm>
            <a:off x="6427540" y="3447052"/>
            <a:ext cx="1024719" cy="369332"/>
          </a:xfrm>
          <a:prstGeom prst="rect">
            <a:avLst/>
          </a:prstGeom>
          <a:noFill/>
        </p:spPr>
        <p:txBody>
          <a:bodyPr wrap="square" rtlCol="0">
            <a:spAutoFit/>
          </a:bodyPr>
          <a:lstStyle/>
          <a:p>
            <a:r>
              <a:rPr lang="pt-BR" dirty="0"/>
              <a:t>localiza</a:t>
            </a:r>
          </a:p>
        </p:txBody>
      </p:sp>
      <p:cxnSp>
        <p:nvCxnSpPr>
          <p:cNvPr id="36" name="Conector: Angulado 35">
            <a:extLst>
              <a:ext uri="{FF2B5EF4-FFF2-40B4-BE49-F238E27FC236}">
                <a16:creationId xmlns:a16="http://schemas.microsoft.com/office/drawing/2014/main" id="{874F7486-1293-86CE-A517-B9FBFCA663A8}"/>
              </a:ext>
            </a:extLst>
          </p:cNvPr>
          <p:cNvCxnSpPr>
            <a:cxnSpLocks/>
            <a:stCxn id="40" idx="1"/>
          </p:cNvCxnSpPr>
          <p:nvPr/>
        </p:nvCxnSpPr>
        <p:spPr>
          <a:xfrm rot="10800000" flipV="1">
            <a:off x="6014068" y="3632335"/>
            <a:ext cx="266341" cy="57532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7" name="Conector: Angulado 36">
            <a:extLst>
              <a:ext uri="{FF2B5EF4-FFF2-40B4-BE49-F238E27FC236}">
                <a16:creationId xmlns:a16="http://schemas.microsoft.com/office/drawing/2014/main" id="{6BF5F485-8FB4-1641-86DC-CB58336AF5D8}"/>
              </a:ext>
            </a:extLst>
          </p:cNvPr>
          <p:cNvCxnSpPr>
            <a:cxnSpLocks/>
          </p:cNvCxnSpPr>
          <p:nvPr/>
        </p:nvCxnSpPr>
        <p:spPr>
          <a:xfrm rot="16200000" flipH="1">
            <a:off x="7202634" y="3794256"/>
            <a:ext cx="549967" cy="228937"/>
          </a:xfrm>
          <a:prstGeom prst="bentConnector3">
            <a:avLst>
              <a:gd name="adj1" fmla="val 292"/>
            </a:avLst>
          </a:prstGeom>
        </p:spPr>
        <p:style>
          <a:lnRef idx="1">
            <a:schemeClr val="accent1"/>
          </a:lnRef>
          <a:fillRef idx="0">
            <a:schemeClr val="accent1"/>
          </a:fillRef>
          <a:effectRef idx="0">
            <a:schemeClr val="accent1"/>
          </a:effectRef>
          <a:fontRef idx="minor">
            <a:schemeClr val="tx1"/>
          </a:fontRef>
        </p:style>
      </p:cxnSp>
      <p:sp>
        <p:nvSpPr>
          <p:cNvPr id="38" name="CaixaDeTexto 37">
            <a:extLst>
              <a:ext uri="{FF2B5EF4-FFF2-40B4-BE49-F238E27FC236}">
                <a16:creationId xmlns:a16="http://schemas.microsoft.com/office/drawing/2014/main" id="{A066C1F9-287D-80FC-84F9-6DAE6725AF79}"/>
              </a:ext>
            </a:extLst>
          </p:cNvPr>
          <p:cNvSpPr txBox="1"/>
          <p:nvPr/>
        </p:nvSpPr>
        <p:spPr>
          <a:xfrm>
            <a:off x="7217765" y="3851511"/>
            <a:ext cx="364893" cy="369332"/>
          </a:xfrm>
          <a:prstGeom prst="rect">
            <a:avLst/>
          </a:prstGeom>
          <a:noFill/>
        </p:spPr>
        <p:txBody>
          <a:bodyPr wrap="square" rtlCol="0">
            <a:spAutoFit/>
          </a:bodyPr>
          <a:lstStyle/>
          <a:p>
            <a:r>
              <a:rPr lang="pt-BR" dirty="0"/>
              <a:t>1</a:t>
            </a:r>
          </a:p>
        </p:txBody>
      </p:sp>
      <p:sp>
        <p:nvSpPr>
          <p:cNvPr id="39" name="CaixaDeTexto 38">
            <a:extLst>
              <a:ext uri="{FF2B5EF4-FFF2-40B4-BE49-F238E27FC236}">
                <a16:creationId xmlns:a16="http://schemas.microsoft.com/office/drawing/2014/main" id="{0AEBDA61-D0F6-94C6-8392-CCAADAA2BA79}"/>
              </a:ext>
            </a:extLst>
          </p:cNvPr>
          <p:cNvSpPr txBox="1"/>
          <p:nvPr/>
        </p:nvSpPr>
        <p:spPr>
          <a:xfrm>
            <a:off x="6014065" y="3891464"/>
            <a:ext cx="364893" cy="369332"/>
          </a:xfrm>
          <a:prstGeom prst="rect">
            <a:avLst/>
          </a:prstGeom>
          <a:noFill/>
        </p:spPr>
        <p:txBody>
          <a:bodyPr wrap="square" rtlCol="0">
            <a:spAutoFit/>
          </a:bodyPr>
          <a:lstStyle/>
          <a:p>
            <a:r>
              <a:rPr lang="pt-BR" dirty="0"/>
              <a:t>n</a:t>
            </a:r>
          </a:p>
        </p:txBody>
      </p:sp>
      <p:sp>
        <p:nvSpPr>
          <p:cNvPr id="40" name="Fluxograma: Decisão 39">
            <a:extLst>
              <a:ext uri="{FF2B5EF4-FFF2-40B4-BE49-F238E27FC236}">
                <a16:creationId xmlns:a16="http://schemas.microsoft.com/office/drawing/2014/main" id="{E22E8CB5-0DE9-32F5-1A79-1553BA2DF533}"/>
              </a:ext>
            </a:extLst>
          </p:cNvPr>
          <p:cNvSpPr/>
          <p:nvPr/>
        </p:nvSpPr>
        <p:spPr>
          <a:xfrm>
            <a:off x="6280408" y="3344818"/>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luxograma: Decisão 16">
            <a:extLst>
              <a:ext uri="{FF2B5EF4-FFF2-40B4-BE49-F238E27FC236}">
                <a16:creationId xmlns:a16="http://schemas.microsoft.com/office/drawing/2014/main" id="{4695768D-1EC4-264A-8A09-9B88FFCC1579}"/>
              </a:ext>
            </a:extLst>
          </p:cNvPr>
          <p:cNvSpPr/>
          <p:nvPr/>
        </p:nvSpPr>
        <p:spPr>
          <a:xfrm>
            <a:off x="8881549" y="2827604"/>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CaixaDeTexto 41">
            <a:extLst>
              <a:ext uri="{FF2B5EF4-FFF2-40B4-BE49-F238E27FC236}">
                <a16:creationId xmlns:a16="http://schemas.microsoft.com/office/drawing/2014/main" id="{E6705FA8-D1E9-96D0-D374-3B90D71202B9}"/>
              </a:ext>
            </a:extLst>
          </p:cNvPr>
          <p:cNvSpPr txBox="1"/>
          <p:nvPr/>
        </p:nvSpPr>
        <p:spPr>
          <a:xfrm>
            <a:off x="8911180" y="2923609"/>
            <a:ext cx="1050514" cy="369332"/>
          </a:xfrm>
          <a:prstGeom prst="rect">
            <a:avLst/>
          </a:prstGeom>
          <a:noFill/>
        </p:spPr>
        <p:txBody>
          <a:bodyPr wrap="square" rtlCol="0">
            <a:spAutoFit/>
          </a:bodyPr>
          <a:lstStyle/>
          <a:p>
            <a:r>
              <a:rPr lang="pt-BR" dirty="0"/>
              <a:t>dirigido</a:t>
            </a:r>
          </a:p>
        </p:txBody>
      </p:sp>
      <p:cxnSp>
        <p:nvCxnSpPr>
          <p:cNvPr id="44" name="Conector: Angulado 43">
            <a:extLst>
              <a:ext uri="{FF2B5EF4-FFF2-40B4-BE49-F238E27FC236}">
                <a16:creationId xmlns:a16="http://schemas.microsoft.com/office/drawing/2014/main" id="{6D160554-EC64-87B6-69E6-9B7F14391D2C}"/>
              </a:ext>
            </a:extLst>
          </p:cNvPr>
          <p:cNvCxnSpPr>
            <a:cxnSpLocks/>
            <a:endCxn id="42" idx="1"/>
          </p:cNvCxnSpPr>
          <p:nvPr/>
        </p:nvCxnSpPr>
        <p:spPr>
          <a:xfrm flipV="1">
            <a:off x="3381876" y="3108275"/>
            <a:ext cx="5529304" cy="1118077"/>
          </a:xfrm>
          <a:prstGeom prst="bentConnector3">
            <a:avLst>
              <a:gd name="adj1" fmla="val 5503"/>
            </a:avLst>
          </a:prstGeom>
        </p:spPr>
        <p:style>
          <a:lnRef idx="1">
            <a:schemeClr val="accent1"/>
          </a:lnRef>
          <a:fillRef idx="0">
            <a:schemeClr val="accent1"/>
          </a:fillRef>
          <a:effectRef idx="0">
            <a:schemeClr val="accent1"/>
          </a:effectRef>
          <a:fontRef idx="minor">
            <a:schemeClr val="tx1"/>
          </a:fontRef>
        </p:style>
      </p:cxnSp>
      <p:cxnSp>
        <p:nvCxnSpPr>
          <p:cNvPr id="47" name="Conector reto 46">
            <a:extLst>
              <a:ext uri="{FF2B5EF4-FFF2-40B4-BE49-F238E27FC236}">
                <a16:creationId xmlns:a16="http://schemas.microsoft.com/office/drawing/2014/main" id="{EC4CE640-33D5-FA08-1F06-9B9EE279C545}"/>
              </a:ext>
            </a:extLst>
          </p:cNvPr>
          <p:cNvCxnSpPr>
            <a:stCxn id="25" idx="0"/>
            <a:endCxn id="17" idx="2"/>
          </p:cNvCxnSpPr>
          <p:nvPr/>
        </p:nvCxnSpPr>
        <p:spPr>
          <a:xfrm flipH="1" flipV="1">
            <a:off x="9318528" y="3377570"/>
            <a:ext cx="3981" cy="8119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ector reto 48">
            <a:extLst>
              <a:ext uri="{FF2B5EF4-FFF2-40B4-BE49-F238E27FC236}">
                <a16:creationId xmlns:a16="http://schemas.microsoft.com/office/drawing/2014/main" id="{E7A64442-4953-D5A5-FA69-B98378BAE2C1}"/>
              </a:ext>
            </a:extLst>
          </p:cNvPr>
          <p:cNvCxnSpPr>
            <a:cxnSpLocks/>
            <a:stCxn id="62" idx="2"/>
            <a:endCxn id="26" idx="0"/>
          </p:cNvCxnSpPr>
          <p:nvPr/>
        </p:nvCxnSpPr>
        <p:spPr>
          <a:xfrm>
            <a:off x="11316602" y="2831634"/>
            <a:ext cx="1" cy="1357847"/>
          </a:xfrm>
          <a:prstGeom prst="line">
            <a:avLst/>
          </a:prstGeom>
        </p:spPr>
        <p:style>
          <a:lnRef idx="1">
            <a:schemeClr val="accent1"/>
          </a:lnRef>
          <a:fillRef idx="0">
            <a:schemeClr val="accent1"/>
          </a:fillRef>
          <a:effectRef idx="0">
            <a:schemeClr val="accent1"/>
          </a:effectRef>
          <a:fontRef idx="minor">
            <a:schemeClr val="tx1"/>
          </a:fontRef>
        </p:style>
      </p:cxnSp>
      <p:sp>
        <p:nvSpPr>
          <p:cNvPr id="50" name="CaixaDeTexto 49">
            <a:extLst>
              <a:ext uri="{FF2B5EF4-FFF2-40B4-BE49-F238E27FC236}">
                <a16:creationId xmlns:a16="http://schemas.microsoft.com/office/drawing/2014/main" id="{C8F9EE63-91C0-03C9-6BA3-AF247924E0A6}"/>
              </a:ext>
            </a:extLst>
          </p:cNvPr>
          <p:cNvSpPr txBox="1"/>
          <p:nvPr/>
        </p:nvSpPr>
        <p:spPr>
          <a:xfrm>
            <a:off x="11316602" y="3838760"/>
            <a:ext cx="364563" cy="369332"/>
          </a:xfrm>
          <a:prstGeom prst="rect">
            <a:avLst/>
          </a:prstGeom>
          <a:noFill/>
        </p:spPr>
        <p:txBody>
          <a:bodyPr wrap="square" rtlCol="0">
            <a:spAutoFit/>
          </a:bodyPr>
          <a:lstStyle/>
          <a:p>
            <a:r>
              <a:rPr lang="pt-BR" dirty="0"/>
              <a:t>n</a:t>
            </a:r>
          </a:p>
        </p:txBody>
      </p:sp>
      <p:sp>
        <p:nvSpPr>
          <p:cNvPr id="51" name="CaixaDeTexto 50">
            <a:extLst>
              <a:ext uri="{FF2B5EF4-FFF2-40B4-BE49-F238E27FC236}">
                <a16:creationId xmlns:a16="http://schemas.microsoft.com/office/drawing/2014/main" id="{81CE1960-B531-5559-ED25-6901A9C8F91E}"/>
              </a:ext>
            </a:extLst>
          </p:cNvPr>
          <p:cNvSpPr txBox="1"/>
          <p:nvPr/>
        </p:nvSpPr>
        <p:spPr>
          <a:xfrm>
            <a:off x="9071874" y="3842134"/>
            <a:ext cx="364563" cy="369332"/>
          </a:xfrm>
          <a:prstGeom prst="rect">
            <a:avLst/>
          </a:prstGeom>
          <a:noFill/>
        </p:spPr>
        <p:txBody>
          <a:bodyPr wrap="square" rtlCol="0">
            <a:spAutoFit/>
          </a:bodyPr>
          <a:lstStyle/>
          <a:p>
            <a:r>
              <a:rPr lang="pt-BR" dirty="0"/>
              <a:t>n</a:t>
            </a:r>
          </a:p>
        </p:txBody>
      </p:sp>
      <p:sp>
        <p:nvSpPr>
          <p:cNvPr id="52" name="CaixaDeTexto 51">
            <a:extLst>
              <a:ext uri="{FF2B5EF4-FFF2-40B4-BE49-F238E27FC236}">
                <a16:creationId xmlns:a16="http://schemas.microsoft.com/office/drawing/2014/main" id="{90D6C8B0-46E4-4FC8-1B89-627568A6BAD6}"/>
              </a:ext>
            </a:extLst>
          </p:cNvPr>
          <p:cNvSpPr txBox="1"/>
          <p:nvPr/>
        </p:nvSpPr>
        <p:spPr>
          <a:xfrm>
            <a:off x="3192208" y="3802124"/>
            <a:ext cx="364563" cy="369332"/>
          </a:xfrm>
          <a:prstGeom prst="rect">
            <a:avLst/>
          </a:prstGeom>
          <a:noFill/>
        </p:spPr>
        <p:txBody>
          <a:bodyPr wrap="square" rtlCol="0">
            <a:spAutoFit/>
          </a:bodyPr>
          <a:lstStyle/>
          <a:p>
            <a:r>
              <a:rPr lang="pt-BR" dirty="0"/>
              <a:t>n</a:t>
            </a:r>
          </a:p>
        </p:txBody>
      </p:sp>
      <p:sp>
        <p:nvSpPr>
          <p:cNvPr id="62" name="Fluxograma: Decisão 61">
            <a:extLst>
              <a:ext uri="{FF2B5EF4-FFF2-40B4-BE49-F238E27FC236}">
                <a16:creationId xmlns:a16="http://schemas.microsoft.com/office/drawing/2014/main" id="{EF063440-DE5E-4BE9-870A-236FCC21A069}"/>
              </a:ext>
            </a:extLst>
          </p:cNvPr>
          <p:cNvSpPr/>
          <p:nvPr/>
        </p:nvSpPr>
        <p:spPr>
          <a:xfrm>
            <a:off x="10879623" y="2281668"/>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CaixaDeTexto 68">
            <a:extLst>
              <a:ext uri="{FF2B5EF4-FFF2-40B4-BE49-F238E27FC236}">
                <a16:creationId xmlns:a16="http://schemas.microsoft.com/office/drawing/2014/main" id="{CE466B15-09AA-9011-D786-131B0D83DA9B}"/>
              </a:ext>
            </a:extLst>
          </p:cNvPr>
          <p:cNvSpPr txBox="1"/>
          <p:nvPr/>
        </p:nvSpPr>
        <p:spPr>
          <a:xfrm>
            <a:off x="10894596" y="2379085"/>
            <a:ext cx="1050514" cy="369332"/>
          </a:xfrm>
          <a:prstGeom prst="rect">
            <a:avLst/>
          </a:prstGeom>
          <a:noFill/>
        </p:spPr>
        <p:txBody>
          <a:bodyPr wrap="square" rtlCol="0">
            <a:spAutoFit/>
          </a:bodyPr>
          <a:lstStyle/>
          <a:p>
            <a:r>
              <a:rPr lang="pt-BR" dirty="0"/>
              <a:t>contém</a:t>
            </a:r>
          </a:p>
        </p:txBody>
      </p:sp>
      <p:cxnSp>
        <p:nvCxnSpPr>
          <p:cNvPr id="23" name="Conector: Angulado 22">
            <a:extLst>
              <a:ext uri="{FF2B5EF4-FFF2-40B4-BE49-F238E27FC236}">
                <a16:creationId xmlns:a16="http://schemas.microsoft.com/office/drawing/2014/main" id="{95CD1C7B-2C47-5F48-855D-7590FAEA0FC9}"/>
              </a:ext>
            </a:extLst>
          </p:cNvPr>
          <p:cNvCxnSpPr>
            <a:cxnSpLocks/>
          </p:cNvCxnSpPr>
          <p:nvPr/>
        </p:nvCxnSpPr>
        <p:spPr>
          <a:xfrm rot="10800000" flipV="1">
            <a:off x="3403628" y="2556651"/>
            <a:ext cx="7315300" cy="165881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41" name="CaixaDeTexto 40">
            <a:extLst>
              <a:ext uri="{FF2B5EF4-FFF2-40B4-BE49-F238E27FC236}">
                <a16:creationId xmlns:a16="http://schemas.microsoft.com/office/drawing/2014/main" id="{AF039645-28D4-CDC0-409A-C15AC1062D88}"/>
              </a:ext>
            </a:extLst>
          </p:cNvPr>
          <p:cNvSpPr txBox="1"/>
          <p:nvPr/>
        </p:nvSpPr>
        <p:spPr>
          <a:xfrm>
            <a:off x="3475673" y="3802124"/>
            <a:ext cx="364563" cy="369332"/>
          </a:xfrm>
          <a:prstGeom prst="rect">
            <a:avLst/>
          </a:prstGeom>
          <a:noFill/>
        </p:spPr>
        <p:txBody>
          <a:bodyPr wrap="square" rtlCol="0">
            <a:spAutoFit/>
          </a:bodyPr>
          <a:lstStyle/>
          <a:p>
            <a:r>
              <a:rPr lang="pt-BR" dirty="0"/>
              <a:t>n</a:t>
            </a:r>
          </a:p>
        </p:txBody>
      </p:sp>
    </p:spTree>
    <p:extLst>
      <p:ext uri="{BB962C8B-B14F-4D97-AF65-F5344CB8AC3E}">
        <p14:creationId xmlns:p14="http://schemas.microsoft.com/office/powerpoint/2010/main" val="4091178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30FD02-42CB-8CAA-467E-3661A411D873}"/>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4" name="CaixaDeTexto 3">
            <a:extLst>
              <a:ext uri="{FF2B5EF4-FFF2-40B4-BE49-F238E27FC236}">
                <a16:creationId xmlns:a16="http://schemas.microsoft.com/office/drawing/2014/main" id="{35D6A63B-D3A2-D3AB-FFFD-92FD890E1AD7}"/>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6" name="CaixaDeTexto 5">
            <a:extLst>
              <a:ext uri="{FF2B5EF4-FFF2-40B4-BE49-F238E27FC236}">
                <a16:creationId xmlns:a16="http://schemas.microsoft.com/office/drawing/2014/main" id="{3B828840-CDF7-122B-D05F-B60DE22D0A8F}"/>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7" name="CaixaDeTexto 6">
            <a:extLst>
              <a:ext uri="{FF2B5EF4-FFF2-40B4-BE49-F238E27FC236}">
                <a16:creationId xmlns:a16="http://schemas.microsoft.com/office/drawing/2014/main" id="{AA2B8208-5AC9-F0F4-0ACC-DEFC82722907}"/>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cxnSp>
        <p:nvCxnSpPr>
          <p:cNvPr id="10" name="Conector reto 9">
            <a:extLst>
              <a:ext uri="{FF2B5EF4-FFF2-40B4-BE49-F238E27FC236}">
                <a16:creationId xmlns:a16="http://schemas.microsoft.com/office/drawing/2014/main" id="{25858B0C-A9E8-6884-F912-B6C196F68B83}"/>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D42337CD-9D76-AE18-F87D-4F2547CD0BF7}"/>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AFEDD4E-54EA-A604-5617-6A3AE13FDF74}"/>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FA9DDF26-33A2-DF39-1036-BA6957D9E306}"/>
              </a:ext>
            </a:extLst>
          </p:cNvPr>
          <p:cNvSpPr txBox="1"/>
          <p:nvPr/>
        </p:nvSpPr>
        <p:spPr>
          <a:xfrm>
            <a:off x="162613" y="96934"/>
            <a:ext cx="11799999" cy="2450094"/>
          </a:xfrm>
          <a:prstGeom prst="rect">
            <a:avLst/>
          </a:prstGeom>
          <a:noFill/>
        </p:spPr>
        <p:txBody>
          <a:bodyPr wrap="square">
            <a:spAutoFit/>
          </a:bodyPr>
          <a:lstStyle/>
          <a:p>
            <a:pPr algn="just">
              <a:lnSpc>
                <a:spcPct val="107000"/>
              </a:lnSpc>
              <a:spcAft>
                <a:spcPts val="800"/>
              </a:spcAft>
            </a:pPr>
            <a:r>
              <a:rPr lang="pt-BR" kern="100" dirty="0">
                <a:effectLst/>
                <a:latin typeface="Calibri" panose="020F0502020204030204" pitchFamily="34" charset="0"/>
                <a:ea typeface="Calibri" panose="020F0502020204030204" pitchFamily="34" charset="0"/>
                <a:cs typeface="Times New Roman" panose="02020603050405020304" pitchFamily="18" charset="0"/>
              </a:rPr>
              <a:t>Uma empresa responsável por manter um site voltado para entretenimento em todos os estados do Brasil quer o projeto de uma base de dados para a seção de cinema do site. Navegando no site, os internautas encontrarão informações de todos os filmes em cartaz em cada um dos cinemas de cada cidade do país. Poderão consultar as sessões de cada filme em cada cinema, com dias da semana, horários, preços de ingresso, salas (com informações sobre número de lugares, tipo de som, acesso a deficientes). Além disso, encontrarão informações a respeito dos filmes, como título no Brasil, título original, legendado/dublado, sinopse, diretores, elenco principal (com indicação dos protagonistas), gênero e classificação. E, ao escolherem a melhor opção, poderão consultar endereço e telefone do cinema onde estiver passando o filme. O CNPJ do cinema também é armazenado.</a:t>
            </a:r>
            <a:endParaRPr lang="pt-BR"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2" name="Conector reto 21">
            <a:extLst>
              <a:ext uri="{FF2B5EF4-FFF2-40B4-BE49-F238E27FC236}">
                <a16:creationId xmlns:a16="http://schemas.microsoft.com/office/drawing/2014/main" id="{0BA7B12F-0042-518E-2C6B-271E476A0907}"/>
              </a:ext>
            </a:extLst>
          </p:cNvPr>
          <p:cNvCxnSpPr>
            <a:cxnSpLocks/>
          </p:cNvCxnSpPr>
          <p:nvPr/>
        </p:nvCxnSpPr>
        <p:spPr>
          <a:xfrm>
            <a:off x="8326216" y="4083597"/>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E634E543-5672-A1D9-1F01-48A88CF5E8B2}"/>
              </a:ext>
            </a:extLst>
          </p:cNvPr>
          <p:cNvSpPr txBox="1"/>
          <p:nvPr/>
        </p:nvSpPr>
        <p:spPr>
          <a:xfrm>
            <a:off x="8691108" y="4189481"/>
            <a:ext cx="1262802" cy="369332"/>
          </a:xfrm>
          <a:prstGeom prst="rect">
            <a:avLst/>
          </a:prstGeom>
          <a:noFill/>
          <a:ln>
            <a:solidFill>
              <a:schemeClr val="tx1"/>
            </a:solidFill>
          </a:ln>
        </p:spPr>
        <p:txBody>
          <a:bodyPr wrap="square" rtlCol="0">
            <a:spAutoFit/>
          </a:bodyPr>
          <a:lstStyle/>
          <a:p>
            <a:pPr algn="ctr"/>
            <a:r>
              <a:rPr lang="pt-BR" dirty="0"/>
              <a:t>Diretor</a:t>
            </a:r>
          </a:p>
        </p:txBody>
      </p:sp>
      <p:sp>
        <p:nvSpPr>
          <p:cNvPr id="26" name="CaixaDeTexto 25">
            <a:extLst>
              <a:ext uri="{FF2B5EF4-FFF2-40B4-BE49-F238E27FC236}">
                <a16:creationId xmlns:a16="http://schemas.microsoft.com/office/drawing/2014/main" id="{668D7A6A-5762-B31F-54EA-DC79AB3E1EF5}"/>
              </a:ext>
            </a:extLst>
          </p:cNvPr>
          <p:cNvSpPr txBox="1"/>
          <p:nvPr/>
        </p:nvSpPr>
        <p:spPr>
          <a:xfrm>
            <a:off x="10791345" y="4189481"/>
            <a:ext cx="1050515" cy="369332"/>
          </a:xfrm>
          <a:prstGeom prst="rect">
            <a:avLst/>
          </a:prstGeom>
          <a:noFill/>
          <a:ln>
            <a:solidFill>
              <a:schemeClr val="tx1"/>
            </a:solidFill>
          </a:ln>
        </p:spPr>
        <p:txBody>
          <a:bodyPr wrap="square" rtlCol="0">
            <a:spAutoFit/>
          </a:bodyPr>
          <a:lstStyle/>
          <a:p>
            <a:pPr algn="ctr"/>
            <a:r>
              <a:rPr lang="pt-BR" dirty="0"/>
              <a:t>Elenco</a:t>
            </a:r>
          </a:p>
        </p:txBody>
      </p:sp>
      <p:cxnSp>
        <p:nvCxnSpPr>
          <p:cNvPr id="27" name="Conector reto 26">
            <a:extLst>
              <a:ext uri="{FF2B5EF4-FFF2-40B4-BE49-F238E27FC236}">
                <a16:creationId xmlns:a16="http://schemas.microsoft.com/office/drawing/2014/main" id="{D74799A3-56C7-4706-19BE-1924D10991BE}"/>
              </a:ext>
            </a:extLst>
          </p:cNvPr>
          <p:cNvCxnSpPr>
            <a:cxnSpLocks/>
          </p:cNvCxnSpPr>
          <p:nvPr/>
        </p:nvCxnSpPr>
        <p:spPr>
          <a:xfrm>
            <a:off x="10372627"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5" name="Fluxograma: Decisão 4">
            <a:extLst>
              <a:ext uri="{FF2B5EF4-FFF2-40B4-BE49-F238E27FC236}">
                <a16:creationId xmlns:a16="http://schemas.microsoft.com/office/drawing/2014/main" id="{B9CA9E2B-D81F-6950-D069-B30CB5B46E43}"/>
              </a:ext>
            </a:extLst>
          </p:cNvPr>
          <p:cNvSpPr/>
          <p:nvPr/>
        </p:nvSpPr>
        <p:spPr>
          <a:xfrm>
            <a:off x="1828800" y="3357813"/>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Angulado 17">
            <a:extLst>
              <a:ext uri="{FF2B5EF4-FFF2-40B4-BE49-F238E27FC236}">
                <a16:creationId xmlns:a16="http://schemas.microsoft.com/office/drawing/2014/main" id="{40F205C2-203F-FD46-A7D9-2C4A0DC3C25B}"/>
              </a:ext>
            </a:extLst>
          </p:cNvPr>
          <p:cNvCxnSpPr>
            <a:cxnSpLocks/>
            <a:stCxn id="5" idx="3"/>
          </p:cNvCxnSpPr>
          <p:nvPr/>
        </p:nvCxnSpPr>
        <p:spPr>
          <a:xfrm>
            <a:off x="2960016" y="3645330"/>
            <a:ext cx="248510" cy="59295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Conector: Angulado 19">
            <a:extLst>
              <a:ext uri="{FF2B5EF4-FFF2-40B4-BE49-F238E27FC236}">
                <a16:creationId xmlns:a16="http://schemas.microsoft.com/office/drawing/2014/main" id="{91B88FED-3320-DC23-3DDC-F54AA6E4CAC3}"/>
              </a:ext>
            </a:extLst>
          </p:cNvPr>
          <p:cNvCxnSpPr>
            <a:stCxn id="5" idx="1"/>
            <a:endCxn id="2" idx="0"/>
          </p:cNvCxnSpPr>
          <p:nvPr/>
        </p:nvCxnSpPr>
        <p:spPr>
          <a:xfrm rot="10800000" flipV="1">
            <a:off x="979614" y="3645330"/>
            <a:ext cx="849186" cy="56278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17B5895C-AE77-A3DC-06D7-C3917377D299}"/>
              </a:ext>
            </a:extLst>
          </p:cNvPr>
          <p:cNvSpPr txBox="1"/>
          <p:nvPr/>
        </p:nvSpPr>
        <p:spPr>
          <a:xfrm>
            <a:off x="2091976" y="3441994"/>
            <a:ext cx="849186" cy="369332"/>
          </a:xfrm>
          <a:prstGeom prst="rect">
            <a:avLst/>
          </a:prstGeom>
          <a:noFill/>
        </p:spPr>
        <p:txBody>
          <a:bodyPr wrap="square" rtlCol="0">
            <a:spAutoFit/>
          </a:bodyPr>
          <a:lstStyle/>
          <a:p>
            <a:r>
              <a:rPr lang="pt-BR" dirty="0"/>
              <a:t>exibe</a:t>
            </a:r>
          </a:p>
        </p:txBody>
      </p:sp>
      <p:sp>
        <p:nvSpPr>
          <p:cNvPr id="12" name="Fluxograma: Decisão 11">
            <a:extLst>
              <a:ext uri="{FF2B5EF4-FFF2-40B4-BE49-F238E27FC236}">
                <a16:creationId xmlns:a16="http://schemas.microsoft.com/office/drawing/2014/main" id="{1E1F5E88-9528-C372-D17E-647E2FA56E93}"/>
              </a:ext>
            </a:extLst>
          </p:cNvPr>
          <p:cNvSpPr/>
          <p:nvPr/>
        </p:nvSpPr>
        <p:spPr>
          <a:xfrm>
            <a:off x="4286234" y="3344819"/>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C02B0734-3158-A9A9-4447-FEA8C9112BCD}"/>
              </a:ext>
            </a:extLst>
          </p:cNvPr>
          <p:cNvSpPr txBox="1"/>
          <p:nvPr/>
        </p:nvSpPr>
        <p:spPr>
          <a:xfrm>
            <a:off x="4516048" y="3441269"/>
            <a:ext cx="849186" cy="369332"/>
          </a:xfrm>
          <a:prstGeom prst="rect">
            <a:avLst/>
          </a:prstGeom>
          <a:noFill/>
        </p:spPr>
        <p:txBody>
          <a:bodyPr wrap="square" rtlCol="0">
            <a:spAutoFit/>
          </a:bodyPr>
          <a:lstStyle/>
          <a:p>
            <a:r>
              <a:rPr lang="pt-BR" dirty="0"/>
              <a:t>passa</a:t>
            </a:r>
          </a:p>
        </p:txBody>
      </p:sp>
      <p:cxnSp>
        <p:nvCxnSpPr>
          <p:cNvPr id="19" name="Conector: Angulado 18">
            <a:extLst>
              <a:ext uri="{FF2B5EF4-FFF2-40B4-BE49-F238E27FC236}">
                <a16:creationId xmlns:a16="http://schemas.microsoft.com/office/drawing/2014/main" id="{EE7779E3-A0A5-C1BA-8987-B582C0795933}"/>
              </a:ext>
            </a:extLst>
          </p:cNvPr>
          <p:cNvCxnSpPr>
            <a:cxnSpLocks/>
            <a:stCxn id="12" idx="1"/>
          </p:cNvCxnSpPr>
          <p:nvPr/>
        </p:nvCxnSpPr>
        <p:spPr>
          <a:xfrm rot="10800000" flipV="1">
            <a:off x="3823076" y="3632336"/>
            <a:ext cx="463158" cy="5831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0" name="Conector: Angulado 29">
            <a:extLst>
              <a:ext uri="{FF2B5EF4-FFF2-40B4-BE49-F238E27FC236}">
                <a16:creationId xmlns:a16="http://schemas.microsoft.com/office/drawing/2014/main" id="{45B30AC6-7FC9-DF4C-FB81-41284D0AFC53}"/>
              </a:ext>
            </a:extLst>
          </p:cNvPr>
          <p:cNvCxnSpPr>
            <a:cxnSpLocks/>
            <a:stCxn id="12" idx="3"/>
            <a:endCxn id="6" idx="0"/>
          </p:cNvCxnSpPr>
          <p:nvPr/>
        </p:nvCxnSpPr>
        <p:spPr>
          <a:xfrm>
            <a:off x="5417450" y="3632336"/>
            <a:ext cx="410859" cy="57776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0415962D-1049-056C-87DC-734D0EA8A81A}"/>
              </a:ext>
            </a:extLst>
          </p:cNvPr>
          <p:cNvSpPr txBox="1"/>
          <p:nvPr/>
        </p:nvSpPr>
        <p:spPr>
          <a:xfrm>
            <a:off x="2982490" y="3875875"/>
            <a:ext cx="261129" cy="369332"/>
          </a:xfrm>
          <a:prstGeom prst="rect">
            <a:avLst/>
          </a:prstGeom>
          <a:noFill/>
        </p:spPr>
        <p:txBody>
          <a:bodyPr wrap="square" rtlCol="0">
            <a:spAutoFit/>
          </a:bodyPr>
          <a:lstStyle/>
          <a:p>
            <a:r>
              <a:rPr lang="pt-BR" dirty="0"/>
              <a:t>n</a:t>
            </a:r>
          </a:p>
        </p:txBody>
      </p:sp>
      <p:sp>
        <p:nvSpPr>
          <p:cNvPr id="33" name="CaixaDeTexto 32">
            <a:extLst>
              <a:ext uri="{FF2B5EF4-FFF2-40B4-BE49-F238E27FC236}">
                <a16:creationId xmlns:a16="http://schemas.microsoft.com/office/drawing/2014/main" id="{279F58E1-DF87-4BD0-EB3A-7F7B43D46EDD}"/>
              </a:ext>
            </a:extLst>
          </p:cNvPr>
          <p:cNvSpPr txBox="1"/>
          <p:nvPr/>
        </p:nvSpPr>
        <p:spPr>
          <a:xfrm>
            <a:off x="938771" y="3868949"/>
            <a:ext cx="364893" cy="369332"/>
          </a:xfrm>
          <a:prstGeom prst="rect">
            <a:avLst/>
          </a:prstGeom>
          <a:noFill/>
        </p:spPr>
        <p:txBody>
          <a:bodyPr wrap="square" rtlCol="0">
            <a:spAutoFit/>
          </a:bodyPr>
          <a:lstStyle/>
          <a:p>
            <a:r>
              <a:rPr lang="pt-BR" dirty="0"/>
              <a:t>n</a:t>
            </a:r>
          </a:p>
        </p:txBody>
      </p:sp>
      <p:sp>
        <p:nvSpPr>
          <p:cNvPr id="34" name="CaixaDeTexto 33">
            <a:extLst>
              <a:ext uri="{FF2B5EF4-FFF2-40B4-BE49-F238E27FC236}">
                <a16:creationId xmlns:a16="http://schemas.microsoft.com/office/drawing/2014/main" id="{794D5C8D-7F31-CCFB-BDE3-2353F393B07D}"/>
              </a:ext>
            </a:extLst>
          </p:cNvPr>
          <p:cNvSpPr txBox="1"/>
          <p:nvPr/>
        </p:nvSpPr>
        <p:spPr>
          <a:xfrm>
            <a:off x="5544741" y="3823749"/>
            <a:ext cx="364893" cy="369332"/>
          </a:xfrm>
          <a:prstGeom prst="rect">
            <a:avLst/>
          </a:prstGeom>
          <a:noFill/>
        </p:spPr>
        <p:txBody>
          <a:bodyPr wrap="square" rtlCol="0">
            <a:spAutoFit/>
          </a:bodyPr>
          <a:lstStyle/>
          <a:p>
            <a:r>
              <a:rPr lang="pt-BR" dirty="0"/>
              <a:t>n</a:t>
            </a:r>
          </a:p>
        </p:txBody>
      </p:sp>
      <p:sp>
        <p:nvSpPr>
          <p:cNvPr id="35" name="CaixaDeTexto 34">
            <a:extLst>
              <a:ext uri="{FF2B5EF4-FFF2-40B4-BE49-F238E27FC236}">
                <a16:creationId xmlns:a16="http://schemas.microsoft.com/office/drawing/2014/main" id="{CE0B3B16-B6F7-52FF-117F-4A58D5F192CF}"/>
              </a:ext>
            </a:extLst>
          </p:cNvPr>
          <p:cNvSpPr txBox="1"/>
          <p:nvPr/>
        </p:nvSpPr>
        <p:spPr>
          <a:xfrm>
            <a:off x="3823076" y="3899271"/>
            <a:ext cx="364893" cy="369332"/>
          </a:xfrm>
          <a:prstGeom prst="rect">
            <a:avLst/>
          </a:prstGeom>
          <a:noFill/>
        </p:spPr>
        <p:txBody>
          <a:bodyPr wrap="square" rtlCol="0">
            <a:spAutoFit/>
          </a:bodyPr>
          <a:lstStyle/>
          <a:p>
            <a:r>
              <a:rPr lang="pt-BR" dirty="0"/>
              <a:t>1</a:t>
            </a:r>
          </a:p>
        </p:txBody>
      </p:sp>
      <p:sp>
        <p:nvSpPr>
          <p:cNvPr id="31" name="CaixaDeTexto 30">
            <a:extLst>
              <a:ext uri="{FF2B5EF4-FFF2-40B4-BE49-F238E27FC236}">
                <a16:creationId xmlns:a16="http://schemas.microsoft.com/office/drawing/2014/main" id="{C9F9C29D-70B4-27D2-AE0E-3C9F8AAE1A73}"/>
              </a:ext>
            </a:extLst>
          </p:cNvPr>
          <p:cNvSpPr txBox="1"/>
          <p:nvPr/>
        </p:nvSpPr>
        <p:spPr>
          <a:xfrm>
            <a:off x="6427540" y="3447052"/>
            <a:ext cx="1024719" cy="369332"/>
          </a:xfrm>
          <a:prstGeom prst="rect">
            <a:avLst/>
          </a:prstGeom>
          <a:noFill/>
        </p:spPr>
        <p:txBody>
          <a:bodyPr wrap="square" rtlCol="0">
            <a:spAutoFit/>
          </a:bodyPr>
          <a:lstStyle/>
          <a:p>
            <a:r>
              <a:rPr lang="pt-BR" dirty="0"/>
              <a:t>localiza</a:t>
            </a:r>
          </a:p>
        </p:txBody>
      </p:sp>
      <p:cxnSp>
        <p:nvCxnSpPr>
          <p:cNvPr id="36" name="Conector: Angulado 35">
            <a:extLst>
              <a:ext uri="{FF2B5EF4-FFF2-40B4-BE49-F238E27FC236}">
                <a16:creationId xmlns:a16="http://schemas.microsoft.com/office/drawing/2014/main" id="{874F7486-1293-86CE-A517-B9FBFCA663A8}"/>
              </a:ext>
            </a:extLst>
          </p:cNvPr>
          <p:cNvCxnSpPr>
            <a:cxnSpLocks/>
            <a:stCxn id="40" idx="1"/>
          </p:cNvCxnSpPr>
          <p:nvPr/>
        </p:nvCxnSpPr>
        <p:spPr>
          <a:xfrm rot="10800000" flipV="1">
            <a:off x="6014068" y="3632335"/>
            <a:ext cx="266341" cy="57532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7" name="Conector: Angulado 36">
            <a:extLst>
              <a:ext uri="{FF2B5EF4-FFF2-40B4-BE49-F238E27FC236}">
                <a16:creationId xmlns:a16="http://schemas.microsoft.com/office/drawing/2014/main" id="{6BF5F485-8FB4-1641-86DC-CB58336AF5D8}"/>
              </a:ext>
            </a:extLst>
          </p:cNvPr>
          <p:cNvCxnSpPr>
            <a:cxnSpLocks/>
          </p:cNvCxnSpPr>
          <p:nvPr/>
        </p:nvCxnSpPr>
        <p:spPr>
          <a:xfrm rot="16200000" flipH="1">
            <a:off x="7202634" y="3794256"/>
            <a:ext cx="549967" cy="228937"/>
          </a:xfrm>
          <a:prstGeom prst="bentConnector3">
            <a:avLst>
              <a:gd name="adj1" fmla="val 292"/>
            </a:avLst>
          </a:prstGeom>
        </p:spPr>
        <p:style>
          <a:lnRef idx="1">
            <a:schemeClr val="accent1"/>
          </a:lnRef>
          <a:fillRef idx="0">
            <a:schemeClr val="accent1"/>
          </a:fillRef>
          <a:effectRef idx="0">
            <a:schemeClr val="accent1"/>
          </a:effectRef>
          <a:fontRef idx="minor">
            <a:schemeClr val="tx1"/>
          </a:fontRef>
        </p:style>
      </p:cxnSp>
      <p:sp>
        <p:nvSpPr>
          <p:cNvPr id="38" name="CaixaDeTexto 37">
            <a:extLst>
              <a:ext uri="{FF2B5EF4-FFF2-40B4-BE49-F238E27FC236}">
                <a16:creationId xmlns:a16="http://schemas.microsoft.com/office/drawing/2014/main" id="{A066C1F9-287D-80FC-84F9-6DAE6725AF79}"/>
              </a:ext>
            </a:extLst>
          </p:cNvPr>
          <p:cNvSpPr txBox="1"/>
          <p:nvPr/>
        </p:nvSpPr>
        <p:spPr>
          <a:xfrm>
            <a:off x="7217765" y="3851511"/>
            <a:ext cx="364893" cy="369332"/>
          </a:xfrm>
          <a:prstGeom prst="rect">
            <a:avLst/>
          </a:prstGeom>
          <a:noFill/>
        </p:spPr>
        <p:txBody>
          <a:bodyPr wrap="square" rtlCol="0">
            <a:spAutoFit/>
          </a:bodyPr>
          <a:lstStyle/>
          <a:p>
            <a:r>
              <a:rPr lang="pt-BR" dirty="0"/>
              <a:t>1</a:t>
            </a:r>
          </a:p>
        </p:txBody>
      </p:sp>
      <p:sp>
        <p:nvSpPr>
          <p:cNvPr id="39" name="CaixaDeTexto 38">
            <a:extLst>
              <a:ext uri="{FF2B5EF4-FFF2-40B4-BE49-F238E27FC236}">
                <a16:creationId xmlns:a16="http://schemas.microsoft.com/office/drawing/2014/main" id="{0AEBDA61-D0F6-94C6-8392-CCAADAA2BA79}"/>
              </a:ext>
            </a:extLst>
          </p:cNvPr>
          <p:cNvSpPr txBox="1"/>
          <p:nvPr/>
        </p:nvSpPr>
        <p:spPr>
          <a:xfrm>
            <a:off x="6014065" y="3825475"/>
            <a:ext cx="364893" cy="369332"/>
          </a:xfrm>
          <a:prstGeom prst="rect">
            <a:avLst/>
          </a:prstGeom>
          <a:noFill/>
        </p:spPr>
        <p:txBody>
          <a:bodyPr wrap="square" rtlCol="0">
            <a:spAutoFit/>
          </a:bodyPr>
          <a:lstStyle/>
          <a:p>
            <a:r>
              <a:rPr lang="pt-BR" dirty="0"/>
              <a:t>n</a:t>
            </a:r>
          </a:p>
        </p:txBody>
      </p:sp>
      <p:sp>
        <p:nvSpPr>
          <p:cNvPr id="40" name="Fluxograma: Decisão 39">
            <a:extLst>
              <a:ext uri="{FF2B5EF4-FFF2-40B4-BE49-F238E27FC236}">
                <a16:creationId xmlns:a16="http://schemas.microsoft.com/office/drawing/2014/main" id="{E22E8CB5-0DE9-32F5-1A79-1553BA2DF533}"/>
              </a:ext>
            </a:extLst>
          </p:cNvPr>
          <p:cNvSpPr/>
          <p:nvPr/>
        </p:nvSpPr>
        <p:spPr>
          <a:xfrm>
            <a:off x="6280408" y="3344818"/>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luxograma: Decisão 16">
            <a:extLst>
              <a:ext uri="{FF2B5EF4-FFF2-40B4-BE49-F238E27FC236}">
                <a16:creationId xmlns:a16="http://schemas.microsoft.com/office/drawing/2014/main" id="{4695768D-1EC4-264A-8A09-9B88FFCC1579}"/>
              </a:ext>
            </a:extLst>
          </p:cNvPr>
          <p:cNvSpPr/>
          <p:nvPr/>
        </p:nvSpPr>
        <p:spPr>
          <a:xfrm>
            <a:off x="8881549" y="2827604"/>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CaixaDeTexto 41">
            <a:extLst>
              <a:ext uri="{FF2B5EF4-FFF2-40B4-BE49-F238E27FC236}">
                <a16:creationId xmlns:a16="http://schemas.microsoft.com/office/drawing/2014/main" id="{E6705FA8-D1E9-96D0-D374-3B90D71202B9}"/>
              </a:ext>
            </a:extLst>
          </p:cNvPr>
          <p:cNvSpPr txBox="1"/>
          <p:nvPr/>
        </p:nvSpPr>
        <p:spPr>
          <a:xfrm>
            <a:off x="8911180" y="2923609"/>
            <a:ext cx="1050514" cy="369332"/>
          </a:xfrm>
          <a:prstGeom prst="rect">
            <a:avLst/>
          </a:prstGeom>
          <a:noFill/>
        </p:spPr>
        <p:txBody>
          <a:bodyPr wrap="square" rtlCol="0">
            <a:spAutoFit/>
          </a:bodyPr>
          <a:lstStyle/>
          <a:p>
            <a:r>
              <a:rPr lang="pt-BR" dirty="0"/>
              <a:t>dirigido</a:t>
            </a:r>
          </a:p>
        </p:txBody>
      </p:sp>
      <p:cxnSp>
        <p:nvCxnSpPr>
          <p:cNvPr id="44" name="Conector: Angulado 43">
            <a:extLst>
              <a:ext uri="{FF2B5EF4-FFF2-40B4-BE49-F238E27FC236}">
                <a16:creationId xmlns:a16="http://schemas.microsoft.com/office/drawing/2014/main" id="{6D160554-EC64-87B6-69E6-9B7F14391D2C}"/>
              </a:ext>
            </a:extLst>
          </p:cNvPr>
          <p:cNvCxnSpPr>
            <a:cxnSpLocks/>
            <a:endCxn id="42" idx="1"/>
          </p:cNvCxnSpPr>
          <p:nvPr/>
        </p:nvCxnSpPr>
        <p:spPr>
          <a:xfrm flipV="1">
            <a:off x="3381876" y="3108275"/>
            <a:ext cx="5529304" cy="1118077"/>
          </a:xfrm>
          <a:prstGeom prst="bentConnector3">
            <a:avLst>
              <a:gd name="adj1" fmla="val 5503"/>
            </a:avLst>
          </a:prstGeom>
        </p:spPr>
        <p:style>
          <a:lnRef idx="1">
            <a:schemeClr val="accent1"/>
          </a:lnRef>
          <a:fillRef idx="0">
            <a:schemeClr val="accent1"/>
          </a:fillRef>
          <a:effectRef idx="0">
            <a:schemeClr val="accent1"/>
          </a:effectRef>
          <a:fontRef idx="minor">
            <a:schemeClr val="tx1"/>
          </a:fontRef>
        </p:style>
      </p:cxnSp>
      <p:cxnSp>
        <p:nvCxnSpPr>
          <p:cNvPr id="47" name="Conector reto 46">
            <a:extLst>
              <a:ext uri="{FF2B5EF4-FFF2-40B4-BE49-F238E27FC236}">
                <a16:creationId xmlns:a16="http://schemas.microsoft.com/office/drawing/2014/main" id="{EC4CE640-33D5-FA08-1F06-9B9EE279C545}"/>
              </a:ext>
            </a:extLst>
          </p:cNvPr>
          <p:cNvCxnSpPr>
            <a:stCxn id="25" idx="0"/>
            <a:endCxn id="17" idx="2"/>
          </p:cNvCxnSpPr>
          <p:nvPr/>
        </p:nvCxnSpPr>
        <p:spPr>
          <a:xfrm flipH="1" flipV="1">
            <a:off x="9318528" y="3377570"/>
            <a:ext cx="3981" cy="8119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ector reto 48">
            <a:extLst>
              <a:ext uri="{FF2B5EF4-FFF2-40B4-BE49-F238E27FC236}">
                <a16:creationId xmlns:a16="http://schemas.microsoft.com/office/drawing/2014/main" id="{E7A64442-4953-D5A5-FA69-B98378BAE2C1}"/>
              </a:ext>
            </a:extLst>
          </p:cNvPr>
          <p:cNvCxnSpPr>
            <a:cxnSpLocks/>
            <a:stCxn id="62" idx="2"/>
            <a:endCxn id="26" idx="0"/>
          </p:cNvCxnSpPr>
          <p:nvPr/>
        </p:nvCxnSpPr>
        <p:spPr>
          <a:xfrm>
            <a:off x="11316602" y="2831634"/>
            <a:ext cx="1" cy="1357847"/>
          </a:xfrm>
          <a:prstGeom prst="line">
            <a:avLst/>
          </a:prstGeom>
        </p:spPr>
        <p:style>
          <a:lnRef idx="1">
            <a:schemeClr val="accent1"/>
          </a:lnRef>
          <a:fillRef idx="0">
            <a:schemeClr val="accent1"/>
          </a:fillRef>
          <a:effectRef idx="0">
            <a:schemeClr val="accent1"/>
          </a:effectRef>
          <a:fontRef idx="minor">
            <a:schemeClr val="tx1"/>
          </a:fontRef>
        </p:style>
      </p:cxnSp>
      <p:sp>
        <p:nvSpPr>
          <p:cNvPr id="50" name="CaixaDeTexto 49">
            <a:extLst>
              <a:ext uri="{FF2B5EF4-FFF2-40B4-BE49-F238E27FC236}">
                <a16:creationId xmlns:a16="http://schemas.microsoft.com/office/drawing/2014/main" id="{C8F9EE63-91C0-03C9-6BA3-AF247924E0A6}"/>
              </a:ext>
            </a:extLst>
          </p:cNvPr>
          <p:cNvSpPr txBox="1"/>
          <p:nvPr/>
        </p:nvSpPr>
        <p:spPr>
          <a:xfrm>
            <a:off x="11316602" y="3838760"/>
            <a:ext cx="364563" cy="369332"/>
          </a:xfrm>
          <a:prstGeom prst="rect">
            <a:avLst/>
          </a:prstGeom>
          <a:noFill/>
        </p:spPr>
        <p:txBody>
          <a:bodyPr wrap="square" rtlCol="0">
            <a:spAutoFit/>
          </a:bodyPr>
          <a:lstStyle/>
          <a:p>
            <a:r>
              <a:rPr lang="pt-BR" dirty="0"/>
              <a:t>n</a:t>
            </a:r>
          </a:p>
        </p:txBody>
      </p:sp>
      <p:sp>
        <p:nvSpPr>
          <p:cNvPr id="51" name="CaixaDeTexto 50">
            <a:extLst>
              <a:ext uri="{FF2B5EF4-FFF2-40B4-BE49-F238E27FC236}">
                <a16:creationId xmlns:a16="http://schemas.microsoft.com/office/drawing/2014/main" id="{81CE1960-B531-5559-ED25-6901A9C8F91E}"/>
              </a:ext>
            </a:extLst>
          </p:cNvPr>
          <p:cNvSpPr txBox="1"/>
          <p:nvPr/>
        </p:nvSpPr>
        <p:spPr>
          <a:xfrm>
            <a:off x="9071874" y="3842134"/>
            <a:ext cx="364563" cy="369332"/>
          </a:xfrm>
          <a:prstGeom prst="rect">
            <a:avLst/>
          </a:prstGeom>
          <a:noFill/>
        </p:spPr>
        <p:txBody>
          <a:bodyPr wrap="square" rtlCol="0">
            <a:spAutoFit/>
          </a:bodyPr>
          <a:lstStyle/>
          <a:p>
            <a:r>
              <a:rPr lang="pt-BR" dirty="0"/>
              <a:t>n</a:t>
            </a:r>
          </a:p>
        </p:txBody>
      </p:sp>
      <p:sp>
        <p:nvSpPr>
          <p:cNvPr id="52" name="CaixaDeTexto 51">
            <a:extLst>
              <a:ext uri="{FF2B5EF4-FFF2-40B4-BE49-F238E27FC236}">
                <a16:creationId xmlns:a16="http://schemas.microsoft.com/office/drawing/2014/main" id="{90D6C8B0-46E4-4FC8-1B89-627568A6BAD6}"/>
              </a:ext>
            </a:extLst>
          </p:cNvPr>
          <p:cNvSpPr txBox="1"/>
          <p:nvPr/>
        </p:nvSpPr>
        <p:spPr>
          <a:xfrm>
            <a:off x="3192208" y="3802124"/>
            <a:ext cx="364563" cy="369332"/>
          </a:xfrm>
          <a:prstGeom prst="rect">
            <a:avLst/>
          </a:prstGeom>
          <a:noFill/>
        </p:spPr>
        <p:txBody>
          <a:bodyPr wrap="square" rtlCol="0">
            <a:spAutoFit/>
          </a:bodyPr>
          <a:lstStyle/>
          <a:p>
            <a:r>
              <a:rPr lang="pt-BR" dirty="0"/>
              <a:t>n</a:t>
            </a:r>
          </a:p>
        </p:txBody>
      </p:sp>
      <p:sp>
        <p:nvSpPr>
          <p:cNvPr id="62" name="Fluxograma: Decisão 61">
            <a:extLst>
              <a:ext uri="{FF2B5EF4-FFF2-40B4-BE49-F238E27FC236}">
                <a16:creationId xmlns:a16="http://schemas.microsoft.com/office/drawing/2014/main" id="{EF063440-DE5E-4BE9-870A-236FCC21A069}"/>
              </a:ext>
            </a:extLst>
          </p:cNvPr>
          <p:cNvSpPr/>
          <p:nvPr/>
        </p:nvSpPr>
        <p:spPr>
          <a:xfrm>
            <a:off x="10879623" y="2281668"/>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CaixaDeTexto 68">
            <a:extLst>
              <a:ext uri="{FF2B5EF4-FFF2-40B4-BE49-F238E27FC236}">
                <a16:creationId xmlns:a16="http://schemas.microsoft.com/office/drawing/2014/main" id="{CE466B15-09AA-9011-D786-131B0D83DA9B}"/>
              </a:ext>
            </a:extLst>
          </p:cNvPr>
          <p:cNvSpPr txBox="1"/>
          <p:nvPr/>
        </p:nvSpPr>
        <p:spPr>
          <a:xfrm>
            <a:off x="10894596" y="2379085"/>
            <a:ext cx="1050514" cy="369332"/>
          </a:xfrm>
          <a:prstGeom prst="rect">
            <a:avLst/>
          </a:prstGeom>
          <a:noFill/>
        </p:spPr>
        <p:txBody>
          <a:bodyPr wrap="square" rtlCol="0">
            <a:spAutoFit/>
          </a:bodyPr>
          <a:lstStyle/>
          <a:p>
            <a:r>
              <a:rPr lang="pt-BR" dirty="0"/>
              <a:t>contém</a:t>
            </a:r>
          </a:p>
        </p:txBody>
      </p:sp>
      <p:cxnSp>
        <p:nvCxnSpPr>
          <p:cNvPr id="23" name="Conector: Angulado 22">
            <a:extLst>
              <a:ext uri="{FF2B5EF4-FFF2-40B4-BE49-F238E27FC236}">
                <a16:creationId xmlns:a16="http://schemas.microsoft.com/office/drawing/2014/main" id="{95CD1C7B-2C47-5F48-855D-7590FAEA0FC9}"/>
              </a:ext>
            </a:extLst>
          </p:cNvPr>
          <p:cNvCxnSpPr>
            <a:cxnSpLocks/>
          </p:cNvCxnSpPr>
          <p:nvPr/>
        </p:nvCxnSpPr>
        <p:spPr>
          <a:xfrm rot="10800000" flipV="1">
            <a:off x="3403628" y="2556651"/>
            <a:ext cx="7315300" cy="165881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41" name="CaixaDeTexto 40">
            <a:extLst>
              <a:ext uri="{FF2B5EF4-FFF2-40B4-BE49-F238E27FC236}">
                <a16:creationId xmlns:a16="http://schemas.microsoft.com/office/drawing/2014/main" id="{AF039645-28D4-CDC0-409A-C15AC1062D88}"/>
              </a:ext>
            </a:extLst>
          </p:cNvPr>
          <p:cNvSpPr txBox="1"/>
          <p:nvPr/>
        </p:nvSpPr>
        <p:spPr>
          <a:xfrm>
            <a:off x="3475673" y="3802124"/>
            <a:ext cx="364563" cy="369332"/>
          </a:xfrm>
          <a:prstGeom prst="rect">
            <a:avLst/>
          </a:prstGeom>
          <a:noFill/>
        </p:spPr>
        <p:txBody>
          <a:bodyPr wrap="square" rtlCol="0">
            <a:spAutoFit/>
          </a:bodyPr>
          <a:lstStyle/>
          <a:p>
            <a:r>
              <a:rPr lang="pt-BR" dirty="0"/>
              <a:t>n</a:t>
            </a:r>
          </a:p>
        </p:txBody>
      </p:sp>
      <p:sp>
        <p:nvSpPr>
          <p:cNvPr id="43" name="Retângulo 42">
            <a:extLst>
              <a:ext uri="{FF2B5EF4-FFF2-40B4-BE49-F238E27FC236}">
                <a16:creationId xmlns:a16="http://schemas.microsoft.com/office/drawing/2014/main" id="{92DBB1A8-E0AB-006F-F379-9367898E9238}"/>
              </a:ext>
            </a:extLst>
          </p:cNvPr>
          <p:cNvSpPr/>
          <p:nvPr/>
        </p:nvSpPr>
        <p:spPr>
          <a:xfrm>
            <a:off x="5162371" y="4157146"/>
            <a:ext cx="1328377" cy="46438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CaixaDeTexto 44">
            <a:extLst>
              <a:ext uri="{FF2B5EF4-FFF2-40B4-BE49-F238E27FC236}">
                <a16:creationId xmlns:a16="http://schemas.microsoft.com/office/drawing/2014/main" id="{8387BF47-D3D6-3105-597F-3D882F6C531F}"/>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u="sng" dirty="0">
                <a:highlight>
                  <a:srgbClr val="FFFF00"/>
                </a:highlight>
              </a:rPr>
              <a:t>CNPJ</a:t>
            </a:r>
          </a:p>
          <a:p>
            <a:pPr marL="285750" indent="-285750">
              <a:buFontTx/>
              <a:buChar char="-"/>
            </a:pPr>
            <a:r>
              <a:rPr lang="pt-BR" dirty="0"/>
              <a:t>Endereço</a:t>
            </a:r>
          </a:p>
          <a:p>
            <a:pPr marL="285750" indent="-285750">
              <a:buFontTx/>
              <a:buChar char="-"/>
            </a:pPr>
            <a:r>
              <a:rPr lang="pt-BR" dirty="0"/>
              <a:t>Telefone</a:t>
            </a:r>
          </a:p>
        </p:txBody>
      </p:sp>
      <p:sp>
        <p:nvSpPr>
          <p:cNvPr id="46" name="CaixaDeTexto 45">
            <a:extLst>
              <a:ext uri="{FF2B5EF4-FFF2-40B4-BE49-F238E27FC236}">
                <a16:creationId xmlns:a16="http://schemas.microsoft.com/office/drawing/2014/main" id="{ACBA0E2B-CD89-78CC-2F1C-F1B84BFB170B}"/>
              </a:ext>
            </a:extLst>
          </p:cNvPr>
          <p:cNvSpPr txBox="1"/>
          <p:nvPr/>
        </p:nvSpPr>
        <p:spPr>
          <a:xfrm>
            <a:off x="2025991" y="4637782"/>
            <a:ext cx="3266390" cy="1754326"/>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a:p>
            <a:pPr marL="285750" indent="-285750">
              <a:buFontTx/>
              <a:buChar char="-"/>
            </a:pPr>
            <a:r>
              <a:rPr lang="pt-BR" u="sng" dirty="0" err="1">
                <a:highlight>
                  <a:srgbClr val="FFFF00"/>
                </a:highlight>
              </a:rPr>
              <a:t>id_filme</a:t>
            </a:r>
            <a:endParaRPr lang="pt-BR" u="sng" dirty="0">
              <a:highlight>
                <a:srgbClr val="FFFF00"/>
              </a:highlight>
            </a:endParaRPr>
          </a:p>
        </p:txBody>
      </p:sp>
      <p:sp>
        <p:nvSpPr>
          <p:cNvPr id="48" name="CaixaDeTexto 47">
            <a:extLst>
              <a:ext uri="{FF2B5EF4-FFF2-40B4-BE49-F238E27FC236}">
                <a16:creationId xmlns:a16="http://schemas.microsoft.com/office/drawing/2014/main" id="{319C64CA-68B9-B6D9-7447-EC4F5C59A11A}"/>
              </a:ext>
            </a:extLst>
          </p:cNvPr>
          <p:cNvSpPr txBox="1"/>
          <p:nvPr/>
        </p:nvSpPr>
        <p:spPr>
          <a:xfrm>
            <a:off x="6637454" y="4677609"/>
            <a:ext cx="1751816" cy="1477328"/>
          </a:xfrm>
          <a:prstGeom prst="rect">
            <a:avLst/>
          </a:prstGeom>
          <a:noFill/>
        </p:spPr>
        <p:txBody>
          <a:bodyPr wrap="square" rtlCol="0">
            <a:spAutoFit/>
          </a:bodyPr>
          <a:lstStyle/>
          <a:p>
            <a:pPr marL="285750" indent="-285750">
              <a:buFontTx/>
              <a:buChar char="-"/>
            </a:pPr>
            <a:r>
              <a:rPr lang="pt-BR" dirty="0"/>
              <a:t>N° de lugares</a:t>
            </a:r>
          </a:p>
          <a:p>
            <a:pPr marL="285750" indent="-285750">
              <a:buFontTx/>
              <a:buChar char="-"/>
            </a:pPr>
            <a:r>
              <a:rPr lang="pt-BR" dirty="0"/>
              <a:t>Tipo de som</a:t>
            </a:r>
          </a:p>
          <a:p>
            <a:pPr marL="285750" indent="-285750">
              <a:buFontTx/>
              <a:buChar char="-"/>
            </a:pPr>
            <a:r>
              <a:rPr lang="pt-BR" dirty="0"/>
              <a:t>Acesso a deficientes</a:t>
            </a:r>
          </a:p>
          <a:p>
            <a:pPr marL="285750" indent="-285750">
              <a:buFontTx/>
              <a:buChar char="-"/>
            </a:pPr>
            <a:r>
              <a:rPr lang="pt-BR" u="sng" dirty="0" err="1">
                <a:highlight>
                  <a:srgbClr val="FFFF00"/>
                </a:highlight>
              </a:rPr>
              <a:t>id_sala</a:t>
            </a:r>
            <a:endParaRPr lang="pt-BR" u="sng" dirty="0">
              <a:highlight>
                <a:srgbClr val="FFFF00"/>
              </a:highlight>
            </a:endParaRPr>
          </a:p>
        </p:txBody>
      </p:sp>
      <p:sp>
        <p:nvSpPr>
          <p:cNvPr id="53" name="CaixaDeTexto 52">
            <a:extLst>
              <a:ext uri="{FF2B5EF4-FFF2-40B4-BE49-F238E27FC236}">
                <a16:creationId xmlns:a16="http://schemas.microsoft.com/office/drawing/2014/main" id="{D4BAB69E-E48F-C215-660A-FE32E0BCEB6D}"/>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54" name="Conector reto 53">
            <a:extLst>
              <a:ext uri="{FF2B5EF4-FFF2-40B4-BE49-F238E27FC236}">
                <a16:creationId xmlns:a16="http://schemas.microsoft.com/office/drawing/2014/main" id="{35B08A76-6359-0B3B-962B-AD1D1132B529}"/>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CaixaDeTexto 54">
            <a:extLst>
              <a:ext uri="{FF2B5EF4-FFF2-40B4-BE49-F238E27FC236}">
                <a16:creationId xmlns:a16="http://schemas.microsoft.com/office/drawing/2014/main" id="{EB6AD2DD-9C59-47A2-F936-7804B0114449}"/>
              </a:ext>
            </a:extLst>
          </p:cNvPr>
          <p:cNvSpPr txBox="1"/>
          <p:nvPr/>
        </p:nvSpPr>
        <p:spPr>
          <a:xfrm>
            <a:off x="8378052" y="4671229"/>
            <a:ext cx="1751816" cy="646331"/>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u="sng" dirty="0" err="1">
                <a:highlight>
                  <a:srgbClr val="FFFF00"/>
                </a:highlight>
              </a:rPr>
              <a:t>id_diretor</a:t>
            </a:r>
            <a:endParaRPr lang="pt-BR" u="sng" dirty="0">
              <a:highlight>
                <a:srgbClr val="FFFF00"/>
              </a:highlight>
            </a:endParaRPr>
          </a:p>
        </p:txBody>
      </p:sp>
      <p:sp>
        <p:nvSpPr>
          <p:cNvPr id="56" name="CaixaDeTexto 55">
            <a:extLst>
              <a:ext uri="{FF2B5EF4-FFF2-40B4-BE49-F238E27FC236}">
                <a16:creationId xmlns:a16="http://schemas.microsoft.com/office/drawing/2014/main" id="{195D2B35-C89B-A480-FAD8-67662925371E}"/>
              </a:ext>
            </a:extLst>
          </p:cNvPr>
          <p:cNvSpPr txBox="1"/>
          <p:nvPr/>
        </p:nvSpPr>
        <p:spPr>
          <a:xfrm>
            <a:off x="10511282" y="4656453"/>
            <a:ext cx="1751816" cy="923330"/>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dirty="0"/>
              <a:t>Papel</a:t>
            </a:r>
          </a:p>
          <a:p>
            <a:pPr marL="285750" indent="-285750">
              <a:buFontTx/>
              <a:buChar char="-"/>
            </a:pPr>
            <a:r>
              <a:rPr lang="pt-BR" u="sng" dirty="0" err="1">
                <a:highlight>
                  <a:srgbClr val="FFFF00"/>
                </a:highlight>
              </a:rPr>
              <a:t>id_elenco</a:t>
            </a:r>
            <a:endParaRPr lang="pt-BR" u="sng" dirty="0">
              <a:highlight>
                <a:srgbClr val="FFFF00"/>
              </a:highlight>
            </a:endParaRPr>
          </a:p>
        </p:txBody>
      </p:sp>
    </p:spTree>
    <p:extLst>
      <p:ext uri="{BB962C8B-B14F-4D97-AF65-F5344CB8AC3E}">
        <p14:creationId xmlns:p14="http://schemas.microsoft.com/office/powerpoint/2010/main" val="3240420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30FD02-42CB-8CAA-467E-3661A411D873}"/>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highlight>
                  <a:srgbClr val="FFFF00"/>
                </a:highlight>
              </a:rPr>
              <a:t>Cinema</a:t>
            </a:r>
          </a:p>
        </p:txBody>
      </p:sp>
      <p:sp>
        <p:nvSpPr>
          <p:cNvPr id="4" name="CaixaDeTexto 3">
            <a:extLst>
              <a:ext uri="{FF2B5EF4-FFF2-40B4-BE49-F238E27FC236}">
                <a16:creationId xmlns:a16="http://schemas.microsoft.com/office/drawing/2014/main" id="{35D6A63B-D3A2-D3AB-FFFD-92FD890E1AD7}"/>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highlight>
                  <a:srgbClr val="FFFF00"/>
                </a:highlight>
              </a:rPr>
              <a:t>Filme</a:t>
            </a:r>
          </a:p>
        </p:txBody>
      </p:sp>
      <p:sp>
        <p:nvSpPr>
          <p:cNvPr id="6" name="CaixaDeTexto 5">
            <a:extLst>
              <a:ext uri="{FF2B5EF4-FFF2-40B4-BE49-F238E27FC236}">
                <a16:creationId xmlns:a16="http://schemas.microsoft.com/office/drawing/2014/main" id="{3B828840-CDF7-122B-D05F-B60DE22D0A8F}"/>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7" name="CaixaDeTexto 6">
            <a:extLst>
              <a:ext uri="{FF2B5EF4-FFF2-40B4-BE49-F238E27FC236}">
                <a16:creationId xmlns:a16="http://schemas.microsoft.com/office/drawing/2014/main" id="{AA2B8208-5AC9-F0F4-0ACC-DEFC82722907}"/>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highlight>
                  <a:srgbClr val="FFFF00"/>
                </a:highlight>
              </a:rPr>
              <a:t>Sala</a:t>
            </a:r>
          </a:p>
        </p:txBody>
      </p:sp>
      <p:cxnSp>
        <p:nvCxnSpPr>
          <p:cNvPr id="10" name="Conector reto 9">
            <a:extLst>
              <a:ext uri="{FF2B5EF4-FFF2-40B4-BE49-F238E27FC236}">
                <a16:creationId xmlns:a16="http://schemas.microsoft.com/office/drawing/2014/main" id="{25858B0C-A9E8-6884-F912-B6C196F68B83}"/>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D42337CD-9D76-AE18-F87D-4F2547CD0BF7}"/>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AFEDD4E-54EA-A604-5617-6A3AE13FDF74}"/>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CDED82E5-4ED8-040E-C873-EC18A1492A84}"/>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u="sng" dirty="0"/>
              <a:t>CNPJ</a:t>
            </a:r>
          </a:p>
          <a:p>
            <a:pPr marL="285750" indent="-285750">
              <a:buFontTx/>
              <a:buChar char="-"/>
            </a:pPr>
            <a:r>
              <a:rPr lang="pt-BR" dirty="0"/>
              <a:t>Endereço</a:t>
            </a:r>
          </a:p>
          <a:p>
            <a:pPr marL="285750" indent="-285750">
              <a:buFontTx/>
              <a:buChar char="-"/>
            </a:pPr>
            <a:r>
              <a:rPr lang="pt-BR" dirty="0"/>
              <a:t>Telefone</a:t>
            </a:r>
          </a:p>
        </p:txBody>
      </p:sp>
      <p:sp>
        <p:nvSpPr>
          <p:cNvPr id="9" name="CaixaDeTexto 8">
            <a:extLst>
              <a:ext uri="{FF2B5EF4-FFF2-40B4-BE49-F238E27FC236}">
                <a16:creationId xmlns:a16="http://schemas.microsoft.com/office/drawing/2014/main" id="{2008D058-1C9A-1B76-3D59-C7018E4809DE}"/>
              </a:ext>
            </a:extLst>
          </p:cNvPr>
          <p:cNvSpPr txBox="1"/>
          <p:nvPr/>
        </p:nvSpPr>
        <p:spPr>
          <a:xfrm>
            <a:off x="2025991" y="4637782"/>
            <a:ext cx="3266390" cy="1754326"/>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a:p>
            <a:pPr marL="285750" indent="-285750">
              <a:buFontTx/>
              <a:buChar char="-"/>
            </a:pPr>
            <a:r>
              <a:rPr lang="pt-BR" u="sng" dirty="0" err="1"/>
              <a:t>id_filme</a:t>
            </a:r>
            <a:endParaRPr lang="pt-BR" u="sng" dirty="0"/>
          </a:p>
        </p:txBody>
      </p:sp>
      <p:sp>
        <p:nvSpPr>
          <p:cNvPr id="14" name="CaixaDeTexto 13">
            <a:extLst>
              <a:ext uri="{FF2B5EF4-FFF2-40B4-BE49-F238E27FC236}">
                <a16:creationId xmlns:a16="http://schemas.microsoft.com/office/drawing/2014/main" id="{B54F5914-782C-A8A9-2724-8A1E3753800E}"/>
              </a:ext>
            </a:extLst>
          </p:cNvPr>
          <p:cNvSpPr txBox="1"/>
          <p:nvPr/>
        </p:nvSpPr>
        <p:spPr>
          <a:xfrm>
            <a:off x="6637454" y="4677609"/>
            <a:ext cx="1751816" cy="1477328"/>
          </a:xfrm>
          <a:prstGeom prst="rect">
            <a:avLst/>
          </a:prstGeom>
          <a:noFill/>
        </p:spPr>
        <p:txBody>
          <a:bodyPr wrap="square" rtlCol="0">
            <a:spAutoFit/>
          </a:bodyPr>
          <a:lstStyle/>
          <a:p>
            <a:pPr marL="285750" indent="-285750">
              <a:buFontTx/>
              <a:buChar char="-"/>
            </a:pPr>
            <a:r>
              <a:rPr lang="pt-BR" dirty="0"/>
              <a:t>N° de lugares</a:t>
            </a:r>
          </a:p>
          <a:p>
            <a:pPr marL="285750" indent="-285750">
              <a:buFontTx/>
              <a:buChar char="-"/>
            </a:pPr>
            <a:r>
              <a:rPr lang="pt-BR" dirty="0"/>
              <a:t>Tipo de som</a:t>
            </a:r>
          </a:p>
          <a:p>
            <a:pPr marL="285750" indent="-285750">
              <a:buFontTx/>
              <a:buChar char="-"/>
            </a:pPr>
            <a:r>
              <a:rPr lang="pt-BR" dirty="0"/>
              <a:t>Acesso a deficientes</a:t>
            </a:r>
          </a:p>
          <a:p>
            <a:pPr marL="285750" indent="-285750">
              <a:buFontTx/>
              <a:buChar char="-"/>
            </a:pPr>
            <a:r>
              <a:rPr lang="pt-BR" u="sng" dirty="0" err="1"/>
              <a:t>id_sala</a:t>
            </a:r>
            <a:endParaRPr lang="pt-BR" u="sng" dirty="0"/>
          </a:p>
        </p:txBody>
      </p:sp>
      <p:sp>
        <p:nvSpPr>
          <p:cNvPr id="16" name="CaixaDeTexto 15">
            <a:extLst>
              <a:ext uri="{FF2B5EF4-FFF2-40B4-BE49-F238E27FC236}">
                <a16:creationId xmlns:a16="http://schemas.microsoft.com/office/drawing/2014/main" id="{E99EEB24-7D19-9DE5-B6D1-8BE8A510D588}"/>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22" name="Conector reto 21">
            <a:extLst>
              <a:ext uri="{FF2B5EF4-FFF2-40B4-BE49-F238E27FC236}">
                <a16:creationId xmlns:a16="http://schemas.microsoft.com/office/drawing/2014/main" id="{0BA7B12F-0042-518E-2C6B-271E476A0907}"/>
              </a:ext>
            </a:extLst>
          </p:cNvPr>
          <p:cNvCxnSpPr>
            <a:cxnSpLocks/>
          </p:cNvCxnSpPr>
          <p:nvPr/>
        </p:nvCxnSpPr>
        <p:spPr>
          <a:xfrm>
            <a:off x="8326216" y="4083597"/>
            <a:ext cx="0" cy="2623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F66F5879-07F5-24F3-78F6-D8885228146B}"/>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E634E543-5672-A1D9-1F01-48A88CF5E8B2}"/>
              </a:ext>
            </a:extLst>
          </p:cNvPr>
          <p:cNvSpPr txBox="1"/>
          <p:nvPr/>
        </p:nvSpPr>
        <p:spPr>
          <a:xfrm>
            <a:off x="8691108" y="4189481"/>
            <a:ext cx="1262802" cy="369332"/>
          </a:xfrm>
          <a:prstGeom prst="rect">
            <a:avLst/>
          </a:prstGeom>
          <a:noFill/>
          <a:ln>
            <a:solidFill>
              <a:schemeClr val="tx1"/>
            </a:solidFill>
          </a:ln>
        </p:spPr>
        <p:txBody>
          <a:bodyPr wrap="square" rtlCol="0">
            <a:spAutoFit/>
          </a:bodyPr>
          <a:lstStyle/>
          <a:p>
            <a:pPr algn="ctr"/>
            <a:r>
              <a:rPr lang="pt-BR" dirty="0">
                <a:highlight>
                  <a:srgbClr val="FFFF00"/>
                </a:highlight>
              </a:rPr>
              <a:t>Diretor</a:t>
            </a:r>
          </a:p>
        </p:txBody>
      </p:sp>
      <p:sp>
        <p:nvSpPr>
          <p:cNvPr id="26" name="CaixaDeTexto 25">
            <a:extLst>
              <a:ext uri="{FF2B5EF4-FFF2-40B4-BE49-F238E27FC236}">
                <a16:creationId xmlns:a16="http://schemas.microsoft.com/office/drawing/2014/main" id="{668D7A6A-5762-B31F-54EA-DC79AB3E1EF5}"/>
              </a:ext>
            </a:extLst>
          </p:cNvPr>
          <p:cNvSpPr txBox="1"/>
          <p:nvPr/>
        </p:nvSpPr>
        <p:spPr>
          <a:xfrm>
            <a:off x="10791345" y="4189481"/>
            <a:ext cx="1050515" cy="369332"/>
          </a:xfrm>
          <a:prstGeom prst="rect">
            <a:avLst/>
          </a:prstGeom>
          <a:noFill/>
          <a:ln>
            <a:solidFill>
              <a:schemeClr val="tx1"/>
            </a:solidFill>
          </a:ln>
        </p:spPr>
        <p:txBody>
          <a:bodyPr wrap="square" rtlCol="0">
            <a:spAutoFit/>
          </a:bodyPr>
          <a:lstStyle/>
          <a:p>
            <a:pPr algn="ctr"/>
            <a:r>
              <a:rPr lang="pt-BR" dirty="0">
                <a:highlight>
                  <a:srgbClr val="FFFF00"/>
                </a:highlight>
              </a:rPr>
              <a:t>Elenco</a:t>
            </a:r>
          </a:p>
        </p:txBody>
      </p:sp>
      <p:cxnSp>
        <p:nvCxnSpPr>
          <p:cNvPr id="27" name="Conector reto 26">
            <a:extLst>
              <a:ext uri="{FF2B5EF4-FFF2-40B4-BE49-F238E27FC236}">
                <a16:creationId xmlns:a16="http://schemas.microsoft.com/office/drawing/2014/main" id="{D74799A3-56C7-4706-19BE-1924D10991BE}"/>
              </a:ext>
            </a:extLst>
          </p:cNvPr>
          <p:cNvCxnSpPr>
            <a:cxnSpLocks/>
          </p:cNvCxnSpPr>
          <p:nvPr/>
        </p:nvCxnSpPr>
        <p:spPr>
          <a:xfrm>
            <a:off x="10372627"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30593127-4791-5209-092E-4720ACFFB238}"/>
              </a:ext>
            </a:extLst>
          </p:cNvPr>
          <p:cNvSpPr txBox="1"/>
          <p:nvPr/>
        </p:nvSpPr>
        <p:spPr>
          <a:xfrm>
            <a:off x="8378052" y="4671229"/>
            <a:ext cx="1751816" cy="646331"/>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u="sng" dirty="0" err="1"/>
              <a:t>id_diretor</a:t>
            </a:r>
            <a:endParaRPr lang="pt-BR" u="sng" dirty="0"/>
          </a:p>
        </p:txBody>
      </p:sp>
      <p:sp>
        <p:nvSpPr>
          <p:cNvPr id="29" name="CaixaDeTexto 28">
            <a:extLst>
              <a:ext uri="{FF2B5EF4-FFF2-40B4-BE49-F238E27FC236}">
                <a16:creationId xmlns:a16="http://schemas.microsoft.com/office/drawing/2014/main" id="{F40F2788-96DA-CF46-A623-5460991ACACB}"/>
              </a:ext>
            </a:extLst>
          </p:cNvPr>
          <p:cNvSpPr txBox="1"/>
          <p:nvPr/>
        </p:nvSpPr>
        <p:spPr>
          <a:xfrm>
            <a:off x="10511282" y="4656453"/>
            <a:ext cx="1751816" cy="923330"/>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dirty="0"/>
              <a:t>Papel</a:t>
            </a:r>
          </a:p>
          <a:p>
            <a:pPr marL="285750" indent="-285750">
              <a:buFontTx/>
              <a:buChar char="-"/>
            </a:pPr>
            <a:r>
              <a:rPr lang="pt-BR" u="sng" dirty="0" err="1"/>
              <a:t>id_elenco</a:t>
            </a:r>
            <a:endParaRPr lang="pt-BR" u="sng" dirty="0"/>
          </a:p>
        </p:txBody>
      </p:sp>
      <p:sp>
        <p:nvSpPr>
          <p:cNvPr id="5" name="Fluxograma: Decisão 4">
            <a:extLst>
              <a:ext uri="{FF2B5EF4-FFF2-40B4-BE49-F238E27FC236}">
                <a16:creationId xmlns:a16="http://schemas.microsoft.com/office/drawing/2014/main" id="{B9CA9E2B-D81F-6950-D069-B30CB5B46E43}"/>
              </a:ext>
            </a:extLst>
          </p:cNvPr>
          <p:cNvSpPr/>
          <p:nvPr/>
        </p:nvSpPr>
        <p:spPr>
          <a:xfrm>
            <a:off x="1828800" y="3357813"/>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Angulado 17">
            <a:extLst>
              <a:ext uri="{FF2B5EF4-FFF2-40B4-BE49-F238E27FC236}">
                <a16:creationId xmlns:a16="http://schemas.microsoft.com/office/drawing/2014/main" id="{40F205C2-203F-FD46-A7D9-2C4A0DC3C25B}"/>
              </a:ext>
            </a:extLst>
          </p:cNvPr>
          <p:cNvCxnSpPr>
            <a:cxnSpLocks/>
            <a:stCxn id="5" idx="3"/>
          </p:cNvCxnSpPr>
          <p:nvPr/>
        </p:nvCxnSpPr>
        <p:spPr>
          <a:xfrm>
            <a:off x="2960016" y="3645330"/>
            <a:ext cx="248510" cy="59295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Conector: Angulado 19">
            <a:extLst>
              <a:ext uri="{FF2B5EF4-FFF2-40B4-BE49-F238E27FC236}">
                <a16:creationId xmlns:a16="http://schemas.microsoft.com/office/drawing/2014/main" id="{91B88FED-3320-DC23-3DDC-F54AA6E4CAC3}"/>
              </a:ext>
            </a:extLst>
          </p:cNvPr>
          <p:cNvCxnSpPr>
            <a:stCxn id="5" idx="1"/>
            <a:endCxn id="2" idx="0"/>
          </p:cNvCxnSpPr>
          <p:nvPr/>
        </p:nvCxnSpPr>
        <p:spPr>
          <a:xfrm rot="10800000" flipV="1">
            <a:off x="979614" y="3645330"/>
            <a:ext cx="849186" cy="56278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17B5895C-AE77-A3DC-06D7-C3917377D299}"/>
              </a:ext>
            </a:extLst>
          </p:cNvPr>
          <p:cNvSpPr txBox="1"/>
          <p:nvPr/>
        </p:nvSpPr>
        <p:spPr>
          <a:xfrm>
            <a:off x="2091976" y="3441994"/>
            <a:ext cx="849186" cy="369332"/>
          </a:xfrm>
          <a:prstGeom prst="rect">
            <a:avLst/>
          </a:prstGeom>
          <a:noFill/>
        </p:spPr>
        <p:txBody>
          <a:bodyPr wrap="square" rtlCol="0">
            <a:spAutoFit/>
          </a:bodyPr>
          <a:lstStyle/>
          <a:p>
            <a:r>
              <a:rPr lang="pt-BR" dirty="0"/>
              <a:t>exibe</a:t>
            </a:r>
          </a:p>
        </p:txBody>
      </p:sp>
      <p:sp>
        <p:nvSpPr>
          <p:cNvPr id="12" name="Fluxograma: Decisão 11">
            <a:extLst>
              <a:ext uri="{FF2B5EF4-FFF2-40B4-BE49-F238E27FC236}">
                <a16:creationId xmlns:a16="http://schemas.microsoft.com/office/drawing/2014/main" id="{1E1F5E88-9528-C372-D17E-647E2FA56E93}"/>
              </a:ext>
            </a:extLst>
          </p:cNvPr>
          <p:cNvSpPr/>
          <p:nvPr/>
        </p:nvSpPr>
        <p:spPr>
          <a:xfrm>
            <a:off x="4286234" y="3344819"/>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C02B0734-3158-A9A9-4447-FEA8C9112BCD}"/>
              </a:ext>
            </a:extLst>
          </p:cNvPr>
          <p:cNvSpPr txBox="1"/>
          <p:nvPr/>
        </p:nvSpPr>
        <p:spPr>
          <a:xfrm>
            <a:off x="4516048" y="3441269"/>
            <a:ext cx="849186" cy="369332"/>
          </a:xfrm>
          <a:prstGeom prst="rect">
            <a:avLst/>
          </a:prstGeom>
          <a:noFill/>
        </p:spPr>
        <p:txBody>
          <a:bodyPr wrap="square" rtlCol="0">
            <a:spAutoFit/>
          </a:bodyPr>
          <a:lstStyle/>
          <a:p>
            <a:r>
              <a:rPr lang="pt-BR" dirty="0"/>
              <a:t>passa</a:t>
            </a:r>
          </a:p>
        </p:txBody>
      </p:sp>
      <p:cxnSp>
        <p:nvCxnSpPr>
          <p:cNvPr id="19" name="Conector: Angulado 18">
            <a:extLst>
              <a:ext uri="{FF2B5EF4-FFF2-40B4-BE49-F238E27FC236}">
                <a16:creationId xmlns:a16="http://schemas.microsoft.com/office/drawing/2014/main" id="{EE7779E3-A0A5-C1BA-8987-B582C0795933}"/>
              </a:ext>
            </a:extLst>
          </p:cNvPr>
          <p:cNvCxnSpPr>
            <a:cxnSpLocks/>
            <a:stCxn id="12" idx="1"/>
          </p:cNvCxnSpPr>
          <p:nvPr/>
        </p:nvCxnSpPr>
        <p:spPr>
          <a:xfrm rot="10800000" flipV="1">
            <a:off x="3823076" y="3632336"/>
            <a:ext cx="463158" cy="5831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0" name="Conector: Angulado 29">
            <a:extLst>
              <a:ext uri="{FF2B5EF4-FFF2-40B4-BE49-F238E27FC236}">
                <a16:creationId xmlns:a16="http://schemas.microsoft.com/office/drawing/2014/main" id="{45B30AC6-7FC9-DF4C-FB81-41284D0AFC53}"/>
              </a:ext>
            </a:extLst>
          </p:cNvPr>
          <p:cNvCxnSpPr>
            <a:cxnSpLocks/>
            <a:stCxn id="12" idx="3"/>
            <a:endCxn id="6" idx="0"/>
          </p:cNvCxnSpPr>
          <p:nvPr/>
        </p:nvCxnSpPr>
        <p:spPr>
          <a:xfrm>
            <a:off x="5417450" y="3632336"/>
            <a:ext cx="410859" cy="57776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0415962D-1049-056C-87DC-734D0EA8A81A}"/>
              </a:ext>
            </a:extLst>
          </p:cNvPr>
          <p:cNvSpPr txBox="1"/>
          <p:nvPr/>
        </p:nvSpPr>
        <p:spPr>
          <a:xfrm>
            <a:off x="2982490" y="3875875"/>
            <a:ext cx="261129" cy="369332"/>
          </a:xfrm>
          <a:prstGeom prst="rect">
            <a:avLst/>
          </a:prstGeom>
          <a:noFill/>
        </p:spPr>
        <p:txBody>
          <a:bodyPr wrap="square" rtlCol="0">
            <a:spAutoFit/>
          </a:bodyPr>
          <a:lstStyle/>
          <a:p>
            <a:r>
              <a:rPr lang="pt-BR" dirty="0"/>
              <a:t>n</a:t>
            </a:r>
          </a:p>
        </p:txBody>
      </p:sp>
      <p:sp>
        <p:nvSpPr>
          <p:cNvPr id="33" name="CaixaDeTexto 32">
            <a:extLst>
              <a:ext uri="{FF2B5EF4-FFF2-40B4-BE49-F238E27FC236}">
                <a16:creationId xmlns:a16="http://schemas.microsoft.com/office/drawing/2014/main" id="{279F58E1-DF87-4BD0-EB3A-7F7B43D46EDD}"/>
              </a:ext>
            </a:extLst>
          </p:cNvPr>
          <p:cNvSpPr txBox="1"/>
          <p:nvPr/>
        </p:nvSpPr>
        <p:spPr>
          <a:xfrm>
            <a:off x="938771" y="3868949"/>
            <a:ext cx="364893" cy="369332"/>
          </a:xfrm>
          <a:prstGeom prst="rect">
            <a:avLst/>
          </a:prstGeom>
          <a:noFill/>
        </p:spPr>
        <p:txBody>
          <a:bodyPr wrap="square" rtlCol="0">
            <a:spAutoFit/>
          </a:bodyPr>
          <a:lstStyle/>
          <a:p>
            <a:r>
              <a:rPr lang="pt-BR" dirty="0"/>
              <a:t>n</a:t>
            </a:r>
          </a:p>
        </p:txBody>
      </p:sp>
      <p:sp>
        <p:nvSpPr>
          <p:cNvPr id="34" name="CaixaDeTexto 33">
            <a:extLst>
              <a:ext uri="{FF2B5EF4-FFF2-40B4-BE49-F238E27FC236}">
                <a16:creationId xmlns:a16="http://schemas.microsoft.com/office/drawing/2014/main" id="{794D5C8D-7F31-CCFB-BDE3-2353F393B07D}"/>
              </a:ext>
            </a:extLst>
          </p:cNvPr>
          <p:cNvSpPr txBox="1"/>
          <p:nvPr/>
        </p:nvSpPr>
        <p:spPr>
          <a:xfrm>
            <a:off x="5544741" y="3823749"/>
            <a:ext cx="364893" cy="369332"/>
          </a:xfrm>
          <a:prstGeom prst="rect">
            <a:avLst/>
          </a:prstGeom>
          <a:noFill/>
        </p:spPr>
        <p:txBody>
          <a:bodyPr wrap="square" rtlCol="0">
            <a:spAutoFit/>
          </a:bodyPr>
          <a:lstStyle/>
          <a:p>
            <a:r>
              <a:rPr lang="pt-BR" dirty="0"/>
              <a:t>n</a:t>
            </a:r>
          </a:p>
        </p:txBody>
      </p:sp>
      <p:sp>
        <p:nvSpPr>
          <p:cNvPr id="35" name="CaixaDeTexto 34">
            <a:extLst>
              <a:ext uri="{FF2B5EF4-FFF2-40B4-BE49-F238E27FC236}">
                <a16:creationId xmlns:a16="http://schemas.microsoft.com/office/drawing/2014/main" id="{CE0B3B16-B6F7-52FF-117F-4A58D5F192CF}"/>
              </a:ext>
            </a:extLst>
          </p:cNvPr>
          <p:cNvSpPr txBox="1"/>
          <p:nvPr/>
        </p:nvSpPr>
        <p:spPr>
          <a:xfrm>
            <a:off x="3823076" y="3899271"/>
            <a:ext cx="364893" cy="369332"/>
          </a:xfrm>
          <a:prstGeom prst="rect">
            <a:avLst/>
          </a:prstGeom>
          <a:noFill/>
        </p:spPr>
        <p:txBody>
          <a:bodyPr wrap="square" rtlCol="0">
            <a:spAutoFit/>
          </a:bodyPr>
          <a:lstStyle/>
          <a:p>
            <a:r>
              <a:rPr lang="pt-BR" dirty="0"/>
              <a:t>1</a:t>
            </a:r>
          </a:p>
        </p:txBody>
      </p:sp>
      <p:sp>
        <p:nvSpPr>
          <p:cNvPr id="31" name="CaixaDeTexto 30">
            <a:extLst>
              <a:ext uri="{FF2B5EF4-FFF2-40B4-BE49-F238E27FC236}">
                <a16:creationId xmlns:a16="http://schemas.microsoft.com/office/drawing/2014/main" id="{C9F9C29D-70B4-27D2-AE0E-3C9F8AAE1A73}"/>
              </a:ext>
            </a:extLst>
          </p:cNvPr>
          <p:cNvSpPr txBox="1"/>
          <p:nvPr/>
        </p:nvSpPr>
        <p:spPr>
          <a:xfrm>
            <a:off x="6427540" y="3447052"/>
            <a:ext cx="1024719" cy="369332"/>
          </a:xfrm>
          <a:prstGeom prst="rect">
            <a:avLst/>
          </a:prstGeom>
          <a:noFill/>
        </p:spPr>
        <p:txBody>
          <a:bodyPr wrap="square" rtlCol="0">
            <a:spAutoFit/>
          </a:bodyPr>
          <a:lstStyle/>
          <a:p>
            <a:r>
              <a:rPr lang="pt-BR" dirty="0"/>
              <a:t>localiza</a:t>
            </a:r>
          </a:p>
        </p:txBody>
      </p:sp>
      <p:cxnSp>
        <p:nvCxnSpPr>
          <p:cNvPr id="36" name="Conector: Angulado 35">
            <a:extLst>
              <a:ext uri="{FF2B5EF4-FFF2-40B4-BE49-F238E27FC236}">
                <a16:creationId xmlns:a16="http://schemas.microsoft.com/office/drawing/2014/main" id="{874F7486-1293-86CE-A517-B9FBFCA663A8}"/>
              </a:ext>
            </a:extLst>
          </p:cNvPr>
          <p:cNvCxnSpPr>
            <a:cxnSpLocks/>
            <a:stCxn id="40" idx="1"/>
          </p:cNvCxnSpPr>
          <p:nvPr/>
        </p:nvCxnSpPr>
        <p:spPr>
          <a:xfrm rot="10800000" flipV="1">
            <a:off x="6014068" y="3632335"/>
            <a:ext cx="266341" cy="57532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7" name="Conector: Angulado 36">
            <a:extLst>
              <a:ext uri="{FF2B5EF4-FFF2-40B4-BE49-F238E27FC236}">
                <a16:creationId xmlns:a16="http://schemas.microsoft.com/office/drawing/2014/main" id="{6BF5F485-8FB4-1641-86DC-CB58336AF5D8}"/>
              </a:ext>
            </a:extLst>
          </p:cNvPr>
          <p:cNvCxnSpPr>
            <a:cxnSpLocks/>
          </p:cNvCxnSpPr>
          <p:nvPr/>
        </p:nvCxnSpPr>
        <p:spPr>
          <a:xfrm rot="16200000" flipH="1">
            <a:off x="7202634" y="3794256"/>
            <a:ext cx="549967" cy="228937"/>
          </a:xfrm>
          <a:prstGeom prst="bentConnector3">
            <a:avLst>
              <a:gd name="adj1" fmla="val 292"/>
            </a:avLst>
          </a:prstGeom>
        </p:spPr>
        <p:style>
          <a:lnRef idx="1">
            <a:schemeClr val="accent1"/>
          </a:lnRef>
          <a:fillRef idx="0">
            <a:schemeClr val="accent1"/>
          </a:fillRef>
          <a:effectRef idx="0">
            <a:schemeClr val="accent1"/>
          </a:effectRef>
          <a:fontRef idx="minor">
            <a:schemeClr val="tx1"/>
          </a:fontRef>
        </p:style>
      </p:cxnSp>
      <p:sp>
        <p:nvSpPr>
          <p:cNvPr id="38" name="CaixaDeTexto 37">
            <a:extLst>
              <a:ext uri="{FF2B5EF4-FFF2-40B4-BE49-F238E27FC236}">
                <a16:creationId xmlns:a16="http://schemas.microsoft.com/office/drawing/2014/main" id="{A066C1F9-287D-80FC-84F9-6DAE6725AF79}"/>
              </a:ext>
            </a:extLst>
          </p:cNvPr>
          <p:cNvSpPr txBox="1"/>
          <p:nvPr/>
        </p:nvSpPr>
        <p:spPr>
          <a:xfrm>
            <a:off x="7217765" y="3851511"/>
            <a:ext cx="364893" cy="369332"/>
          </a:xfrm>
          <a:prstGeom prst="rect">
            <a:avLst/>
          </a:prstGeom>
          <a:noFill/>
        </p:spPr>
        <p:txBody>
          <a:bodyPr wrap="square" rtlCol="0">
            <a:spAutoFit/>
          </a:bodyPr>
          <a:lstStyle/>
          <a:p>
            <a:r>
              <a:rPr lang="pt-BR" dirty="0"/>
              <a:t>1</a:t>
            </a:r>
          </a:p>
        </p:txBody>
      </p:sp>
      <p:sp>
        <p:nvSpPr>
          <p:cNvPr id="39" name="CaixaDeTexto 38">
            <a:extLst>
              <a:ext uri="{FF2B5EF4-FFF2-40B4-BE49-F238E27FC236}">
                <a16:creationId xmlns:a16="http://schemas.microsoft.com/office/drawing/2014/main" id="{0AEBDA61-D0F6-94C6-8392-CCAADAA2BA79}"/>
              </a:ext>
            </a:extLst>
          </p:cNvPr>
          <p:cNvSpPr txBox="1"/>
          <p:nvPr/>
        </p:nvSpPr>
        <p:spPr>
          <a:xfrm>
            <a:off x="6014065" y="3825475"/>
            <a:ext cx="364893" cy="369332"/>
          </a:xfrm>
          <a:prstGeom prst="rect">
            <a:avLst/>
          </a:prstGeom>
          <a:noFill/>
        </p:spPr>
        <p:txBody>
          <a:bodyPr wrap="square" rtlCol="0">
            <a:spAutoFit/>
          </a:bodyPr>
          <a:lstStyle/>
          <a:p>
            <a:r>
              <a:rPr lang="pt-BR" dirty="0"/>
              <a:t>n</a:t>
            </a:r>
          </a:p>
        </p:txBody>
      </p:sp>
      <p:sp>
        <p:nvSpPr>
          <p:cNvPr id="40" name="Fluxograma: Decisão 39">
            <a:extLst>
              <a:ext uri="{FF2B5EF4-FFF2-40B4-BE49-F238E27FC236}">
                <a16:creationId xmlns:a16="http://schemas.microsoft.com/office/drawing/2014/main" id="{E22E8CB5-0DE9-32F5-1A79-1553BA2DF533}"/>
              </a:ext>
            </a:extLst>
          </p:cNvPr>
          <p:cNvSpPr/>
          <p:nvPr/>
        </p:nvSpPr>
        <p:spPr>
          <a:xfrm>
            <a:off x="6280408" y="3344818"/>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luxograma: Decisão 16">
            <a:extLst>
              <a:ext uri="{FF2B5EF4-FFF2-40B4-BE49-F238E27FC236}">
                <a16:creationId xmlns:a16="http://schemas.microsoft.com/office/drawing/2014/main" id="{4695768D-1EC4-264A-8A09-9B88FFCC1579}"/>
              </a:ext>
            </a:extLst>
          </p:cNvPr>
          <p:cNvSpPr/>
          <p:nvPr/>
        </p:nvSpPr>
        <p:spPr>
          <a:xfrm>
            <a:off x="8881549" y="2827604"/>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CaixaDeTexto 41">
            <a:extLst>
              <a:ext uri="{FF2B5EF4-FFF2-40B4-BE49-F238E27FC236}">
                <a16:creationId xmlns:a16="http://schemas.microsoft.com/office/drawing/2014/main" id="{E6705FA8-D1E9-96D0-D374-3B90D71202B9}"/>
              </a:ext>
            </a:extLst>
          </p:cNvPr>
          <p:cNvSpPr txBox="1"/>
          <p:nvPr/>
        </p:nvSpPr>
        <p:spPr>
          <a:xfrm>
            <a:off x="8911180" y="2923609"/>
            <a:ext cx="1050514" cy="369332"/>
          </a:xfrm>
          <a:prstGeom prst="rect">
            <a:avLst/>
          </a:prstGeom>
          <a:noFill/>
        </p:spPr>
        <p:txBody>
          <a:bodyPr wrap="square" rtlCol="0">
            <a:spAutoFit/>
          </a:bodyPr>
          <a:lstStyle/>
          <a:p>
            <a:r>
              <a:rPr lang="pt-BR" dirty="0"/>
              <a:t>dirigido</a:t>
            </a:r>
          </a:p>
        </p:txBody>
      </p:sp>
      <p:cxnSp>
        <p:nvCxnSpPr>
          <p:cNvPr id="44" name="Conector: Angulado 43">
            <a:extLst>
              <a:ext uri="{FF2B5EF4-FFF2-40B4-BE49-F238E27FC236}">
                <a16:creationId xmlns:a16="http://schemas.microsoft.com/office/drawing/2014/main" id="{6D160554-EC64-87B6-69E6-9B7F14391D2C}"/>
              </a:ext>
            </a:extLst>
          </p:cNvPr>
          <p:cNvCxnSpPr>
            <a:cxnSpLocks/>
            <a:endCxn id="42" idx="1"/>
          </p:cNvCxnSpPr>
          <p:nvPr/>
        </p:nvCxnSpPr>
        <p:spPr>
          <a:xfrm flipV="1">
            <a:off x="3381876" y="3108275"/>
            <a:ext cx="5529304" cy="1118077"/>
          </a:xfrm>
          <a:prstGeom prst="bentConnector3">
            <a:avLst>
              <a:gd name="adj1" fmla="val 5503"/>
            </a:avLst>
          </a:prstGeom>
        </p:spPr>
        <p:style>
          <a:lnRef idx="1">
            <a:schemeClr val="accent1"/>
          </a:lnRef>
          <a:fillRef idx="0">
            <a:schemeClr val="accent1"/>
          </a:fillRef>
          <a:effectRef idx="0">
            <a:schemeClr val="accent1"/>
          </a:effectRef>
          <a:fontRef idx="minor">
            <a:schemeClr val="tx1"/>
          </a:fontRef>
        </p:style>
      </p:cxnSp>
      <p:cxnSp>
        <p:nvCxnSpPr>
          <p:cNvPr id="47" name="Conector reto 46">
            <a:extLst>
              <a:ext uri="{FF2B5EF4-FFF2-40B4-BE49-F238E27FC236}">
                <a16:creationId xmlns:a16="http://schemas.microsoft.com/office/drawing/2014/main" id="{EC4CE640-33D5-FA08-1F06-9B9EE279C545}"/>
              </a:ext>
            </a:extLst>
          </p:cNvPr>
          <p:cNvCxnSpPr>
            <a:stCxn id="25" idx="0"/>
            <a:endCxn id="17" idx="2"/>
          </p:cNvCxnSpPr>
          <p:nvPr/>
        </p:nvCxnSpPr>
        <p:spPr>
          <a:xfrm flipH="1" flipV="1">
            <a:off x="9318528" y="3377570"/>
            <a:ext cx="3981" cy="8119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ector reto 48">
            <a:extLst>
              <a:ext uri="{FF2B5EF4-FFF2-40B4-BE49-F238E27FC236}">
                <a16:creationId xmlns:a16="http://schemas.microsoft.com/office/drawing/2014/main" id="{E7A64442-4953-D5A5-FA69-B98378BAE2C1}"/>
              </a:ext>
            </a:extLst>
          </p:cNvPr>
          <p:cNvCxnSpPr>
            <a:cxnSpLocks/>
            <a:stCxn id="62" idx="2"/>
            <a:endCxn id="26" idx="0"/>
          </p:cNvCxnSpPr>
          <p:nvPr/>
        </p:nvCxnSpPr>
        <p:spPr>
          <a:xfrm>
            <a:off x="11316602" y="2831634"/>
            <a:ext cx="1" cy="1357847"/>
          </a:xfrm>
          <a:prstGeom prst="line">
            <a:avLst/>
          </a:prstGeom>
        </p:spPr>
        <p:style>
          <a:lnRef idx="1">
            <a:schemeClr val="accent1"/>
          </a:lnRef>
          <a:fillRef idx="0">
            <a:schemeClr val="accent1"/>
          </a:fillRef>
          <a:effectRef idx="0">
            <a:schemeClr val="accent1"/>
          </a:effectRef>
          <a:fontRef idx="minor">
            <a:schemeClr val="tx1"/>
          </a:fontRef>
        </p:style>
      </p:cxnSp>
      <p:sp>
        <p:nvSpPr>
          <p:cNvPr id="50" name="CaixaDeTexto 49">
            <a:extLst>
              <a:ext uri="{FF2B5EF4-FFF2-40B4-BE49-F238E27FC236}">
                <a16:creationId xmlns:a16="http://schemas.microsoft.com/office/drawing/2014/main" id="{C8F9EE63-91C0-03C9-6BA3-AF247924E0A6}"/>
              </a:ext>
            </a:extLst>
          </p:cNvPr>
          <p:cNvSpPr txBox="1"/>
          <p:nvPr/>
        </p:nvSpPr>
        <p:spPr>
          <a:xfrm>
            <a:off x="11316602" y="3838760"/>
            <a:ext cx="364563" cy="369332"/>
          </a:xfrm>
          <a:prstGeom prst="rect">
            <a:avLst/>
          </a:prstGeom>
          <a:noFill/>
        </p:spPr>
        <p:txBody>
          <a:bodyPr wrap="square" rtlCol="0">
            <a:spAutoFit/>
          </a:bodyPr>
          <a:lstStyle/>
          <a:p>
            <a:r>
              <a:rPr lang="pt-BR" dirty="0"/>
              <a:t>n</a:t>
            </a:r>
          </a:p>
        </p:txBody>
      </p:sp>
      <p:sp>
        <p:nvSpPr>
          <p:cNvPr id="51" name="CaixaDeTexto 50">
            <a:extLst>
              <a:ext uri="{FF2B5EF4-FFF2-40B4-BE49-F238E27FC236}">
                <a16:creationId xmlns:a16="http://schemas.microsoft.com/office/drawing/2014/main" id="{81CE1960-B531-5559-ED25-6901A9C8F91E}"/>
              </a:ext>
            </a:extLst>
          </p:cNvPr>
          <p:cNvSpPr txBox="1"/>
          <p:nvPr/>
        </p:nvSpPr>
        <p:spPr>
          <a:xfrm>
            <a:off x="9071874" y="3842134"/>
            <a:ext cx="364563" cy="369332"/>
          </a:xfrm>
          <a:prstGeom prst="rect">
            <a:avLst/>
          </a:prstGeom>
          <a:noFill/>
        </p:spPr>
        <p:txBody>
          <a:bodyPr wrap="square" rtlCol="0">
            <a:spAutoFit/>
          </a:bodyPr>
          <a:lstStyle/>
          <a:p>
            <a:r>
              <a:rPr lang="pt-BR" dirty="0"/>
              <a:t>n</a:t>
            </a:r>
          </a:p>
        </p:txBody>
      </p:sp>
      <p:sp>
        <p:nvSpPr>
          <p:cNvPr id="52" name="CaixaDeTexto 51">
            <a:extLst>
              <a:ext uri="{FF2B5EF4-FFF2-40B4-BE49-F238E27FC236}">
                <a16:creationId xmlns:a16="http://schemas.microsoft.com/office/drawing/2014/main" id="{90D6C8B0-46E4-4FC8-1B89-627568A6BAD6}"/>
              </a:ext>
            </a:extLst>
          </p:cNvPr>
          <p:cNvSpPr txBox="1"/>
          <p:nvPr/>
        </p:nvSpPr>
        <p:spPr>
          <a:xfrm>
            <a:off x="3192208" y="3802124"/>
            <a:ext cx="364563" cy="369332"/>
          </a:xfrm>
          <a:prstGeom prst="rect">
            <a:avLst/>
          </a:prstGeom>
          <a:noFill/>
        </p:spPr>
        <p:txBody>
          <a:bodyPr wrap="square" rtlCol="0">
            <a:spAutoFit/>
          </a:bodyPr>
          <a:lstStyle/>
          <a:p>
            <a:r>
              <a:rPr lang="pt-BR" dirty="0"/>
              <a:t>n</a:t>
            </a:r>
          </a:p>
        </p:txBody>
      </p:sp>
      <p:sp>
        <p:nvSpPr>
          <p:cNvPr id="62" name="Fluxograma: Decisão 61">
            <a:extLst>
              <a:ext uri="{FF2B5EF4-FFF2-40B4-BE49-F238E27FC236}">
                <a16:creationId xmlns:a16="http://schemas.microsoft.com/office/drawing/2014/main" id="{EF063440-DE5E-4BE9-870A-236FCC21A069}"/>
              </a:ext>
            </a:extLst>
          </p:cNvPr>
          <p:cNvSpPr/>
          <p:nvPr/>
        </p:nvSpPr>
        <p:spPr>
          <a:xfrm>
            <a:off x="10879623" y="2281668"/>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CaixaDeTexto 68">
            <a:extLst>
              <a:ext uri="{FF2B5EF4-FFF2-40B4-BE49-F238E27FC236}">
                <a16:creationId xmlns:a16="http://schemas.microsoft.com/office/drawing/2014/main" id="{CE466B15-09AA-9011-D786-131B0D83DA9B}"/>
              </a:ext>
            </a:extLst>
          </p:cNvPr>
          <p:cNvSpPr txBox="1"/>
          <p:nvPr/>
        </p:nvSpPr>
        <p:spPr>
          <a:xfrm>
            <a:off x="10894596" y="2379085"/>
            <a:ext cx="1050514" cy="369332"/>
          </a:xfrm>
          <a:prstGeom prst="rect">
            <a:avLst/>
          </a:prstGeom>
          <a:noFill/>
        </p:spPr>
        <p:txBody>
          <a:bodyPr wrap="square" rtlCol="0">
            <a:spAutoFit/>
          </a:bodyPr>
          <a:lstStyle/>
          <a:p>
            <a:r>
              <a:rPr lang="pt-BR" dirty="0"/>
              <a:t>contém</a:t>
            </a:r>
          </a:p>
        </p:txBody>
      </p:sp>
      <p:cxnSp>
        <p:nvCxnSpPr>
          <p:cNvPr id="23" name="Conector: Angulado 22">
            <a:extLst>
              <a:ext uri="{FF2B5EF4-FFF2-40B4-BE49-F238E27FC236}">
                <a16:creationId xmlns:a16="http://schemas.microsoft.com/office/drawing/2014/main" id="{95CD1C7B-2C47-5F48-855D-7590FAEA0FC9}"/>
              </a:ext>
            </a:extLst>
          </p:cNvPr>
          <p:cNvCxnSpPr>
            <a:cxnSpLocks/>
          </p:cNvCxnSpPr>
          <p:nvPr/>
        </p:nvCxnSpPr>
        <p:spPr>
          <a:xfrm rot="10800000" flipV="1">
            <a:off x="3403628" y="2556651"/>
            <a:ext cx="7315300" cy="165881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41" name="CaixaDeTexto 40">
            <a:extLst>
              <a:ext uri="{FF2B5EF4-FFF2-40B4-BE49-F238E27FC236}">
                <a16:creationId xmlns:a16="http://schemas.microsoft.com/office/drawing/2014/main" id="{AF039645-28D4-CDC0-409A-C15AC1062D88}"/>
              </a:ext>
            </a:extLst>
          </p:cNvPr>
          <p:cNvSpPr txBox="1"/>
          <p:nvPr/>
        </p:nvSpPr>
        <p:spPr>
          <a:xfrm>
            <a:off x="3475673" y="3802124"/>
            <a:ext cx="364563" cy="369332"/>
          </a:xfrm>
          <a:prstGeom prst="rect">
            <a:avLst/>
          </a:prstGeom>
          <a:noFill/>
        </p:spPr>
        <p:txBody>
          <a:bodyPr wrap="square" rtlCol="0">
            <a:spAutoFit/>
          </a:bodyPr>
          <a:lstStyle/>
          <a:p>
            <a:r>
              <a:rPr lang="pt-BR" dirty="0"/>
              <a:t>n</a:t>
            </a:r>
          </a:p>
        </p:txBody>
      </p:sp>
      <p:sp>
        <p:nvSpPr>
          <p:cNvPr id="43" name="Retângulo 42">
            <a:extLst>
              <a:ext uri="{FF2B5EF4-FFF2-40B4-BE49-F238E27FC236}">
                <a16:creationId xmlns:a16="http://schemas.microsoft.com/office/drawing/2014/main" id="{92DBB1A8-E0AB-006F-F379-9367898E9238}"/>
              </a:ext>
            </a:extLst>
          </p:cNvPr>
          <p:cNvSpPr/>
          <p:nvPr/>
        </p:nvSpPr>
        <p:spPr>
          <a:xfrm>
            <a:off x="5162371" y="4157146"/>
            <a:ext cx="1328377" cy="46438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CaixaDeTexto 44">
            <a:extLst>
              <a:ext uri="{FF2B5EF4-FFF2-40B4-BE49-F238E27FC236}">
                <a16:creationId xmlns:a16="http://schemas.microsoft.com/office/drawing/2014/main" id="{B80ED2DB-B56B-5A7C-AB23-CF42A68CDB13}"/>
              </a:ext>
            </a:extLst>
          </p:cNvPr>
          <p:cNvSpPr txBox="1"/>
          <p:nvPr/>
        </p:nvSpPr>
        <p:spPr>
          <a:xfrm>
            <a:off x="518474" y="141402"/>
            <a:ext cx="3120272" cy="369332"/>
          </a:xfrm>
          <a:prstGeom prst="rect">
            <a:avLst/>
          </a:prstGeom>
          <a:noFill/>
        </p:spPr>
        <p:txBody>
          <a:bodyPr wrap="square" rtlCol="0">
            <a:spAutoFit/>
          </a:bodyPr>
          <a:lstStyle/>
          <a:p>
            <a:r>
              <a:rPr lang="pt-BR" dirty="0"/>
              <a:t>Cinema(</a:t>
            </a:r>
            <a:r>
              <a:rPr lang="pt-BR" u="sng" dirty="0"/>
              <a:t>CNPJ</a:t>
            </a:r>
            <a:r>
              <a:rPr lang="pt-BR" dirty="0"/>
              <a:t>, </a:t>
            </a:r>
            <a:r>
              <a:rPr lang="pt-BR" dirty="0" err="1"/>
              <a:t>End</a:t>
            </a:r>
            <a:r>
              <a:rPr lang="pt-BR" dirty="0"/>
              <a:t>, </a:t>
            </a:r>
            <a:r>
              <a:rPr lang="pt-BR" dirty="0" err="1"/>
              <a:t>Tel</a:t>
            </a:r>
            <a:r>
              <a:rPr lang="pt-BR" dirty="0"/>
              <a:t>)</a:t>
            </a:r>
          </a:p>
        </p:txBody>
      </p:sp>
      <p:sp>
        <p:nvSpPr>
          <p:cNvPr id="48" name="CaixaDeTexto 47">
            <a:extLst>
              <a:ext uri="{FF2B5EF4-FFF2-40B4-BE49-F238E27FC236}">
                <a16:creationId xmlns:a16="http://schemas.microsoft.com/office/drawing/2014/main" id="{980BA33F-FB2D-7C58-D35F-2A8797934CC9}"/>
              </a:ext>
            </a:extLst>
          </p:cNvPr>
          <p:cNvSpPr txBox="1"/>
          <p:nvPr/>
        </p:nvSpPr>
        <p:spPr>
          <a:xfrm>
            <a:off x="518472" y="865707"/>
            <a:ext cx="7406105" cy="369332"/>
          </a:xfrm>
          <a:prstGeom prst="rect">
            <a:avLst/>
          </a:prstGeom>
          <a:noFill/>
        </p:spPr>
        <p:txBody>
          <a:bodyPr wrap="square" rtlCol="0">
            <a:spAutoFit/>
          </a:bodyPr>
          <a:lstStyle/>
          <a:p>
            <a:r>
              <a:rPr lang="pt-BR" dirty="0"/>
              <a:t>Sala(</a:t>
            </a:r>
            <a:r>
              <a:rPr lang="pt-BR" u="sng" dirty="0" err="1"/>
              <a:t>id_sala</a:t>
            </a:r>
            <a:r>
              <a:rPr lang="pt-BR" dirty="0"/>
              <a:t>, </a:t>
            </a:r>
            <a:r>
              <a:rPr lang="pt-BR" dirty="0" err="1"/>
              <a:t>QtdeLugares</a:t>
            </a:r>
            <a:r>
              <a:rPr lang="pt-BR" dirty="0"/>
              <a:t>, </a:t>
            </a:r>
            <a:r>
              <a:rPr lang="pt-BR" dirty="0" err="1"/>
              <a:t>TipoSom</a:t>
            </a:r>
            <a:r>
              <a:rPr lang="pt-BR" dirty="0"/>
              <a:t>, Acessibilidade)</a:t>
            </a:r>
          </a:p>
        </p:txBody>
      </p:sp>
      <p:sp>
        <p:nvSpPr>
          <p:cNvPr id="53" name="CaixaDeTexto 52">
            <a:extLst>
              <a:ext uri="{FF2B5EF4-FFF2-40B4-BE49-F238E27FC236}">
                <a16:creationId xmlns:a16="http://schemas.microsoft.com/office/drawing/2014/main" id="{49AD6EEC-D3B8-1E6C-C634-1E2CBB7D54A1}"/>
              </a:ext>
            </a:extLst>
          </p:cNvPr>
          <p:cNvSpPr txBox="1"/>
          <p:nvPr/>
        </p:nvSpPr>
        <p:spPr>
          <a:xfrm>
            <a:off x="518472" y="1263441"/>
            <a:ext cx="7406105" cy="369332"/>
          </a:xfrm>
          <a:prstGeom prst="rect">
            <a:avLst/>
          </a:prstGeom>
          <a:noFill/>
        </p:spPr>
        <p:txBody>
          <a:bodyPr wrap="square" rtlCol="0">
            <a:spAutoFit/>
          </a:bodyPr>
          <a:lstStyle/>
          <a:p>
            <a:r>
              <a:rPr lang="pt-BR" dirty="0"/>
              <a:t>Diretor(</a:t>
            </a:r>
            <a:r>
              <a:rPr lang="pt-BR" u="sng" dirty="0" err="1"/>
              <a:t>id_diretor</a:t>
            </a:r>
            <a:r>
              <a:rPr lang="pt-BR" dirty="0"/>
              <a:t>, nome)</a:t>
            </a:r>
          </a:p>
        </p:txBody>
      </p:sp>
      <p:sp>
        <p:nvSpPr>
          <p:cNvPr id="54" name="CaixaDeTexto 53">
            <a:extLst>
              <a:ext uri="{FF2B5EF4-FFF2-40B4-BE49-F238E27FC236}">
                <a16:creationId xmlns:a16="http://schemas.microsoft.com/office/drawing/2014/main" id="{BC6F4584-B0DE-CABF-01A8-06606C6F55D6}"/>
              </a:ext>
            </a:extLst>
          </p:cNvPr>
          <p:cNvSpPr txBox="1"/>
          <p:nvPr/>
        </p:nvSpPr>
        <p:spPr>
          <a:xfrm>
            <a:off x="518471" y="1632773"/>
            <a:ext cx="7406105" cy="369332"/>
          </a:xfrm>
          <a:prstGeom prst="rect">
            <a:avLst/>
          </a:prstGeom>
          <a:noFill/>
        </p:spPr>
        <p:txBody>
          <a:bodyPr wrap="square" rtlCol="0">
            <a:spAutoFit/>
          </a:bodyPr>
          <a:lstStyle/>
          <a:p>
            <a:r>
              <a:rPr lang="pt-BR" dirty="0"/>
              <a:t>Elenco(</a:t>
            </a:r>
            <a:r>
              <a:rPr lang="pt-BR" u="sng" dirty="0" err="1"/>
              <a:t>id_elenco</a:t>
            </a:r>
            <a:r>
              <a:rPr lang="pt-BR" dirty="0"/>
              <a:t>, nome, papel)</a:t>
            </a:r>
          </a:p>
        </p:txBody>
      </p:sp>
      <p:sp>
        <p:nvSpPr>
          <p:cNvPr id="55" name="CaixaDeTexto 54">
            <a:extLst>
              <a:ext uri="{FF2B5EF4-FFF2-40B4-BE49-F238E27FC236}">
                <a16:creationId xmlns:a16="http://schemas.microsoft.com/office/drawing/2014/main" id="{EF289724-4024-A2C8-7F73-923D7667CEDB}"/>
              </a:ext>
            </a:extLst>
          </p:cNvPr>
          <p:cNvSpPr txBox="1"/>
          <p:nvPr/>
        </p:nvSpPr>
        <p:spPr>
          <a:xfrm>
            <a:off x="518473" y="469884"/>
            <a:ext cx="7406105" cy="369332"/>
          </a:xfrm>
          <a:prstGeom prst="rect">
            <a:avLst/>
          </a:prstGeom>
          <a:noFill/>
        </p:spPr>
        <p:txBody>
          <a:bodyPr wrap="square" rtlCol="0">
            <a:spAutoFit/>
          </a:bodyPr>
          <a:lstStyle/>
          <a:p>
            <a:r>
              <a:rPr lang="pt-BR" dirty="0"/>
              <a:t>Filme(</a:t>
            </a:r>
            <a:r>
              <a:rPr lang="pt-BR" u="sng" dirty="0" err="1"/>
              <a:t>id_filme</a:t>
            </a:r>
            <a:r>
              <a:rPr lang="pt-BR" dirty="0"/>
              <a:t>, </a:t>
            </a:r>
            <a:r>
              <a:rPr lang="pt-BR" dirty="0" err="1"/>
              <a:t>TitBrasil</a:t>
            </a:r>
            <a:r>
              <a:rPr lang="pt-BR" dirty="0"/>
              <a:t>, </a:t>
            </a:r>
            <a:r>
              <a:rPr lang="pt-BR" dirty="0" err="1"/>
              <a:t>TitOrig</a:t>
            </a:r>
            <a:r>
              <a:rPr lang="pt-BR" dirty="0"/>
              <a:t>, Idioma, Sinopse, </a:t>
            </a:r>
            <a:r>
              <a:rPr lang="pt-BR" dirty="0" err="1"/>
              <a:t>Genero</a:t>
            </a:r>
            <a:r>
              <a:rPr lang="pt-BR" dirty="0"/>
              <a:t>)</a:t>
            </a:r>
          </a:p>
        </p:txBody>
      </p:sp>
      <p:sp>
        <p:nvSpPr>
          <p:cNvPr id="56" name="CaixaDeTexto 55">
            <a:extLst>
              <a:ext uri="{FF2B5EF4-FFF2-40B4-BE49-F238E27FC236}">
                <a16:creationId xmlns:a16="http://schemas.microsoft.com/office/drawing/2014/main" id="{D3D8A757-E895-D852-D13D-1593C2C60379}"/>
              </a:ext>
            </a:extLst>
          </p:cNvPr>
          <p:cNvSpPr txBox="1"/>
          <p:nvPr/>
        </p:nvSpPr>
        <p:spPr>
          <a:xfrm>
            <a:off x="7217765" y="584778"/>
            <a:ext cx="3817041" cy="1077218"/>
          </a:xfrm>
          <a:prstGeom prst="rect">
            <a:avLst/>
          </a:prstGeom>
          <a:noFill/>
        </p:spPr>
        <p:txBody>
          <a:bodyPr wrap="square" rtlCol="0">
            <a:spAutoFit/>
          </a:bodyPr>
          <a:lstStyle/>
          <a:p>
            <a:r>
              <a:rPr lang="pt-BR" sz="3200" dirty="0">
                <a:highlight>
                  <a:srgbClr val="FFFF00"/>
                </a:highlight>
              </a:rPr>
              <a:t>MAPEANDO AS ENTIDADES FORTES</a:t>
            </a:r>
          </a:p>
        </p:txBody>
      </p:sp>
    </p:spTree>
    <p:extLst>
      <p:ext uri="{BB962C8B-B14F-4D97-AF65-F5344CB8AC3E}">
        <p14:creationId xmlns:p14="http://schemas.microsoft.com/office/powerpoint/2010/main" val="1845829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30FD02-42CB-8CAA-467E-3661A411D873}"/>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4" name="CaixaDeTexto 3">
            <a:extLst>
              <a:ext uri="{FF2B5EF4-FFF2-40B4-BE49-F238E27FC236}">
                <a16:creationId xmlns:a16="http://schemas.microsoft.com/office/drawing/2014/main" id="{35D6A63B-D3A2-D3AB-FFFD-92FD890E1AD7}"/>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6" name="CaixaDeTexto 5">
            <a:extLst>
              <a:ext uri="{FF2B5EF4-FFF2-40B4-BE49-F238E27FC236}">
                <a16:creationId xmlns:a16="http://schemas.microsoft.com/office/drawing/2014/main" id="{3B828840-CDF7-122B-D05F-B60DE22D0A8F}"/>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highlight>
                  <a:srgbClr val="FFFF00"/>
                </a:highlight>
              </a:rPr>
              <a:t>Sessão</a:t>
            </a:r>
          </a:p>
        </p:txBody>
      </p:sp>
      <p:sp>
        <p:nvSpPr>
          <p:cNvPr id="7" name="CaixaDeTexto 6">
            <a:extLst>
              <a:ext uri="{FF2B5EF4-FFF2-40B4-BE49-F238E27FC236}">
                <a16:creationId xmlns:a16="http://schemas.microsoft.com/office/drawing/2014/main" id="{AA2B8208-5AC9-F0F4-0ACC-DEFC82722907}"/>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cxnSp>
        <p:nvCxnSpPr>
          <p:cNvPr id="10" name="Conector reto 9">
            <a:extLst>
              <a:ext uri="{FF2B5EF4-FFF2-40B4-BE49-F238E27FC236}">
                <a16:creationId xmlns:a16="http://schemas.microsoft.com/office/drawing/2014/main" id="{25858B0C-A9E8-6884-F912-B6C196F68B83}"/>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D42337CD-9D76-AE18-F87D-4F2547CD0BF7}"/>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AFEDD4E-54EA-A604-5617-6A3AE13FDF74}"/>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CDED82E5-4ED8-040E-C873-EC18A1492A84}"/>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u="sng" dirty="0"/>
              <a:t>CNPJ</a:t>
            </a:r>
          </a:p>
          <a:p>
            <a:pPr marL="285750" indent="-285750">
              <a:buFontTx/>
              <a:buChar char="-"/>
            </a:pPr>
            <a:r>
              <a:rPr lang="pt-BR" dirty="0"/>
              <a:t>Endereço</a:t>
            </a:r>
          </a:p>
          <a:p>
            <a:pPr marL="285750" indent="-285750">
              <a:buFontTx/>
              <a:buChar char="-"/>
            </a:pPr>
            <a:r>
              <a:rPr lang="pt-BR" dirty="0"/>
              <a:t>Telefone</a:t>
            </a:r>
          </a:p>
        </p:txBody>
      </p:sp>
      <p:sp>
        <p:nvSpPr>
          <p:cNvPr id="9" name="CaixaDeTexto 8">
            <a:extLst>
              <a:ext uri="{FF2B5EF4-FFF2-40B4-BE49-F238E27FC236}">
                <a16:creationId xmlns:a16="http://schemas.microsoft.com/office/drawing/2014/main" id="{2008D058-1C9A-1B76-3D59-C7018E4809DE}"/>
              </a:ext>
            </a:extLst>
          </p:cNvPr>
          <p:cNvSpPr txBox="1"/>
          <p:nvPr/>
        </p:nvSpPr>
        <p:spPr>
          <a:xfrm>
            <a:off x="2025991" y="4637782"/>
            <a:ext cx="3266390" cy="1754326"/>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a:p>
            <a:pPr marL="285750" indent="-285750">
              <a:buFontTx/>
              <a:buChar char="-"/>
            </a:pPr>
            <a:r>
              <a:rPr lang="pt-BR" u="sng" dirty="0" err="1"/>
              <a:t>id_filme</a:t>
            </a:r>
            <a:endParaRPr lang="pt-BR" u="sng" dirty="0"/>
          </a:p>
        </p:txBody>
      </p:sp>
      <p:sp>
        <p:nvSpPr>
          <p:cNvPr id="14" name="CaixaDeTexto 13">
            <a:extLst>
              <a:ext uri="{FF2B5EF4-FFF2-40B4-BE49-F238E27FC236}">
                <a16:creationId xmlns:a16="http://schemas.microsoft.com/office/drawing/2014/main" id="{B54F5914-782C-A8A9-2724-8A1E3753800E}"/>
              </a:ext>
            </a:extLst>
          </p:cNvPr>
          <p:cNvSpPr txBox="1"/>
          <p:nvPr/>
        </p:nvSpPr>
        <p:spPr>
          <a:xfrm>
            <a:off x="6637454" y="4677609"/>
            <a:ext cx="1751816" cy="1477328"/>
          </a:xfrm>
          <a:prstGeom prst="rect">
            <a:avLst/>
          </a:prstGeom>
          <a:noFill/>
        </p:spPr>
        <p:txBody>
          <a:bodyPr wrap="square" rtlCol="0">
            <a:spAutoFit/>
          </a:bodyPr>
          <a:lstStyle/>
          <a:p>
            <a:pPr marL="285750" indent="-285750">
              <a:buFontTx/>
              <a:buChar char="-"/>
            </a:pPr>
            <a:r>
              <a:rPr lang="pt-BR" dirty="0"/>
              <a:t>N° de lugares</a:t>
            </a:r>
          </a:p>
          <a:p>
            <a:pPr marL="285750" indent="-285750">
              <a:buFontTx/>
              <a:buChar char="-"/>
            </a:pPr>
            <a:r>
              <a:rPr lang="pt-BR" dirty="0"/>
              <a:t>Tipo de som</a:t>
            </a:r>
          </a:p>
          <a:p>
            <a:pPr marL="285750" indent="-285750">
              <a:buFontTx/>
              <a:buChar char="-"/>
            </a:pPr>
            <a:r>
              <a:rPr lang="pt-BR" dirty="0"/>
              <a:t>Acesso a deficientes</a:t>
            </a:r>
          </a:p>
          <a:p>
            <a:pPr marL="285750" indent="-285750">
              <a:buFontTx/>
              <a:buChar char="-"/>
            </a:pPr>
            <a:r>
              <a:rPr lang="pt-BR" u="sng" dirty="0" err="1"/>
              <a:t>id_sala</a:t>
            </a:r>
            <a:endParaRPr lang="pt-BR" u="sng" dirty="0"/>
          </a:p>
        </p:txBody>
      </p:sp>
      <p:sp>
        <p:nvSpPr>
          <p:cNvPr id="16" name="CaixaDeTexto 15">
            <a:extLst>
              <a:ext uri="{FF2B5EF4-FFF2-40B4-BE49-F238E27FC236}">
                <a16:creationId xmlns:a16="http://schemas.microsoft.com/office/drawing/2014/main" id="{E99EEB24-7D19-9DE5-B6D1-8BE8A510D588}"/>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22" name="Conector reto 21">
            <a:extLst>
              <a:ext uri="{FF2B5EF4-FFF2-40B4-BE49-F238E27FC236}">
                <a16:creationId xmlns:a16="http://schemas.microsoft.com/office/drawing/2014/main" id="{0BA7B12F-0042-518E-2C6B-271E476A0907}"/>
              </a:ext>
            </a:extLst>
          </p:cNvPr>
          <p:cNvCxnSpPr>
            <a:cxnSpLocks/>
          </p:cNvCxnSpPr>
          <p:nvPr/>
        </p:nvCxnSpPr>
        <p:spPr>
          <a:xfrm>
            <a:off x="8326216" y="4083597"/>
            <a:ext cx="0" cy="2623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F66F5879-07F5-24F3-78F6-D8885228146B}"/>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E634E543-5672-A1D9-1F01-48A88CF5E8B2}"/>
              </a:ext>
            </a:extLst>
          </p:cNvPr>
          <p:cNvSpPr txBox="1"/>
          <p:nvPr/>
        </p:nvSpPr>
        <p:spPr>
          <a:xfrm>
            <a:off x="8691108" y="4189481"/>
            <a:ext cx="1262802" cy="369332"/>
          </a:xfrm>
          <a:prstGeom prst="rect">
            <a:avLst/>
          </a:prstGeom>
          <a:noFill/>
          <a:ln>
            <a:solidFill>
              <a:schemeClr val="tx1"/>
            </a:solidFill>
          </a:ln>
        </p:spPr>
        <p:txBody>
          <a:bodyPr wrap="square" rtlCol="0">
            <a:spAutoFit/>
          </a:bodyPr>
          <a:lstStyle/>
          <a:p>
            <a:pPr algn="ctr"/>
            <a:r>
              <a:rPr lang="pt-BR" dirty="0"/>
              <a:t>Diretor</a:t>
            </a:r>
          </a:p>
        </p:txBody>
      </p:sp>
      <p:sp>
        <p:nvSpPr>
          <p:cNvPr id="26" name="CaixaDeTexto 25">
            <a:extLst>
              <a:ext uri="{FF2B5EF4-FFF2-40B4-BE49-F238E27FC236}">
                <a16:creationId xmlns:a16="http://schemas.microsoft.com/office/drawing/2014/main" id="{668D7A6A-5762-B31F-54EA-DC79AB3E1EF5}"/>
              </a:ext>
            </a:extLst>
          </p:cNvPr>
          <p:cNvSpPr txBox="1"/>
          <p:nvPr/>
        </p:nvSpPr>
        <p:spPr>
          <a:xfrm>
            <a:off x="10791345" y="4189481"/>
            <a:ext cx="1050515" cy="369332"/>
          </a:xfrm>
          <a:prstGeom prst="rect">
            <a:avLst/>
          </a:prstGeom>
          <a:noFill/>
          <a:ln>
            <a:solidFill>
              <a:schemeClr val="tx1"/>
            </a:solidFill>
          </a:ln>
        </p:spPr>
        <p:txBody>
          <a:bodyPr wrap="square" rtlCol="0">
            <a:spAutoFit/>
          </a:bodyPr>
          <a:lstStyle/>
          <a:p>
            <a:pPr algn="ctr"/>
            <a:r>
              <a:rPr lang="pt-BR" dirty="0"/>
              <a:t>Elenco</a:t>
            </a:r>
          </a:p>
        </p:txBody>
      </p:sp>
      <p:cxnSp>
        <p:nvCxnSpPr>
          <p:cNvPr id="27" name="Conector reto 26">
            <a:extLst>
              <a:ext uri="{FF2B5EF4-FFF2-40B4-BE49-F238E27FC236}">
                <a16:creationId xmlns:a16="http://schemas.microsoft.com/office/drawing/2014/main" id="{D74799A3-56C7-4706-19BE-1924D10991BE}"/>
              </a:ext>
            </a:extLst>
          </p:cNvPr>
          <p:cNvCxnSpPr>
            <a:cxnSpLocks/>
          </p:cNvCxnSpPr>
          <p:nvPr/>
        </p:nvCxnSpPr>
        <p:spPr>
          <a:xfrm>
            <a:off x="10372627"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30593127-4791-5209-092E-4720ACFFB238}"/>
              </a:ext>
            </a:extLst>
          </p:cNvPr>
          <p:cNvSpPr txBox="1"/>
          <p:nvPr/>
        </p:nvSpPr>
        <p:spPr>
          <a:xfrm>
            <a:off x="8378052" y="4671229"/>
            <a:ext cx="1751816" cy="646331"/>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u="sng" dirty="0" err="1"/>
              <a:t>id_diretor</a:t>
            </a:r>
            <a:endParaRPr lang="pt-BR" u="sng" dirty="0"/>
          </a:p>
        </p:txBody>
      </p:sp>
      <p:sp>
        <p:nvSpPr>
          <p:cNvPr id="29" name="CaixaDeTexto 28">
            <a:extLst>
              <a:ext uri="{FF2B5EF4-FFF2-40B4-BE49-F238E27FC236}">
                <a16:creationId xmlns:a16="http://schemas.microsoft.com/office/drawing/2014/main" id="{F40F2788-96DA-CF46-A623-5460991ACACB}"/>
              </a:ext>
            </a:extLst>
          </p:cNvPr>
          <p:cNvSpPr txBox="1"/>
          <p:nvPr/>
        </p:nvSpPr>
        <p:spPr>
          <a:xfrm>
            <a:off x="10511282" y="4656453"/>
            <a:ext cx="1751816" cy="923330"/>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dirty="0"/>
              <a:t>Papel</a:t>
            </a:r>
          </a:p>
          <a:p>
            <a:pPr marL="285750" indent="-285750">
              <a:buFontTx/>
              <a:buChar char="-"/>
            </a:pPr>
            <a:r>
              <a:rPr lang="pt-BR" u="sng" dirty="0" err="1"/>
              <a:t>id_elenco</a:t>
            </a:r>
            <a:endParaRPr lang="pt-BR" u="sng" dirty="0"/>
          </a:p>
        </p:txBody>
      </p:sp>
      <p:sp>
        <p:nvSpPr>
          <p:cNvPr id="5" name="Fluxograma: Decisão 4">
            <a:extLst>
              <a:ext uri="{FF2B5EF4-FFF2-40B4-BE49-F238E27FC236}">
                <a16:creationId xmlns:a16="http://schemas.microsoft.com/office/drawing/2014/main" id="{B9CA9E2B-D81F-6950-D069-B30CB5B46E43}"/>
              </a:ext>
            </a:extLst>
          </p:cNvPr>
          <p:cNvSpPr/>
          <p:nvPr/>
        </p:nvSpPr>
        <p:spPr>
          <a:xfrm>
            <a:off x="1828800" y="3357813"/>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Angulado 17">
            <a:extLst>
              <a:ext uri="{FF2B5EF4-FFF2-40B4-BE49-F238E27FC236}">
                <a16:creationId xmlns:a16="http://schemas.microsoft.com/office/drawing/2014/main" id="{40F205C2-203F-FD46-A7D9-2C4A0DC3C25B}"/>
              </a:ext>
            </a:extLst>
          </p:cNvPr>
          <p:cNvCxnSpPr>
            <a:cxnSpLocks/>
            <a:stCxn id="5" idx="3"/>
          </p:cNvCxnSpPr>
          <p:nvPr/>
        </p:nvCxnSpPr>
        <p:spPr>
          <a:xfrm>
            <a:off x="2960016" y="3645330"/>
            <a:ext cx="248510" cy="59295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Conector: Angulado 19">
            <a:extLst>
              <a:ext uri="{FF2B5EF4-FFF2-40B4-BE49-F238E27FC236}">
                <a16:creationId xmlns:a16="http://schemas.microsoft.com/office/drawing/2014/main" id="{91B88FED-3320-DC23-3DDC-F54AA6E4CAC3}"/>
              </a:ext>
            </a:extLst>
          </p:cNvPr>
          <p:cNvCxnSpPr>
            <a:stCxn id="5" idx="1"/>
            <a:endCxn id="2" idx="0"/>
          </p:cNvCxnSpPr>
          <p:nvPr/>
        </p:nvCxnSpPr>
        <p:spPr>
          <a:xfrm rot="10800000" flipV="1">
            <a:off x="979614" y="3645330"/>
            <a:ext cx="849186" cy="56278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17B5895C-AE77-A3DC-06D7-C3917377D299}"/>
              </a:ext>
            </a:extLst>
          </p:cNvPr>
          <p:cNvSpPr txBox="1"/>
          <p:nvPr/>
        </p:nvSpPr>
        <p:spPr>
          <a:xfrm>
            <a:off x="2091976" y="3441994"/>
            <a:ext cx="849186" cy="369332"/>
          </a:xfrm>
          <a:prstGeom prst="rect">
            <a:avLst/>
          </a:prstGeom>
          <a:noFill/>
        </p:spPr>
        <p:txBody>
          <a:bodyPr wrap="square" rtlCol="0">
            <a:spAutoFit/>
          </a:bodyPr>
          <a:lstStyle/>
          <a:p>
            <a:r>
              <a:rPr lang="pt-BR" dirty="0"/>
              <a:t>exibe</a:t>
            </a:r>
          </a:p>
        </p:txBody>
      </p:sp>
      <p:sp>
        <p:nvSpPr>
          <p:cNvPr id="12" name="Fluxograma: Decisão 11">
            <a:extLst>
              <a:ext uri="{FF2B5EF4-FFF2-40B4-BE49-F238E27FC236}">
                <a16:creationId xmlns:a16="http://schemas.microsoft.com/office/drawing/2014/main" id="{1E1F5E88-9528-C372-D17E-647E2FA56E93}"/>
              </a:ext>
            </a:extLst>
          </p:cNvPr>
          <p:cNvSpPr/>
          <p:nvPr/>
        </p:nvSpPr>
        <p:spPr>
          <a:xfrm>
            <a:off x="4286234" y="3344819"/>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C02B0734-3158-A9A9-4447-FEA8C9112BCD}"/>
              </a:ext>
            </a:extLst>
          </p:cNvPr>
          <p:cNvSpPr txBox="1"/>
          <p:nvPr/>
        </p:nvSpPr>
        <p:spPr>
          <a:xfrm>
            <a:off x="4516048" y="3441269"/>
            <a:ext cx="849186" cy="369332"/>
          </a:xfrm>
          <a:prstGeom prst="rect">
            <a:avLst/>
          </a:prstGeom>
          <a:noFill/>
        </p:spPr>
        <p:txBody>
          <a:bodyPr wrap="square" rtlCol="0">
            <a:spAutoFit/>
          </a:bodyPr>
          <a:lstStyle/>
          <a:p>
            <a:r>
              <a:rPr lang="pt-BR" dirty="0"/>
              <a:t>passa</a:t>
            </a:r>
          </a:p>
        </p:txBody>
      </p:sp>
      <p:cxnSp>
        <p:nvCxnSpPr>
          <p:cNvPr id="19" name="Conector: Angulado 18">
            <a:extLst>
              <a:ext uri="{FF2B5EF4-FFF2-40B4-BE49-F238E27FC236}">
                <a16:creationId xmlns:a16="http://schemas.microsoft.com/office/drawing/2014/main" id="{EE7779E3-A0A5-C1BA-8987-B582C0795933}"/>
              </a:ext>
            </a:extLst>
          </p:cNvPr>
          <p:cNvCxnSpPr>
            <a:cxnSpLocks/>
            <a:stCxn id="12" idx="1"/>
          </p:cNvCxnSpPr>
          <p:nvPr/>
        </p:nvCxnSpPr>
        <p:spPr>
          <a:xfrm rot="10800000" flipV="1">
            <a:off x="3823076" y="3632336"/>
            <a:ext cx="463158" cy="5831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0" name="Conector: Angulado 29">
            <a:extLst>
              <a:ext uri="{FF2B5EF4-FFF2-40B4-BE49-F238E27FC236}">
                <a16:creationId xmlns:a16="http://schemas.microsoft.com/office/drawing/2014/main" id="{45B30AC6-7FC9-DF4C-FB81-41284D0AFC53}"/>
              </a:ext>
            </a:extLst>
          </p:cNvPr>
          <p:cNvCxnSpPr>
            <a:cxnSpLocks/>
            <a:stCxn id="12" idx="3"/>
            <a:endCxn id="6" idx="0"/>
          </p:cNvCxnSpPr>
          <p:nvPr/>
        </p:nvCxnSpPr>
        <p:spPr>
          <a:xfrm>
            <a:off x="5417450" y="3632336"/>
            <a:ext cx="410859" cy="57776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0415962D-1049-056C-87DC-734D0EA8A81A}"/>
              </a:ext>
            </a:extLst>
          </p:cNvPr>
          <p:cNvSpPr txBox="1"/>
          <p:nvPr/>
        </p:nvSpPr>
        <p:spPr>
          <a:xfrm>
            <a:off x="2982490" y="3875875"/>
            <a:ext cx="261129" cy="369332"/>
          </a:xfrm>
          <a:prstGeom prst="rect">
            <a:avLst/>
          </a:prstGeom>
          <a:noFill/>
        </p:spPr>
        <p:txBody>
          <a:bodyPr wrap="square" rtlCol="0">
            <a:spAutoFit/>
          </a:bodyPr>
          <a:lstStyle/>
          <a:p>
            <a:r>
              <a:rPr lang="pt-BR" dirty="0"/>
              <a:t>n</a:t>
            </a:r>
          </a:p>
        </p:txBody>
      </p:sp>
      <p:sp>
        <p:nvSpPr>
          <p:cNvPr id="33" name="CaixaDeTexto 32">
            <a:extLst>
              <a:ext uri="{FF2B5EF4-FFF2-40B4-BE49-F238E27FC236}">
                <a16:creationId xmlns:a16="http://schemas.microsoft.com/office/drawing/2014/main" id="{279F58E1-DF87-4BD0-EB3A-7F7B43D46EDD}"/>
              </a:ext>
            </a:extLst>
          </p:cNvPr>
          <p:cNvSpPr txBox="1"/>
          <p:nvPr/>
        </p:nvSpPr>
        <p:spPr>
          <a:xfrm>
            <a:off x="938771" y="3868949"/>
            <a:ext cx="364893" cy="369332"/>
          </a:xfrm>
          <a:prstGeom prst="rect">
            <a:avLst/>
          </a:prstGeom>
          <a:noFill/>
        </p:spPr>
        <p:txBody>
          <a:bodyPr wrap="square" rtlCol="0">
            <a:spAutoFit/>
          </a:bodyPr>
          <a:lstStyle/>
          <a:p>
            <a:r>
              <a:rPr lang="pt-BR" dirty="0"/>
              <a:t>n</a:t>
            </a:r>
          </a:p>
        </p:txBody>
      </p:sp>
      <p:sp>
        <p:nvSpPr>
          <p:cNvPr id="34" name="CaixaDeTexto 33">
            <a:extLst>
              <a:ext uri="{FF2B5EF4-FFF2-40B4-BE49-F238E27FC236}">
                <a16:creationId xmlns:a16="http://schemas.microsoft.com/office/drawing/2014/main" id="{794D5C8D-7F31-CCFB-BDE3-2353F393B07D}"/>
              </a:ext>
            </a:extLst>
          </p:cNvPr>
          <p:cNvSpPr txBox="1"/>
          <p:nvPr/>
        </p:nvSpPr>
        <p:spPr>
          <a:xfrm>
            <a:off x="5544741" y="3823749"/>
            <a:ext cx="364893" cy="369332"/>
          </a:xfrm>
          <a:prstGeom prst="rect">
            <a:avLst/>
          </a:prstGeom>
          <a:noFill/>
        </p:spPr>
        <p:txBody>
          <a:bodyPr wrap="square" rtlCol="0">
            <a:spAutoFit/>
          </a:bodyPr>
          <a:lstStyle/>
          <a:p>
            <a:r>
              <a:rPr lang="pt-BR" dirty="0"/>
              <a:t>n</a:t>
            </a:r>
          </a:p>
        </p:txBody>
      </p:sp>
      <p:sp>
        <p:nvSpPr>
          <p:cNvPr id="35" name="CaixaDeTexto 34">
            <a:extLst>
              <a:ext uri="{FF2B5EF4-FFF2-40B4-BE49-F238E27FC236}">
                <a16:creationId xmlns:a16="http://schemas.microsoft.com/office/drawing/2014/main" id="{CE0B3B16-B6F7-52FF-117F-4A58D5F192CF}"/>
              </a:ext>
            </a:extLst>
          </p:cNvPr>
          <p:cNvSpPr txBox="1"/>
          <p:nvPr/>
        </p:nvSpPr>
        <p:spPr>
          <a:xfrm>
            <a:off x="3823076" y="3899271"/>
            <a:ext cx="364893" cy="369332"/>
          </a:xfrm>
          <a:prstGeom prst="rect">
            <a:avLst/>
          </a:prstGeom>
          <a:noFill/>
        </p:spPr>
        <p:txBody>
          <a:bodyPr wrap="square" rtlCol="0">
            <a:spAutoFit/>
          </a:bodyPr>
          <a:lstStyle/>
          <a:p>
            <a:r>
              <a:rPr lang="pt-BR" dirty="0"/>
              <a:t>1</a:t>
            </a:r>
          </a:p>
        </p:txBody>
      </p:sp>
      <p:sp>
        <p:nvSpPr>
          <p:cNvPr id="31" name="CaixaDeTexto 30">
            <a:extLst>
              <a:ext uri="{FF2B5EF4-FFF2-40B4-BE49-F238E27FC236}">
                <a16:creationId xmlns:a16="http://schemas.microsoft.com/office/drawing/2014/main" id="{C9F9C29D-70B4-27D2-AE0E-3C9F8AAE1A73}"/>
              </a:ext>
            </a:extLst>
          </p:cNvPr>
          <p:cNvSpPr txBox="1"/>
          <p:nvPr/>
        </p:nvSpPr>
        <p:spPr>
          <a:xfrm>
            <a:off x="6427540" y="3447052"/>
            <a:ext cx="1024719" cy="369332"/>
          </a:xfrm>
          <a:prstGeom prst="rect">
            <a:avLst/>
          </a:prstGeom>
          <a:noFill/>
        </p:spPr>
        <p:txBody>
          <a:bodyPr wrap="square" rtlCol="0">
            <a:spAutoFit/>
          </a:bodyPr>
          <a:lstStyle/>
          <a:p>
            <a:r>
              <a:rPr lang="pt-BR" dirty="0"/>
              <a:t>localiza</a:t>
            </a:r>
          </a:p>
        </p:txBody>
      </p:sp>
      <p:cxnSp>
        <p:nvCxnSpPr>
          <p:cNvPr id="36" name="Conector: Angulado 35">
            <a:extLst>
              <a:ext uri="{FF2B5EF4-FFF2-40B4-BE49-F238E27FC236}">
                <a16:creationId xmlns:a16="http://schemas.microsoft.com/office/drawing/2014/main" id="{874F7486-1293-86CE-A517-B9FBFCA663A8}"/>
              </a:ext>
            </a:extLst>
          </p:cNvPr>
          <p:cNvCxnSpPr>
            <a:cxnSpLocks/>
            <a:stCxn id="40" idx="1"/>
          </p:cNvCxnSpPr>
          <p:nvPr/>
        </p:nvCxnSpPr>
        <p:spPr>
          <a:xfrm rot="10800000" flipV="1">
            <a:off x="6014068" y="3632335"/>
            <a:ext cx="266341" cy="57532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7" name="Conector: Angulado 36">
            <a:extLst>
              <a:ext uri="{FF2B5EF4-FFF2-40B4-BE49-F238E27FC236}">
                <a16:creationId xmlns:a16="http://schemas.microsoft.com/office/drawing/2014/main" id="{6BF5F485-8FB4-1641-86DC-CB58336AF5D8}"/>
              </a:ext>
            </a:extLst>
          </p:cNvPr>
          <p:cNvCxnSpPr>
            <a:cxnSpLocks/>
          </p:cNvCxnSpPr>
          <p:nvPr/>
        </p:nvCxnSpPr>
        <p:spPr>
          <a:xfrm rot="16200000" flipH="1">
            <a:off x="7202634" y="3794256"/>
            <a:ext cx="549967" cy="228937"/>
          </a:xfrm>
          <a:prstGeom prst="bentConnector3">
            <a:avLst>
              <a:gd name="adj1" fmla="val 292"/>
            </a:avLst>
          </a:prstGeom>
        </p:spPr>
        <p:style>
          <a:lnRef idx="1">
            <a:schemeClr val="accent1"/>
          </a:lnRef>
          <a:fillRef idx="0">
            <a:schemeClr val="accent1"/>
          </a:fillRef>
          <a:effectRef idx="0">
            <a:schemeClr val="accent1"/>
          </a:effectRef>
          <a:fontRef idx="minor">
            <a:schemeClr val="tx1"/>
          </a:fontRef>
        </p:style>
      </p:cxnSp>
      <p:sp>
        <p:nvSpPr>
          <p:cNvPr id="38" name="CaixaDeTexto 37">
            <a:extLst>
              <a:ext uri="{FF2B5EF4-FFF2-40B4-BE49-F238E27FC236}">
                <a16:creationId xmlns:a16="http://schemas.microsoft.com/office/drawing/2014/main" id="{A066C1F9-287D-80FC-84F9-6DAE6725AF79}"/>
              </a:ext>
            </a:extLst>
          </p:cNvPr>
          <p:cNvSpPr txBox="1"/>
          <p:nvPr/>
        </p:nvSpPr>
        <p:spPr>
          <a:xfrm>
            <a:off x="7217765" y="3851511"/>
            <a:ext cx="364893" cy="369332"/>
          </a:xfrm>
          <a:prstGeom prst="rect">
            <a:avLst/>
          </a:prstGeom>
          <a:noFill/>
        </p:spPr>
        <p:txBody>
          <a:bodyPr wrap="square" rtlCol="0">
            <a:spAutoFit/>
          </a:bodyPr>
          <a:lstStyle/>
          <a:p>
            <a:r>
              <a:rPr lang="pt-BR" dirty="0"/>
              <a:t>1</a:t>
            </a:r>
          </a:p>
        </p:txBody>
      </p:sp>
      <p:sp>
        <p:nvSpPr>
          <p:cNvPr id="39" name="CaixaDeTexto 38">
            <a:extLst>
              <a:ext uri="{FF2B5EF4-FFF2-40B4-BE49-F238E27FC236}">
                <a16:creationId xmlns:a16="http://schemas.microsoft.com/office/drawing/2014/main" id="{0AEBDA61-D0F6-94C6-8392-CCAADAA2BA79}"/>
              </a:ext>
            </a:extLst>
          </p:cNvPr>
          <p:cNvSpPr txBox="1"/>
          <p:nvPr/>
        </p:nvSpPr>
        <p:spPr>
          <a:xfrm>
            <a:off x="6014065" y="3825475"/>
            <a:ext cx="364893" cy="369332"/>
          </a:xfrm>
          <a:prstGeom prst="rect">
            <a:avLst/>
          </a:prstGeom>
          <a:noFill/>
        </p:spPr>
        <p:txBody>
          <a:bodyPr wrap="square" rtlCol="0">
            <a:spAutoFit/>
          </a:bodyPr>
          <a:lstStyle/>
          <a:p>
            <a:r>
              <a:rPr lang="pt-BR" dirty="0"/>
              <a:t>n</a:t>
            </a:r>
          </a:p>
        </p:txBody>
      </p:sp>
      <p:sp>
        <p:nvSpPr>
          <p:cNvPr id="40" name="Fluxograma: Decisão 39">
            <a:extLst>
              <a:ext uri="{FF2B5EF4-FFF2-40B4-BE49-F238E27FC236}">
                <a16:creationId xmlns:a16="http://schemas.microsoft.com/office/drawing/2014/main" id="{E22E8CB5-0DE9-32F5-1A79-1553BA2DF533}"/>
              </a:ext>
            </a:extLst>
          </p:cNvPr>
          <p:cNvSpPr/>
          <p:nvPr/>
        </p:nvSpPr>
        <p:spPr>
          <a:xfrm>
            <a:off x="6280408" y="3344818"/>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luxograma: Decisão 16">
            <a:extLst>
              <a:ext uri="{FF2B5EF4-FFF2-40B4-BE49-F238E27FC236}">
                <a16:creationId xmlns:a16="http://schemas.microsoft.com/office/drawing/2014/main" id="{4695768D-1EC4-264A-8A09-9B88FFCC1579}"/>
              </a:ext>
            </a:extLst>
          </p:cNvPr>
          <p:cNvSpPr/>
          <p:nvPr/>
        </p:nvSpPr>
        <p:spPr>
          <a:xfrm>
            <a:off x="8881549" y="2827604"/>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CaixaDeTexto 41">
            <a:extLst>
              <a:ext uri="{FF2B5EF4-FFF2-40B4-BE49-F238E27FC236}">
                <a16:creationId xmlns:a16="http://schemas.microsoft.com/office/drawing/2014/main" id="{E6705FA8-D1E9-96D0-D374-3B90D71202B9}"/>
              </a:ext>
            </a:extLst>
          </p:cNvPr>
          <p:cNvSpPr txBox="1"/>
          <p:nvPr/>
        </p:nvSpPr>
        <p:spPr>
          <a:xfrm>
            <a:off x="8911180" y="2923609"/>
            <a:ext cx="1050514" cy="369332"/>
          </a:xfrm>
          <a:prstGeom prst="rect">
            <a:avLst/>
          </a:prstGeom>
          <a:noFill/>
        </p:spPr>
        <p:txBody>
          <a:bodyPr wrap="square" rtlCol="0">
            <a:spAutoFit/>
          </a:bodyPr>
          <a:lstStyle/>
          <a:p>
            <a:r>
              <a:rPr lang="pt-BR" dirty="0"/>
              <a:t>dirigido</a:t>
            </a:r>
          </a:p>
        </p:txBody>
      </p:sp>
      <p:cxnSp>
        <p:nvCxnSpPr>
          <p:cNvPr id="44" name="Conector: Angulado 43">
            <a:extLst>
              <a:ext uri="{FF2B5EF4-FFF2-40B4-BE49-F238E27FC236}">
                <a16:creationId xmlns:a16="http://schemas.microsoft.com/office/drawing/2014/main" id="{6D160554-EC64-87B6-69E6-9B7F14391D2C}"/>
              </a:ext>
            </a:extLst>
          </p:cNvPr>
          <p:cNvCxnSpPr>
            <a:cxnSpLocks/>
            <a:endCxn id="42" idx="1"/>
          </p:cNvCxnSpPr>
          <p:nvPr/>
        </p:nvCxnSpPr>
        <p:spPr>
          <a:xfrm flipV="1">
            <a:off x="3381876" y="3108275"/>
            <a:ext cx="5529304" cy="1118077"/>
          </a:xfrm>
          <a:prstGeom prst="bentConnector3">
            <a:avLst>
              <a:gd name="adj1" fmla="val 5503"/>
            </a:avLst>
          </a:prstGeom>
        </p:spPr>
        <p:style>
          <a:lnRef idx="1">
            <a:schemeClr val="accent1"/>
          </a:lnRef>
          <a:fillRef idx="0">
            <a:schemeClr val="accent1"/>
          </a:fillRef>
          <a:effectRef idx="0">
            <a:schemeClr val="accent1"/>
          </a:effectRef>
          <a:fontRef idx="minor">
            <a:schemeClr val="tx1"/>
          </a:fontRef>
        </p:style>
      </p:cxnSp>
      <p:cxnSp>
        <p:nvCxnSpPr>
          <p:cNvPr id="47" name="Conector reto 46">
            <a:extLst>
              <a:ext uri="{FF2B5EF4-FFF2-40B4-BE49-F238E27FC236}">
                <a16:creationId xmlns:a16="http://schemas.microsoft.com/office/drawing/2014/main" id="{EC4CE640-33D5-FA08-1F06-9B9EE279C545}"/>
              </a:ext>
            </a:extLst>
          </p:cNvPr>
          <p:cNvCxnSpPr>
            <a:stCxn id="25" idx="0"/>
            <a:endCxn id="17" idx="2"/>
          </p:cNvCxnSpPr>
          <p:nvPr/>
        </p:nvCxnSpPr>
        <p:spPr>
          <a:xfrm flipH="1" flipV="1">
            <a:off x="9318528" y="3377570"/>
            <a:ext cx="3981" cy="8119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ector reto 48">
            <a:extLst>
              <a:ext uri="{FF2B5EF4-FFF2-40B4-BE49-F238E27FC236}">
                <a16:creationId xmlns:a16="http://schemas.microsoft.com/office/drawing/2014/main" id="{E7A64442-4953-D5A5-FA69-B98378BAE2C1}"/>
              </a:ext>
            </a:extLst>
          </p:cNvPr>
          <p:cNvCxnSpPr>
            <a:cxnSpLocks/>
            <a:stCxn id="62" idx="2"/>
            <a:endCxn id="26" idx="0"/>
          </p:cNvCxnSpPr>
          <p:nvPr/>
        </p:nvCxnSpPr>
        <p:spPr>
          <a:xfrm>
            <a:off x="11316602" y="2831634"/>
            <a:ext cx="1" cy="1357847"/>
          </a:xfrm>
          <a:prstGeom prst="line">
            <a:avLst/>
          </a:prstGeom>
        </p:spPr>
        <p:style>
          <a:lnRef idx="1">
            <a:schemeClr val="accent1"/>
          </a:lnRef>
          <a:fillRef idx="0">
            <a:schemeClr val="accent1"/>
          </a:fillRef>
          <a:effectRef idx="0">
            <a:schemeClr val="accent1"/>
          </a:effectRef>
          <a:fontRef idx="minor">
            <a:schemeClr val="tx1"/>
          </a:fontRef>
        </p:style>
      </p:cxnSp>
      <p:sp>
        <p:nvSpPr>
          <p:cNvPr id="50" name="CaixaDeTexto 49">
            <a:extLst>
              <a:ext uri="{FF2B5EF4-FFF2-40B4-BE49-F238E27FC236}">
                <a16:creationId xmlns:a16="http://schemas.microsoft.com/office/drawing/2014/main" id="{C8F9EE63-91C0-03C9-6BA3-AF247924E0A6}"/>
              </a:ext>
            </a:extLst>
          </p:cNvPr>
          <p:cNvSpPr txBox="1"/>
          <p:nvPr/>
        </p:nvSpPr>
        <p:spPr>
          <a:xfrm>
            <a:off x="11316602" y="3838760"/>
            <a:ext cx="364563" cy="369332"/>
          </a:xfrm>
          <a:prstGeom prst="rect">
            <a:avLst/>
          </a:prstGeom>
          <a:noFill/>
        </p:spPr>
        <p:txBody>
          <a:bodyPr wrap="square" rtlCol="0">
            <a:spAutoFit/>
          </a:bodyPr>
          <a:lstStyle/>
          <a:p>
            <a:r>
              <a:rPr lang="pt-BR" dirty="0"/>
              <a:t>n</a:t>
            </a:r>
          </a:p>
        </p:txBody>
      </p:sp>
      <p:sp>
        <p:nvSpPr>
          <p:cNvPr id="51" name="CaixaDeTexto 50">
            <a:extLst>
              <a:ext uri="{FF2B5EF4-FFF2-40B4-BE49-F238E27FC236}">
                <a16:creationId xmlns:a16="http://schemas.microsoft.com/office/drawing/2014/main" id="{81CE1960-B531-5559-ED25-6901A9C8F91E}"/>
              </a:ext>
            </a:extLst>
          </p:cNvPr>
          <p:cNvSpPr txBox="1"/>
          <p:nvPr/>
        </p:nvSpPr>
        <p:spPr>
          <a:xfrm>
            <a:off x="9071874" y="3842134"/>
            <a:ext cx="364563" cy="369332"/>
          </a:xfrm>
          <a:prstGeom prst="rect">
            <a:avLst/>
          </a:prstGeom>
          <a:noFill/>
        </p:spPr>
        <p:txBody>
          <a:bodyPr wrap="square" rtlCol="0">
            <a:spAutoFit/>
          </a:bodyPr>
          <a:lstStyle/>
          <a:p>
            <a:r>
              <a:rPr lang="pt-BR" dirty="0"/>
              <a:t>n</a:t>
            </a:r>
          </a:p>
        </p:txBody>
      </p:sp>
      <p:sp>
        <p:nvSpPr>
          <p:cNvPr id="52" name="CaixaDeTexto 51">
            <a:extLst>
              <a:ext uri="{FF2B5EF4-FFF2-40B4-BE49-F238E27FC236}">
                <a16:creationId xmlns:a16="http://schemas.microsoft.com/office/drawing/2014/main" id="{90D6C8B0-46E4-4FC8-1B89-627568A6BAD6}"/>
              </a:ext>
            </a:extLst>
          </p:cNvPr>
          <p:cNvSpPr txBox="1"/>
          <p:nvPr/>
        </p:nvSpPr>
        <p:spPr>
          <a:xfrm>
            <a:off x="3192208" y="3802124"/>
            <a:ext cx="364563" cy="369332"/>
          </a:xfrm>
          <a:prstGeom prst="rect">
            <a:avLst/>
          </a:prstGeom>
          <a:noFill/>
        </p:spPr>
        <p:txBody>
          <a:bodyPr wrap="square" rtlCol="0">
            <a:spAutoFit/>
          </a:bodyPr>
          <a:lstStyle/>
          <a:p>
            <a:r>
              <a:rPr lang="pt-BR" dirty="0"/>
              <a:t>n</a:t>
            </a:r>
          </a:p>
        </p:txBody>
      </p:sp>
      <p:sp>
        <p:nvSpPr>
          <p:cNvPr id="62" name="Fluxograma: Decisão 61">
            <a:extLst>
              <a:ext uri="{FF2B5EF4-FFF2-40B4-BE49-F238E27FC236}">
                <a16:creationId xmlns:a16="http://schemas.microsoft.com/office/drawing/2014/main" id="{EF063440-DE5E-4BE9-870A-236FCC21A069}"/>
              </a:ext>
            </a:extLst>
          </p:cNvPr>
          <p:cNvSpPr/>
          <p:nvPr/>
        </p:nvSpPr>
        <p:spPr>
          <a:xfrm>
            <a:off x="10879623" y="2281668"/>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CaixaDeTexto 68">
            <a:extLst>
              <a:ext uri="{FF2B5EF4-FFF2-40B4-BE49-F238E27FC236}">
                <a16:creationId xmlns:a16="http://schemas.microsoft.com/office/drawing/2014/main" id="{CE466B15-09AA-9011-D786-131B0D83DA9B}"/>
              </a:ext>
            </a:extLst>
          </p:cNvPr>
          <p:cNvSpPr txBox="1"/>
          <p:nvPr/>
        </p:nvSpPr>
        <p:spPr>
          <a:xfrm>
            <a:off x="10894596" y="2379085"/>
            <a:ext cx="1050514" cy="369332"/>
          </a:xfrm>
          <a:prstGeom prst="rect">
            <a:avLst/>
          </a:prstGeom>
          <a:noFill/>
        </p:spPr>
        <p:txBody>
          <a:bodyPr wrap="square" rtlCol="0">
            <a:spAutoFit/>
          </a:bodyPr>
          <a:lstStyle/>
          <a:p>
            <a:r>
              <a:rPr lang="pt-BR" dirty="0"/>
              <a:t>contém</a:t>
            </a:r>
          </a:p>
        </p:txBody>
      </p:sp>
      <p:cxnSp>
        <p:nvCxnSpPr>
          <p:cNvPr id="23" name="Conector: Angulado 22">
            <a:extLst>
              <a:ext uri="{FF2B5EF4-FFF2-40B4-BE49-F238E27FC236}">
                <a16:creationId xmlns:a16="http://schemas.microsoft.com/office/drawing/2014/main" id="{95CD1C7B-2C47-5F48-855D-7590FAEA0FC9}"/>
              </a:ext>
            </a:extLst>
          </p:cNvPr>
          <p:cNvCxnSpPr>
            <a:cxnSpLocks/>
          </p:cNvCxnSpPr>
          <p:nvPr/>
        </p:nvCxnSpPr>
        <p:spPr>
          <a:xfrm rot="10800000" flipV="1">
            <a:off x="3403628" y="2556651"/>
            <a:ext cx="7315300" cy="165881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41" name="CaixaDeTexto 40">
            <a:extLst>
              <a:ext uri="{FF2B5EF4-FFF2-40B4-BE49-F238E27FC236}">
                <a16:creationId xmlns:a16="http://schemas.microsoft.com/office/drawing/2014/main" id="{AF039645-28D4-CDC0-409A-C15AC1062D88}"/>
              </a:ext>
            </a:extLst>
          </p:cNvPr>
          <p:cNvSpPr txBox="1"/>
          <p:nvPr/>
        </p:nvSpPr>
        <p:spPr>
          <a:xfrm>
            <a:off x="3475673" y="3802124"/>
            <a:ext cx="364563" cy="369332"/>
          </a:xfrm>
          <a:prstGeom prst="rect">
            <a:avLst/>
          </a:prstGeom>
          <a:noFill/>
        </p:spPr>
        <p:txBody>
          <a:bodyPr wrap="square" rtlCol="0">
            <a:spAutoFit/>
          </a:bodyPr>
          <a:lstStyle/>
          <a:p>
            <a:r>
              <a:rPr lang="pt-BR" dirty="0"/>
              <a:t>n</a:t>
            </a:r>
          </a:p>
        </p:txBody>
      </p:sp>
      <p:sp>
        <p:nvSpPr>
          <p:cNvPr id="43" name="Retângulo 42">
            <a:extLst>
              <a:ext uri="{FF2B5EF4-FFF2-40B4-BE49-F238E27FC236}">
                <a16:creationId xmlns:a16="http://schemas.microsoft.com/office/drawing/2014/main" id="{92DBB1A8-E0AB-006F-F379-9367898E9238}"/>
              </a:ext>
            </a:extLst>
          </p:cNvPr>
          <p:cNvSpPr/>
          <p:nvPr/>
        </p:nvSpPr>
        <p:spPr>
          <a:xfrm>
            <a:off x="5162371" y="4157146"/>
            <a:ext cx="1328377" cy="46438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CaixaDeTexto 44">
            <a:extLst>
              <a:ext uri="{FF2B5EF4-FFF2-40B4-BE49-F238E27FC236}">
                <a16:creationId xmlns:a16="http://schemas.microsoft.com/office/drawing/2014/main" id="{B80ED2DB-B56B-5A7C-AB23-CF42A68CDB13}"/>
              </a:ext>
            </a:extLst>
          </p:cNvPr>
          <p:cNvSpPr txBox="1"/>
          <p:nvPr/>
        </p:nvSpPr>
        <p:spPr>
          <a:xfrm>
            <a:off x="518474" y="141402"/>
            <a:ext cx="3120272" cy="369332"/>
          </a:xfrm>
          <a:prstGeom prst="rect">
            <a:avLst/>
          </a:prstGeom>
          <a:noFill/>
        </p:spPr>
        <p:txBody>
          <a:bodyPr wrap="square" rtlCol="0">
            <a:spAutoFit/>
          </a:bodyPr>
          <a:lstStyle/>
          <a:p>
            <a:r>
              <a:rPr lang="pt-BR" dirty="0"/>
              <a:t>Cinema(</a:t>
            </a:r>
            <a:r>
              <a:rPr lang="pt-BR" u="sng" dirty="0"/>
              <a:t>CNPJ</a:t>
            </a:r>
            <a:r>
              <a:rPr lang="pt-BR" dirty="0"/>
              <a:t>, </a:t>
            </a:r>
            <a:r>
              <a:rPr lang="pt-BR" dirty="0" err="1"/>
              <a:t>End</a:t>
            </a:r>
            <a:r>
              <a:rPr lang="pt-BR" dirty="0"/>
              <a:t>, </a:t>
            </a:r>
            <a:r>
              <a:rPr lang="pt-BR" dirty="0" err="1"/>
              <a:t>Tel</a:t>
            </a:r>
            <a:r>
              <a:rPr lang="pt-BR" dirty="0"/>
              <a:t>)</a:t>
            </a:r>
          </a:p>
        </p:txBody>
      </p:sp>
      <p:sp>
        <p:nvSpPr>
          <p:cNvPr id="48" name="CaixaDeTexto 47">
            <a:extLst>
              <a:ext uri="{FF2B5EF4-FFF2-40B4-BE49-F238E27FC236}">
                <a16:creationId xmlns:a16="http://schemas.microsoft.com/office/drawing/2014/main" id="{980BA33F-FB2D-7C58-D35F-2A8797934CC9}"/>
              </a:ext>
            </a:extLst>
          </p:cNvPr>
          <p:cNvSpPr txBox="1"/>
          <p:nvPr/>
        </p:nvSpPr>
        <p:spPr>
          <a:xfrm>
            <a:off x="518472" y="865707"/>
            <a:ext cx="7406105" cy="369332"/>
          </a:xfrm>
          <a:prstGeom prst="rect">
            <a:avLst/>
          </a:prstGeom>
          <a:noFill/>
        </p:spPr>
        <p:txBody>
          <a:bodyPr wrap="square" rtlCol="0">
            <a:spAutoFit/>
          </a:bodyPr>
          <a:lstStyle/>
          <a:p>
            <a:r>
              <a:rPr lang="pt-BR" dirty="0"/>
              <a:t>Sala(</a:t>
            </a:r>
            <a:r>
              <a:rPr lang="pt-BR" u="sng" dirty="0" err="1"/>
              <a:t>id_sala</a:t>
            </a:r>
            <a:r>
              <a:rPr lang="pt-BR" dirty="0"/>
              <a:t>, </a:t>
            </a:r>
            <a:r>
              <a:rPr lang="pt-BR" dirty="0" err="1"/>
              <a:t>QtdeLugares</a:t>
            </a:r>
            <a:r>
              <a:rPr lang="pt-BR" dirty="0"/>
              <a:t>, </a:t>
            </a:r>
            <a:r>
              <a:rPr lang="pt-BR" dirty="0" err="1"/>
              <a:t>TipoSom</a:t>
            </a:r>
            <a:r>
              <a:rPr lang="pt-BR" dirty="0"/>
              <a:t>, Acessibilidade)</a:t>
            </a:r>
          </a:p>
        </p:txBody>
      </p:sp>
      <p:sp>
        <p:nvSpPr>
          <p:cNvPr id="53" name="CaixaDeTexto 52">
            <a:extLst>
              <a:ext uri="{FF2B5EF4-FFF2-40B4-BE49-F238E27FC236}">
                <a16:creationId xmlns:a16="http://schemas.microsoft.com/office/drawing/2014/main" id="{49AD6EEC-D3B8-1E6C-C634-1E2CBB7D54A1}"/>
              </a:ext>
            </a:extLst>
          </p:cNvPr>
          <p:cNvSpPr txBox="1"/>
          <p:nvPr/>
        </p:nvSpPr>
        <p:spPr>
          <a:xfrm>
            <a:off x="518472" y="1263441"/>
            <a:ext cx="7406105" cy="369332"/>
          </a:xfrm>
          <a:prstGeom prst="rect">
            <a:avLst/>
          </a:prstGeom>
          <a:noFill/>
        </p:spPr>
        <p:txBody>
          <a:bodyPr wrap="square" rtlCol="0">
            <a:spAutoFit/>
          </a:bodyPr>
          <a:lstStyle/>
          <a:p>
            <a:r>
              <a:rPr lang="pt-BR" dirty="0"/>
              <a:t>Diretor(</a:t>
            </a:r>
            <a:r>
              <a:rPr lang="pt-BR" u="sng" dirty="0" err="1"/>
              <a:t>id_diretor</a:t>
            </a:r>
            <a:r>
              <a:rPr lang="pt-BR" dirty="0"/>
              <a:t>, nome)</a:t>
            </a:r>
          </a:p>
        </p:txBody>
      </p:sp>
      <p:sp>
        <p:nvSpPr>
          <p:cNvPr id="54" name="CaixaDeTexto 53">
            <a:extLst>
              <a:ext uri="{FF2B5EF4-FFF2-40B4-BE49-F238E27FC236}">
                <a16:creationId xmlns:a16="http://schemas.microsoft.com/office/drawing/2014/main" id="{BC6F4584-B0DE-CABF-01A8-06606C6F55D6}"/>
              </a:ext>
            </a:extLst>
          </p:cNvPr>
          <p:cNvSpPr txBox="1"/>
          <p:nvPr/>
        </p:nvSpPr>
        <p:spPr>
          <a:xfrm>
            <a:off x="518471" y="1632773"/>
            <a:ext cx="7406105" cy="369332"/>
          </a:xfrm>
          <a:prstGeom prst="rect">
            <a:avLst/>
          </a:prstGeom>
          <a:noFill/>
        </p:spPr>
        <p:txBody>
          <a:bodyPr wrap="square" rtlCol="0">
            <a:spAutoFit/>
          </a:bodyPr>
          <a:lstStyle/>
          <a:p>
            <a:r>
              <a:rPr lang="pt-BR" dirty="0"/>
              <a:t>Elenco(</a:t>
            </a:r>
            <a:r>
              <a:rPr lang="pt-BR" u="sng" dirty="0" err="1"/>
              <a:t>id_elenco</a:t>
            </a:r>
            <a:r>
              <a:rPr lang="pt-BR" dirty="0"/>
              <a:t>, nome, papel)</a:t>
            </a:r>
          </a:p>
        </p:txBody>
      </p:sp>
      <p:sp>
        <p:nvSpPr>
          <p:cNvPr id="3" name="CaixaDeTexto 2">
            <a:extLst>
              <a:ext uri="{FF2B5EF4-FFF2-40B4-BE49-F238E27FC236}">
                <a16:creationId xmlns:a16="http://schemas.microsoft.com/office/drawing/2014/main" id="{B8CECF7A-0758-BBF5-E010-B82D6EDC483D}"/>
              </a:ext>
            </a:extLst>
          </p:cNvPr>
          <p:cNvSpPr txBox="1"/>
          <p:nvPr/>
        </p:nvSpPr>
        <p:spPr>
          <a:xfrm>
            <a:off x="518471" y="1993045"/>
            <a:ext cx="7406105" cy="369332"/>
          </a:xfrm>
          <a:prstGeom prst="rect">
            <a:avLst/>
          </a:prstGeom>
          <a:noFill/>
        </p:spPr>
        <p:txBody>
          <a:bodyPr wrap="square" rtlCol="0">
            <a:spAutoFit/>
          </a:bodyPr>
          <a:lstStyle/>
          <a:p>
            <a:r>
              <a:rPr lang="pt-BR" dirty="0" err="1"/>
              <a:t>Sessao</a:t>
            </a:r>
            <a:r>
              <a:rPr lang="pt-BR" dirty="0"/>
              <a:t>(</a:t>
            </a:r>
            <a:r>
              <a:rPr lang="pt-BR" u="sng" dirty="0" err="1"/>
              <a:t>id_filme</a:t>
            </a:r>
            <a:r>
              <a:rPr lang="pt-BR" u="sng" dirty="0"/>
              <a:t>,</a:t>
            </a:r>
            <a:r>
              <a:rPr lang="pt-BR" dirty="0"/>
              <a:t> </a:t>
            </a:r>
            <a:r>
              <a:rPr lang="pt-BR" u="sng" dirty="0" err="1"/>
              <a:t>id_sala</a:t>
            </a:r>
            <a:r>
              <a:rPr lang="pt-BR" dirty="0"/>
              <a:t>, </a:t>
            </a:r>
            <a:r>
              <a:rPr lang="pt-BR" u="sng" dirty="0"/>
              <a:t>dia, horário</a:t>
            </a:r>
            <a:r>
              <a:rPr lang="pt-BR" dirty="0"/>
              <a:t>, </a:t>
            </a:r>
            <a:r>
              <a:rPr lang="pt-BR" dirty="0" err="1"/>
              <a:t>preco</a:t>
            </a:r>
            <a:r>
              <a:rPr lang="pt-BR" dirty="0"/>
              <a:t>)</a:t>
            </a:r>
          </a:p>
        </p:txBody>
      </p:sp>
      <p:sp>
        <p:nvSpPr>
          <p:cNvPr id="55" name="CaixaDeTexto 54">
            <a:extLst>
              <a:ext uri="{FF2B5EF4-FFF2-40B4-BE49-F238E27FC236}">
                <a16:creationId xmlns:a16="http://schemas.microsoft.com/office/drawing/2014/main" id="{53C0DD3B-5764-0FBE-D333-CED24EBF6379}"/>
              </a:ext>
            </a:extLst>
          </p:cNvPr>
          <p:cNvSpPr txBox="1"/>
          <p:nvPr/>
        </p:nvSpPr>
        <p:spPr>
          <a:xfrm>
            <a:off x="518473" y="469884"/>
            <a:ext cx="7406105" cy="369332"/>
          </a:xfrm>
          <a:prstGeom prst="rect">
            <a:avLst/>
          </a:prstGeom>
          <a:noFill/>
        </p:spPr>
        <p:txBody>
          <a:bodyPr wrap="square" rtlCol="0">
            <a:spAutoFit/>
          </a:bodyPr>
          <a:lstStyle/>
          <a:p>
            <a:r>
              <a:rPr lang="pt-BR" dirty="0"/>
              <a:t>Filme(</a:t>
            </a:r>
            <a:r>
              <a:rPr lang="pt-BR" u="sng" dirty="0" err="1"/>
              <a:t>id_filme</a:t>
            </a:r>
            <a:r>
              <a:rPr lang="pt-BR" dirty="0"/>
              <a:t>, </a:t>
            </a:r>
            <a:r>
              <a:rPr lang="pt-BR" dirty="0" err="1"/>
              <a:t>TitBrasil</a:t>
            </a:r>
            <a:r>
              <a:rPr lang="pt-BR" dirty="0"/>
              <a:t>, </a:t>
            </a:r>
            <a:r>
              <a:rPr lang="pt-BR" dirty="0" err="1"/>
              <a:t>TitOrig</a:t>
            </a:r>
            <a:r>
              <a:rPr lang="pt-BR" dirty="0"/>
              <a:t>, Idioma, Sinopse, </a:t>
            </a:r>
            <a:r>
              <a:rPr lang="pt-BR" dirty="0" err="1"/>
              <a:t>Genero</a:t>
            </a:r>
            <a:r>
              <a:rPr lang="pt-BR" dirty="0"/>
              <a:t>)</a:t>
            </a:r>
          </a:p>
        </p:txBody>
      </p:sp>
      <p:sp>
        <p:nvSpPr>
          <p:cNvPr id="56" name="CaixaDeTexto 55">
            <a:extLst>
              <a:ext uri="{FF2B5EF4-FFF2-40B4-BE49-F238E27FC236}">
                <a16:creationId xmlns:a16="http://schemas.microsoft.com/office/drawing/2014/main" id="{91D08F1C-24C4-C9FB-DD61-C1EEDCB16E99}"/>
              </a:ext>
            </a:extLst>
          </p:cNvPr>
          <p:cNvSpPr txBox="1"/>
          <p:nvPr/>
        </p:nvSpPr>
        <p:spPr>
          <a:xfrm>
            <a:off x="7217765" y="584778"/>
            <a:ext cx="3817041" cy="1077218"/>
          </a:xfrm>
          <a:prstGeom prst="rect">
            <a:avLst/>
          </a:prstGeom>
          <a:noFill/>
        </p:spPr>
        <p:txBody>
          <a:bodyPr wrap="square" rtlCol="0">
            <a:spAutoFit/>
          </a:bodyPr>
          <a:lstStyle/>
          <a:p>
            <a:r>
              <a:rPr lang="pt-BR" sz="3200" dirty="0">
                <a:highlight>
                  <a:srgbClr val="FFFF00"/>
                </a:highlight>
              </a:rPr>
              <a:t>MAPEANDO AS ENTIDADES FRACAS</a:t>
            </a:r>
          </a:p>
        </p:txBody>
      </p:sp>
    </p:spTree>
    <p:extLst>
      <p:ext uri="{BB962C8B-B14F-4D97-AF65-F5344CB8AC3E}">
        <p14:creationId xmlns:p14="http://schemas.microsoft.com/office/powerpoint/2010/main" val="2589237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30FD02-42CB-8CAA-467E-3661A411D873}"/>
              </a:ext>
            </a:extLst>
          </p:cNvPr>
          <p:cNvSpPr txBox="1"/>
          <p:nvPr/>
        </p:nvSpPr>
        <p:spPr>
          <a:xfrm>
            <a:off x="247459" y="4208112"/>
            <a:ext cx="1464309" cy="369332"/>
          </a:xfrm>
          <a:prstGeom prst="rect">
            <a:avLst/>
          </a:prstGeom>
          <a:noFill/>
          <a:ln>
            <a:solidFill>
              <a:schemeClr val="tx1"/>
            </a:solidFill>
          </a:ln>
        </p:spPr>
        <p:txBody>
          <a:bodyPr wrap="square" rtlCol="0">
            <a:spAutoFit/>
          </a:bodyPr>
          <a:lstStyle/>
          <a:p>
            <a:pPr algn="ctr"/>
            <a:r>
              <a:rPr lang="pt-BR" dirty="0"/>
              <a:t>Cinema</a:t>
            </a:r>
          </a:p>
        </p:txBody>
      </p:sp>
      <p:sp>
        <p:nvSpPr>
          <p:cNvPr id="4" name="CaixaDeTexto 3">
            <a:extLst>
              <a:ext uri="{FF2B5EF4-FFF2-40B4-BE49-F238E27FC236}">
                <a16:creationId xmlns:a16="http://schemas.microsoft.com/office/drawing/2014/main" id="{35D6A63B-D3A2-D3AB-FFFD-92FD890E1AD7}"/>
              </a:ext>
            </a:extLst>
          </p:cNvPr>
          <p:cNvSpPr txBox="1"/>
          <p:nvPr/>
        </p:nvSpPr>
        <p:spPr>
          <a:xfrm>
            <a:off x="2869491" y="4215468"/>
            <a:ext cx="1389663" cy="369332"/>
          </a:xfrm>
          <a:prstGeom prst="rect">
            <a:avLst/>
          </a:prstGeom>
          <a:noFill/>
          <a:ln>
            <a:solidFill>
              <a:schemeClr val="tx1"/>
            </a:solidFill>
          </a:ln>
        </p:spPr>
        <p:txBody>
          <a:bodyPr wrap="square" rtlCol="0">
            <a:spAutoFit/>
          </a:bodyPr>
          <a:lstStyle/>
          <a:p>
            <a:pPr algn="ctr"/>
            <a:r>
              <a:rPr lang="pt-BR" dirty="0"/>
              <a:t>Filme</a:t>
            </a:r>
          </a:p>
        </p:txBody>
      </p:sp>
      <p:sp>
        <p:nvSpPr>
          <p:cNvPr id="6" name="CaixaDeTexto 5">
            <a:extLst>
              <a:ext uri="{FF2B5EF4-FFF2-40B4-BE49-F238E27FC236}">
                <a16:creationId xmlns:a16="http://schemas.microsoft.com/office/drawing/2014/main" id="{3B828840-CDF7-122B-D05F-B60DE22D0A8F}"/>
              </a:ext>
            </a:extLst>
          </p:cNvPr>
          <p:cNvSpPr txBox="1"/>
          <p:nvPr/>
        </p:nvSpPr>
        <p:spPr>
          <a:xfrm>
            <a:off x="5215559" y="4210102"/>
            <a:ext cx="1225500" cy="369332"/>
          </a:xfrm>
          <a:prstGeom prst="rect">
            <a:avLst/>
          </a:prstGeom>
          <a:noFill/>
          <a:ln>
            <a:solidFill>
              <a:schemeClr val="tx1"/>
            </a:solidFill>
          </a:ln>
        </p:spPr>
        <p:txBody>
          <a:bodyPr wrap="square" rtlCol="0">
            <a:spAutoFit/>
          </a:bodyPr>
          <a:lstStyle/>
          <a:p>
            <a:pPr algn="ctr"/>
            <a:r>
              <a:rPr lang="pt-BR" dirty="0"/>
              <a:t>Sessão</a:t>
            </a:r>
          </a:p>
        </p:txBody>
      </p:sp>
      <p:sp>
        <p:nvSpPr>
          <p:cNvPr id="7" name="CaixaDeTexto 6">
            <a:extLst>
              <a:ext uri="{FF2B5EF4-FFF2-40B4-BE49-F238E27FC236}">
                <a16:creationId xmlns:a16="http://schemas.microsoft.com/office/drawing/2014/main" id="{AA2B8208-5AC9-F0F4-0ACC-DEFC82722907}"/>
              </a:ext>
            </a:extLst>
          </p:cNvPr>
          <p:cNvSpPr txBox="1"/>
          <p:nvPr/>
        </p:nvSpPr>
        <p:spPr>
          <a:xfrm>
            <a:off x="6979940" y="4217155"/>
            <a:ext cx="944639" cy="369332"/>
          </a:xfrm>
          <a:prstGeom prst="rect">
            <a:avLst/>
          </a:prstGeom>
          <a:noFill/>
          <a:ln>
            <a:solidFill>
              <a:schemeClr val="tx1"/>
            </a:solidFill>
          </a:ln>
        </p:spPr>
        <p:txBody>
          <a:bodyPr wrap="square" rtlCol="0">
            <a:spAutoFit/>
          </a:bodyPr>
          <a:lstStyle/>
          <a:p>
            <a:pPr algn="ctr"/>
            <a:r>
              <a:rPr lang="pt-BR" dirty="0"/>
              <a:t>Sala</a:t>
            </a:r>
          </a:p>
        </p:txBody>
      </p:sp>
      <p:cxnSp>
        <p:nvCxnSpPr>
          <p:cNvPr id="10" name="Conector reto 9">
            <a:extLst>
              <a:ext uri="{FF2B5EF4-FFF2-40B4-BE49-F238E27FC236}">
                <a16:creationId xmlns:a16="http://schemas.microsoft.com/office/drawing/2014/main" id="{25858B0C-A9E8-6884-F912-B6C196F68B83}"/>
              </a:ext>
            </a:extLst>
          </p:cNvPr>
          <p:cNvCxnSpPr>
            <a:cxnSpLocks/>
          </p:cNvCxnSpPr>
          <p:nvPr/>
        </p:nvCxnSpPr>
        <p:spPr>
          <a:xfrm>
            <a:off x="1974928" y="4165945"/>
            <a:ext cx="0" cy="2752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D42337CD-9D76-AE18-F87D-4F2547CD0BF7}"/>
              </a:ext>
            </a:extLst>
          </p:cNvPr>
          <p:cNvCxnSpPr>
            <a:cxnSpLocks/>
          </p:cNvCxnSpPr>
          <p:nvPr/>
        </p:nvCxnSpPr>
        <p:spPr>
          <a:xfrm>
            <a:off x="5068875" y="4215468"/>
            <a:ext cx="0" cy="2573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AFEDD4E-54EA-A604-5617-6A3AE13FDF74}"/>
              </a:ext>
            </a:extLst>
          </p:cNvPr>
          <p:cNvCxnSpPr>
            <a:cxnSpLocks/>
          </p:cNvCxnSpPr>
          <p:nvPr/>
        </p:nvCxnSpPr>
        <p:spPr>
          <a:xfrm>
            <a:off x="6562438"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CDED82E5-4ED8-040E-C873-EC18A1492A84}"/>
              </a:ext>
            </a:extLst>
          </p:cNvPr>
          <p:cNvSpPr txBox="1"/>
          <p:nvPr/>
        </p:nvSpPr>
        <p:spPr>
          <a:xfrm>
            <a:off x="437179" y="4734930"/>
            <a:ext cx="1470580" cy="923330"/>
          </a:xfrm>
          <a:prstGeom prst="rect">
            <a:avLst/>
          </a:prstGeom>
          <a:noFill/>
        </p:spPr>
        <p:txBody>
          <a:bodyPr wrap="square" rtlCol="0">
            <a:spAutoFit/>
          </a:bodyPr>
          <a:lstStyle/>
          <a:p>
            <a:pPr marL="285750" indent="-285750">
              <a:buFontTx/>
              <a:buChar char="-"/>
            </a:pPr>
            <a:r>
              <a:rPr lang="pt-BR" u="sng" dirty="0"/>
              <a:t>CNPJ</a:t>
            </a:r>
          </a:p>
          <a:p>
            <a:pPr marL="285750" indent="-285750">
              <a:buFontTx/>
              <a:buChar char="-"/>
            </a:pPr>
            <a:r>
              <a:rPr lang="pt-BR" dirty="0"/>
              <a:t>Endereço</a:t>
            </a:r>
          </a:p>
          <a:p>
            <a:pPr marL="285750" indent="-285750">
              <a:buFontTx/>
              <a:buChar char="-"/>
            </a:pPr>
            <a:r>
              <a:rPr lang="pt-BR" dirty="0"/>
              <a:t>Telefone</a:t>
            </a:r>
          </a:p>
        </p:txBody>
      </p:sp>
      <p:sp>
        <p:nvSpPr>
          <p:cNvPr id="9" name="CaixaDeTexto 8">
            <a:extLst>
              <a:ext uri="{FF2B5EF4-FFF2-40B4-BE49-F238E27FC236}">
                <a16:creationId xmlns:a16="http://schemas.microsoft.com/office/drawing/2014/main" id="{2008D058-1C9A-1B76-3D59-C7018E4809DE}"/>
              </a:ext>
            </a:extLst>
          </p:cNvPr>
          <p:cNvSpPr txBox="1"/>
          <p:nvPr/>
        </p:nvSpPr>
        <p:spPr>
          <a:xfrm>
            <a:off x="2025991" y="4637782"/>
            <a:ext cx="3266390" cy="1754326"/>
          </a:xfrm>
          <a:prstGeom prst="rect">
            <a:avLst/>
          </a:prstGeom>
          <a:noFill/>
        </p:spPr>
        <p:txBody>
          <a:bodyPr wrap="square" rtlCol="0">
            <a:spAutoFit/>
          </a:bodyPr>
          <a:lstStyle/>
          <a:p>
            <a:pPr marL="285750" indent="-285750">
              <a:buFontTx/>
              <a:buChar char="-"/>
            </a:pPr>
            <a:r>
              <a:rPr lang="pt-BR" dirty="0"/>
              <a:t>Título no Brasil</a:t>
            </a:r>
          </a:p>
          <a:p>
            <a:pPr marL="285750" indent="-285750">
              <a:buFontTx/>
              <a:buChar char="-"/>
            </a:pPr>
            <a:r>
              <a:rPr lang="pt-BR" dirty="0"/>
              <a:t>Título Original</a:t>
            </a:r>
          </a:p>
          <a:p>
            <a:pPr marL="285750" indent="-285750">
              <a:buFontTx/>
              <a:buChar char="-"/>
            </a:pPr>
            <a:r>
              <a:rPr lang="pt-BR" dirty="0"/>
              <a:t>Legendado/Dublado</a:t>
            </a:r>
          </a:p>
          <a:p>
            <a:pPr marL="285750" indent="-285750">
              <a:buFontTx/>
              <a:buChar char="-"/>
            </a:pPr>
            <a:r>
              <a:rPr lang="pt-BR" dirty="0"/>
              <a:t>Sinopse</a:t>
            </a:r>
          </a:p>
          <a:p>
            <a:pPr marL="285750" indent="-285750">
              <a:buFontTx/>
              <a:buChar char="-"/>
            </a:pPr>
            <a:r>
              <a:rPr lang="pt-BR" dirty="0" err="1"/>
              <a:t>Genero</a:t>
            </a:r>
            <a:endParaRPr lang="pt-BR" dirty="0"/>
          </a:p>
          <a:p>
            <a:pPr marL="285750" indent="-285750">
              <a:buFontTx/>
              <a:buChar char="-"/>
            </a:pPr>
            <a:r>
              <a:rPr lang="pt-BR" u="sng" dirty="0" err="1"/>
              <a:t>id_filme</a:t>
            </a:r>
            <a:endParaRPr lang="pt-BR" u="sng" dirty="0"/>
          </a:p>
        </p:txBody>
      </p:sp>
      <p:sp>
        <p:nvSpPr>
          <p:cNvPr id="14" name="CaixaDeTexto 13">
            <a:extLst>
              <a:ext uri="{FF2B5EF4-FFF2-40B4-BE49-F238E27FC236}">
                <a16:creationId xmlns:a16="http://schemas.microsoft.com/office/drawing/2014/main" id="{B54F5914-782C-A8A9-2724-8A1E3753800E}"/>
              </a:ext>
            </a:extLst>
          </p:cNvPr>
          <p:cNvSpPr txBox="1"/>
          <p:nvPr/>
        </p:nvSpPr>
        <p:spPr>
          <a:xfrm>
            <a:off x="6637454" y="4677609"/>
            <a:ext cx="1751816" cy="1477328"/>
          </a:xfrm>
          <a:prstGeom prst="rect">
            <a:avLst/>
          </a:prstGeom>
          <a:noFill/>
        </p:spPr>
        <p:txBody>
          <a:bodyPr wrap="square" rtlCol="0">
            <a:spAutoFit/>
          </a:bodyPr>
          <a:lstStyle/>
          <a:p>
            <a:pPr marL="285750" indent="-285750">
              <a:buFontTx/>
              <a:buChar char="-"/>
            </a:pPr>
            <a:r>
              <a:rPr lang="pt-BR" dirty="0"/>
              <a:t>N° de lugares</a:t>
            </a:r>
          </a:p>
          <a:p>
            <a:pPr marL="285750" indent="-285750">
              <a:buFontTx/>
              <a:buChar char="-"/>
            </a:pPr>
            <a:r>
              <a:rPr lang="pt-BR" dirty="0"/>
              <a:t>Tipo de som</a:t>
            </a:r>
          </a:p>
          <a:p>
            <a:pPr marL="285750" indent="-285750">
              <a:buFontTx/>
              <a:buChar char="-"/>
            </a:pPr>
            <a:r>
              <a:rPr lang="pt-BR" dirty="0"/>
              <a:t>Acesso a deficientes</a:t>
            </a:r>
          </a:p>
          <a:p>
            <a:pPr marL="285750" indent="-285750">
              <a:buFontTx/>
              <a:buChar char="-"/>
            </a:pPr>
            <a:r>
              <a:rPr lang="pt-BR" u="sng" dirty="0" err="1"/>
              <a:t>id_sala</a:t>
            </a:r>
            <a:endParaRPr lang="pt-BR" u="sng" dirty="0"/>
          </a:p>
        </p:txBody>
      </p:sp>
      <p:sp>
        <p:nvSpPr>
          <p:cNvPr id="16" name="CaixaDeTexto 15">
            <a:extLst>
              <a:ext uri="{FF2B5EF4-FFF2-40B4-BE49-F238E27FC236}">
                <a16:creationId xmlns:a16="http://schemas.microsoft.com/office/drawing/2014/main" id="{E99EEB24-7D19-9DE5-B6D1-8BE8A510D588}"/>
              </a:ext>
            </a:extLst>
          </p:cNvPr>
          <p:cNvSpPr txBox="1"/>
          <p:nvPr/>
        </p:nvSpPr>
        <p:spPr>
          <a:xfrm>
            <a:off x="5229730" y="4671229"/>
            <a:ext cx="1332708" cy="923330"/>
          </a:xfrm>
          <a:prstGeom prst="rect">
            <a:avLst/>
          </a:prstGeom>
          <a:noFill/>
        </p:spPr>
        <p:txBody>
          <a:bodyPr wrap="square" rtlCol="0">
            <a:spAutoFit/>
          </a:bodyPr>
          <a:lstStyle/>
          <a:p>
            <a:pPr marL="285750" indent="-285750">
              <a:buFontTx/>
              <a:buChar char="-"/>
            </a:pPr>
            <a:r>
              <a:rPr lang="pt-BR" dirty="0"/>
              <a:t>Dia</a:t>
            </a:r>
          </a:p>
          <a:p>
            <a:pPr marL="285750" indent="-285750">
              <a:buFontTx/>
              <a:buChar char="-"/>
            </a:pPr>
            <a:r>
              <a:rPr lang="pt-BR" dirty="0"/>
              <a:t>Horário</a:t>
            </a:r>
          </a:p>
          <a:p>
            <a:pPr marL="285750" indent="-285750">
              <a:buFontTx/>
              <a:buChar char="-"/>
            </a:pPr>
            <a:r>
              <a:rPr lang="pt-BR" dirty="0"/>
              <a:t>Preço</a:t>
            </a:r>
          </a:p>
        </p:txBody>
      </p:sp>
      <p:cxnSp>
        <p:nvCxnSpPr>
          <p:cNvPr id="22" name="Conector reto 21">
            <a:extLst>
              <a:ext uri="{FF2B5EF4-FFF2-40B4-BE49-F238E27FC236}">
                <a16:creationId xmlns:a16="http://schemas.microsoft.com/office/drawing/2014/main" id="{0BA7B12F-0042-518E-2C6B-271E476A0907}"/>
              </a:ext>
            </a:extLst>
          </p:cNvPr>
          <p:cNvCxnSpPr>
            <a:cxnSpLocks/>
          </p:cNvCxnSpPr>
          <p:nvPr/>
        </p:nvCxnSpPr>
        <p:spPr>
          <a:xfrm>
            <a:off x="8326216" y="4083597"/>
            <a:ext cx="0" cy="2623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F66F5879-07F5-24F3-78F6-D8885228146B}"/>
              </a:ext>
            </a:extLst>
          </p:cNvPr>
          <p:cNvCxnSpPr/>
          <p:nvPr/>
        </p:nvCxnSpPr>
        <p:spPr>
          <a:xfrm>
            <a:off x="329939" y="4637782"/>
            <a:ext cx="117175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E634E543-5672-A1D9-1F01-48A88CF5E8B2}"/>
              </a:ext>
            </a:extLst>
          </p:cNvPr>
          <p:cNvSpPr txBox="1"/>
          <p:nvPr/>
        </p:nvSpPr>
        <p:spPr>
          <a:xfrm>
            <a:off x="8691108" y="4189481"/>
            <a:ext cx="1262802" cy="369332"/>
          </a:xfrm>
          <a:prstGeom prst="rect">
            <a:avLst/>
          </a:prstGeom>
          <a:noFill/>
          <a:ln>
            <a:solidFill>
              <a:schemeClr val="tx1"/>
            </a:solidFill>
          </a:ln>
        </p:spPr>
        <p:txBody>
          <a:bodyPr wrap="square" rtlCol="0">
            <a:spAutoFit/>
          </a:bodyPr>
          <a:lstStyle/>
          <a:p>
            <a:pPr algn="ctr"/>
            <a:r>
              <a:rPr lang="pt-BR" dirty="0"/>
              <a:t>Diretor</a:t>
            </a:r>
          </a:p>
        </p:txBody>
      </p:sp>
      <p:sp>
        <p:nvSpPr>
          <p:cNvPr id="26" name="CaixaDeTexto 25">
            <a:extLst>
              <a:ext uri="{FF2B5EF4-FFF2-40B4-BE49-F238E27FC236}">
                <a16:creationId xmlns:a16="http://schemas.microsoft.com/office/drawing/2014/main" id="{668D7A6A-5762-B31F-54EA-DC79AB3E1EF5}"/>
              </a:ext>
            </a:extLst>
          </p:cNvPr>
          <p:cNvSpPr txBox="1"/>
          <p:nvPr/>
        </p:nvSpPr>
        <p:spPr>
          <a:xfrm>
            <a:off x="10791345" y="4189481"/>
            <a:ext cx="1050515" cy="369332"/>
          </a:xfrm>
          <a:prstGeom prst="rect">
            <a:avLst/>
          </a:prstGeom>
          <a:noFill/>
          <a:ln>
            <a:solidFill>
              <a:schemeClr val="tx1"/>
            </a:solidFill>
          </a:ln>
        </p:spPr>
        <p:txBody>
          <a:bodyPr wrap="square" rtlCol="0">
            <a:spAutoFit/>
          </a:bodyPr>
          <a:lstStyle/>
          <a:p>
            <a:pPr algn="ctr"/>
            <a:r>
              <a:rPr lang="pt-BR" dirty="0"/>
              <a:t>Elenco</a:t>
            </a:r>
          </a:p>
        </p:txBody>
      </p:sp>
      <p:cxnSp>
        <p:nvCxnSpPr>
          <p:cNvPr id="27" name="Conector reto 26">
            <a:extLst>
              <a:ext uri="{FF2B5EF4-FFF2-40B4-BE49-F238E27FC236}">
                <a16:creationId xmlns:a16="http://schemas.microsoft.com/office/drawing/2014/main" id="{D74799A3-56C7-4706-19BE-1924D10991BE}"/>
              </a:ext>
            </a:extLst>
          </p:cNvPr>
          <p:cNvCxnSpPr>
            <a:cxnSpLocks/>
          </p:cNvCxnSpPr>
          <p:nvPr/>
        </p:nvCxnSpPr>
        <p:spPr>
          <a:xfrm>
            <a:off x="10372627" y="4165945"/>
            <a:ext cx="0" cy="262304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30593127-4791-5209-092E-4720ACFFB238}"/>
              </a:ext>
            </a:extLst>
          </p:cNvPr>
          <p:cNvSpPr txBox="1"/>
          <p:nvPr/>
        </p:nvSpPr>
        <p:spPr>
          <a:xfrm>
            <a:off x="8378052" y="4671229"/>
            <a:ext cx="1751816" cy="646331"/>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u="sng" dirty="0" err="1"/>
              <a:t>id_diretor</a:t>
            </a:r>
            <a:endParaRPr lang="pt-BR" u="sng" dirty="0"/>
          </a:p>
        </p:txBody>
      </p:sp>
      <p:sp>
        <p:nvSpPr>
          <p:cNvPr id="29" name="CaixaDeTexto 28">
            <a:extLst>
              <a:ext uri="{FF2B5EF4-FFF2-40B4-BE49-F238E27FC236}">
                <a16:creationId xmlns:a16="http://schemas.microsoft.com/office/drawing/2014/main" id="{F40F2788-96DA-CF46-A623-5460991ACACB}"/>
              </a:ext>
            </a:extLst>
          </p:cNvPr>
          <p:cNvSpPr txBox="1"/>
          <p:nvPr/>
        </p:nvSpPr>
        <p:spPr>
          <a:xfrm>
            <a:off x="10511282" y="4656453"/>
            <a:ext cx="1751816" cy="923330"/>
          </a:xfrm>
          <a:prstGeom prst="rect">
            <a:avLst/>
          </a:prstGeom>
          <a:noFill/>
        </p:spPr>
        <p:txBody>
          <a:bodyPr wrap="square" rtlCol="0">
            <a:spAutoFit/>
          </a:bodyPr>
          <a:lstStyle/>
          <a:p>
            <a:pPr marL="285750" indent="-285750">
              <a:buFontTx/>
              <a:buChar char="-"/>
            </a:pPr>
            <a:r>
              <a:rPr lang="pt-BR" dirty="0"/>
              <a:t>Nome</a:t>
            </a:r>
          </a:p>
          <a:p>
            <a:pPr marL="285750" indent="-285750">
              <a:buFontTx/>
              <a:buChar char="-"/>
            </a:pPr>
            <a:r>
              <a:rPr lang="pt-BR" dirty="0"/>
              <a:t>Papel</a:t>
            </a:r>
          </a:p>
          <a:p>
            <a:pPr marL="285750" indent="-285750">
              <a:buFontTx/>
              <a:buChar char="-"/>
            </a:pPr>
            <a:r>
              <a:rPr lang="pt-BR" u="sng" dirty="0" err="1"/>
              <a:t>id_elenco</a:t>
            </a:r>
            <a:endParaRPr lang="pt-BR" u="sng" dirty="0"/>
          </a:p>
        </p:txBody>
      </p:sp>
      <p:sp>
        <p:nvSpPr>
          <p:cNvPr id="5" name="Fluxograma: Decisão 4">
            <a:extLst>
              <a:ext uri="{FF2B5EF4-FFF2-40B4-BE49-F238E27FC236}">
                <a16:creationId xmlns:a16="http://schemas.microsoft.com/office/drawing/2014/main" id="{B9CA9E2B-D81F-6950-D069-B30CB5B46E43}"/>
              </a:ext>
            </a:extLst>
          </p:cNvPr>
          <p:cNvSpPr/>
          <p:nvPr/>
        </p:nvSpPr>
        <p:spPr>
          <a:xfrm>
            <a:off x="1828800" y="3357813"/>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Angulado 17">
            <a:extLst>
              <a:ext uri="{FF2B5EF4-FFF2-40B4-BE49-F238E27FC236}">
                <a16:creationId xmlns:a16="http://schemas.microsoft.com/office/drawing/2014/main" id="{40F205C2-203F-FD46-A7D9-2C4A0DC3C25B}"/>
              </a:ext>
            </a:extLst>
          </p:cNvPr>
          <p:cNvCxnSpPr>
            <a:cxnSpLocks/>
            <a:stCxn id="5" idx="3"/>
          </p:cNvCxnSpPr>
          <p:nvPr/>
        </p:nvCxnSpPr>
        <p:spPr>
          <a:xfrm>
            <a:off x="2960016" y="3645330"/>
            <a:ext cx="248510" cy="59295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Conector: Angulado 19">
            <a:extLst>
              <a:ext uri="{FF2B5EF4-FFF2-40B4-BE49-F238E27FC236}">
                <a16:creationId xmlns:a16="http://schemas.microsoft.com/office/drawing/2014/main" id="{91B88FED-3320-DC23-3DDC-F54AA6E4CAC3}"/>
              </a:ext>
            </a:extLst>
          </p:cNvPr>
          <p:cNvCxnSpPr>
            <a:stCxn id="5" idx="1"/>
            <a:endCxn id="2" idx="0"/>
          </p:cNvCxnSpPr>
          <p:nvPr/>
        </p:nvCxnSpPr>
        <p:spPr>
          <a:xfrm rot="10800000" flipV="1">
            <a:off x="979614" y="3645330"/>
            <a:ext cx="849186" cy="56278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17B5895C-AE77-A3DC-06D7-C3917377D299}"/>
              </a:ext>
            </a:extLst>
          </p:cNvPr>
          <p:cNvSpPr txBox="1"/>
          <p:nvPr/>
        </p:nvSpPr>
        <p:spPr>
          <a:xfrm>
            <a:off x="2091976" y="3441994"/>
            <a:ext cx="849186" cy="369332"/>
          </a:xfrm>
          <a:prstGeom prst="rect">
            <a:avLst/>
          </a:prstGeom>
          <a:noFill/>
        </p:spPr>
        <p:txBody>
          <a:bodyPr wrap="square" rtlCol="0">
            <a:spAutoFit/>
          </a:bodyPr>
          <a:lstStyle/>
          <a:p>
            <a:r>
              <a:rPr lang="pt-BR" dirty="0">
                <a:highlight>
                  <a:srgbClr val="FFFF00"/>
                </a:highlight>
              </a:rPr>
              <a:t>exibe</a:t>
            </a:r>
          </a:p>
        </p:txBody>
      </p:sp>
      <p:sp>
        <p:nvSpPr>
          <p:cNvPr id="12" name="Fluxograma: Decisão 11">
            <a:extLst>
              <a:ext uri="{FF2B5EF4-FFF2-40B4-BE49-F238E27FC236}">
                <a16:creationId xmlns:a16="http://schemas.microsoft.com/office/drawing/2014/main" id="{1E1F5E88-9528-C372-D17E-647E2FA56E93}"/>
              </a:ext>
            </a:extLst>
          </p:cNvPr>
          <p:cNvSpPr/>
          <p:nvPr/>
        </p:nvSpPr>
        <p:spPr>
          <a:xfrm>
            <a:off x="4286234" y="3344819"/>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C02B0734-3158-A9A9-4447-FEA8C9112BCD}"/>
              </a:ext>
            </a:extLst>
          </p:cNvPr>
          <p:cNvSpPr txBox="1"/>
          <p:nvPr/>
        </p:nvSpPr>
        <p:spPr>
          <a:xfrm>
            <a:off x="4516048" y="3441269"/>
            <a:ext cx="849186" cy="369332"/>
          </a:xfrm>
          <a:prstGeom prst="rect">
            <a:avLst/>
          </a:prstGeom>
          <a:noFill/>
        </p:spPr>
        <p:txBody>
          <a:bodyPr wrap="square" rtlCol="0">
            <a:spAutoFit/>
          </a:bodyPr>
          <a:lstStyle/>
          <a:p>
            <a:r>
              <a:rPr lang="pt-BR" dirty="0"/>
              <a:t>passa</a:t>
            </a:r>
          </a:p>
        </p:txBody>
      </p:sp>
      <p:cxnSp>
        <p:nvCxnSpPr>
          <p:cNvPr id="19" name="Conector: Angulado 18">
            <a:extLst>
              <a:ext uri="{FF2B5EF4-FFF2-40B4-BE49-F238E27FC236}">
                <a16:creationId xmlns:a16="http://schemas.microsoft.com/office/drawing/2014/main" id="{EE7779E3-A0A5-C1BA-8987-B582C0795933}"/>
              </a:ext>
            </a:extLst>
          </p:cNvPr>
          <p:cNvCxnSpPr>
            <a:cxnSpLocks/>
            <a:stCxn id="12" idx="1"/>
          </p:cNvCxnSpPr>
          <p:nvPr/>
        </p:nvCxnSpPr>
        <p:spPr>
          <a:xfrm rot="10800000" flipV="1">
            <a:off x="3823076" y="3632336"/>
            <a:ext cx="463158" cy="5831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0" name="Conector: Angulado 29">
            <a:extLst>
              <a:ext uri="{FF2B5EF4-FFF2-40B4-BE49-F238E27FC236}">
                <a16:creationId xmlns:a16="http://schemas.microsoft.com/office/drawing/2014/main" id="{45B30AC6-7FC9-DF4C-FB81-41284D0AFC53}"/>
              </a:ext>
            </a:extLst>
          </p:cNvPr>
          <p:cNvCxnSpPr>
            <a:cxnSpLocks/>
            <a:stCxn id="12" idx="3"/>
            <a:endCxn id="6" idx="0"/>
          </p:cNvCxnSpPr>
          <p:nvPr/>
        </p:nvCxnSpPr>
        <p:spPr>
          <a:xfrm>
            <a:off x="5417450" y="3632336"/>
            <a:ext cx="410859" cy="57776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0415962D-1049-056C-87DC-734D0EA8A81A}"/>
              </a:ext>
            </a:extLst>
          </p:cNvPr>
          <p:cNvSpPr txBox="1"/>
          <p:nvPr/>
        </p:nvSpPr>
        <p:spPr>
          <a:xfrm>
            <a:off x="2982490" y="3875875"/>
            <a:ext cx="261129" cy="369332"/>
          </a:xfrm>
          <a:prstGeom prst="rect">
            <a:avLst/>
          </a:prstGeom>
          <a:noFill/>
        </p:spPr>
        <p:txBody>
          <a:bodyPr wrap="square" rtlCol="0">
            <a:spAutoFit/>
          </a:bodyPr>
          <a:lstStyle/>
          <a:p>
            <a:r>
              <a:rPr lang="pt-BR" dirty="0"/>
              <a:t>n</a:t>
            </a:r>
          </a:p>
        </p:txBody>
      </p:sp>
      <p:sp>
        <p:nvSpPr>
          <p:cNvPr id="33" name="CaixaDeTexto 32">
            <a:extLst>
              <a:ext uri="{FF2B5EF4-FFF2-40B4-BE49-F238E27FC236}">
                <a16:creationId xmlns:a16="http://schemas.microsoft.com/office/drawing/2014/main" id="{279F58E1-DF87-4BD0-EB3A-7F7B43D46EDD}"/>
              </a:ext>
            </a:extLst>
          </p:cNvPr>
          <p:cNvSpPr txBox="1"/>
          <p:nvPr/>
        </p:nvSpPr>
        <p:spPr>
          <a:xfrm>
            <a:off x="938771" y="3868949"/>
            <a:ext cx="364893" cy="369332"/>
          </a:xfrm>
          <a:prstGeom prst="rect">
            <a:avLst/>
          </a:prstGeom>
          <a:noFill/>
        </p:spPr>
        <p:txBody>
          <a:bodyPr wrap="square" rtlCol="0">
            <a:spAutoFit/>
          </a:bodyPr>
          <a:lstStyle/>
          <a:p>
            <a:r>
              <a:rPr lang="pt-BR" dirty="0"/>
              <a:t>n</a:t>
            </a:r>
          </a:p>
        </p:txBody>
      </p:sp>
      <p:sp>
        <p:nvSpPr>
          <p:cNvPr id="34" name="CaixaDeTexto 33">
            <a:extLst>
              <a:ext uri="{FF2B5EF4-FFF2-40B4-BE49-F238E27FC236}">
                <a16:creationId xmlns:a16="http://schemas.microsoft.com/office/drawing/2014/main" id="{794D5C8D-7F31-CCFB-BDE3-2353F393B07D}"/>
              </a:ext>
            </a:extLst>
          </p:cNvPr>
          <p:cNvSpPr txBox="1"/>
          <p:nvPr/>
        </p:nvSpPr>
        <p:spPr>
          <a:xfrm>
            <a:off x="5544741" y="3823749"/>
            <a:ext cx="364893" cy="369332"/>
          </a:xfrm>
          <a:prstGeom prst="rect">
            <a:avLst/>
          </a:prstGeom>
          <a:noFill/>
        </p:spPr>
        <p:txBody>
          <a:bodyPr wrap="square" rtlCol="0">
            <a:spAutoFit/>
          </a:bodyPr>
          <a:lstStyle/>
          <a:p>
            <a:r>
              <a:rPr lang="pt-BR" dirty="0"/>
              <a:t>n</a:t>
            </a:r>
          </a:p>
        </p:txBody>
      </p:sp>
      <p:sp>
        <p:nvSpPr>
          <p:cNvPr id="35" name="CaixaDeTexto 34">
            <a:extLst>
              <a:ext uri="{FF2B5EF4-FFF2-40B4-BE49-F238E27FC236}">
                <a16:creationId xmlns:a16="http://schemas.microsoft.com/office/drawing/2014/main" id="{CE0B3B16-B6F7-52FF-117F-4A58D5F192CF}"/>
              </a:ext>
            </a:extLst>
          </p:cNvPr>
          <p:cNvSpPr txBox="1"/>
          <p:nvPr/>
        </p:nvSpPr>
        <p:spPr>
          <a:xfrm>
            <a:off x="3823076" y="3899271"/>
            <a:ext cx="364893" cy="369332"/>
          </a:xfrm>
          <a:prstGeom prst="rect">
            <a:avLst/>
          </a:prstGeom>
          <a:noFill/>
        </p:spPr>
        <p:txBody>
          <a:bodyPr wrap="square" rtlCol="0">
            <a:spAutoFit/>
          </a:bodyPr>
          <a:lstStyle/>
          <a:p>
            <a:r>
              <a:rPr lang="pt-BR" dirty="0"/>
              <a:t>1</a:t>
            </a:r>
          </a:p>
        </p:txBody>
      </p:sp>
      <p:sp>
        <p:nvSpPr>
          <p:cNvPr id="31" name="CaixaDeTexto 30">
            <a:extLst>
              <a:ext uri="{FF2B5EF4-FFF2-40B4-BE49-F238E27FC236}">
                <a16:creationId xmlns:a16="http://schemas.microsoft.com/office/drawing/2014/main" id="{C9F9C29D-70B4-27D2-AE0E-3C9F8AAE1A73}"/>
              </a:ext>
            </a:extLst>
          </p:cNvPr>
          <p:cNvSpPr txBox="1"/>
          <p:nvPr/>
        </p:nvSpPr>
        <p:spPr>
          <a:xfrm>
            <a:off x="6427540" y="3447052"/>
            <a:ext cx="1024719" cy="369332"/>
          </a:xfrm>
          <a:prstGeom prst="rect">
            <a:avLst/>
          </a:prstGeom>
          <a:noFill/>
        </p:spPr>
        <p:txBody>
          <a:bodyPr wrap="square" rtlCol="0">
            <a:spAutoFit/>
          </a:bodyPr>
          <a:lstStyle/>
          <a:p>
            <a:r>
              <a:rPr lang="pt-BR" dirty="0"/>
              <a:t>localiza</a:t>
            </a:r>
          </a:p>
        </p:txBody>
      </p:sp>
      <p:cxnSp>
        <p:nvCxnSpPr>
          <p:cNvPr id="36" name="Conector: Angulado 35">
            <a:extLst>
              <a:ext uri="{FF2B5EF4-FFF2-40B4-BE49-F238E27FC236}">
                <a16:creationId xmlns:a16="http://schemas.microsoft.com/office/drawing/2014/main" id="{874F7486-1293-86CE-A517-B9FBFCA663A8}"/>
              </a:ext>
            </a:extLst>
          </p:cNvPr>
          <p:cNvCxnSpPr>
            <a:cxnSpLocks/>
            <a:stCxn id="40" idx="1"/>
          </p:cNvCxnSpPr>
          <p:nvPr/>
        </p:nvCxnSpPr>
        <p:spPr>
          <a:xfrm rot="10800000" flipV="1">
            <a:off x="6014068" y="3632335"/>
            <a:ext cx="266341" cy="57532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7" name="Conector: Angulado 36">
            <a:extLst>
              <a:ext uri="{FF2B5EF4-FFF2-40B4-BE49-F238E27FC236}">
                <a16:creationId xmlns:a16="http://schemas.microsoft.com/office/drawing/2014/main" id="{6BF5F485-8FB4-1641-86DC-CB58336AF5D8}"/>
              </a:ext>
            </a:extLst>
          </p:cNvPr>
          <p:cNvCxnSpPr>
            <a:cxnSpLocks/>
          </p:cNvCxnSpPr>
          <p:nvPr/>
        </p:nvCxnSpPr>
        <p:spPr>
          <a:xfrm rot="16200000" flipH="1">
            <a:off x="7202634" y="3794256"/>
            <a:ext cx="549967" cy="228937"/>
          </a:xfrm>
          <a:prstGeom prst="bentConnector3">
            <a:avLst>
              <a:gd name="adj1" fmla="val 292"/>
            </a:avLst>
          </a:prstGeom>
        </p:spPr>
        <p:style>
          <a:lnRef idx="1">
            <a:schemeClr val="accent1"/>
          </a:lnRef>
          <a:fillRef idx="0">
            <a:schemeClr val="accent1"/>
          </a:fillRef>
          <a:effectRef idx="0">
            <a:schemeClr val="accent1"/>
          </a:effectRef>
          <a:fontRef idx="minor">
            <a:schemeClr val="tx1"/>
          </a:fontRef>
        </p:style>
      </p:cxnSp>
      <p:sp>
        <p:nvSpPr>
          <p:cNvPr id="38" name="CaixaDeTexto 37">
            <a:extLst>
              <a:ext uri="{FF2B5EF4-FFF2-40B4-BE49-F238E27FC236}">
                <a16:creationId xmlns:a16="http://schemas.microsoft.com/office/drawing/2014/main" id="{A066C1F9-287D-80FC-84F9-6DAE6725AF79}"/>
              </a:ext>
            </a:extLst>
          </p:cNvPr>
          <p:cNvSpPr txBox="1"/>
          <p:nvPr/>
        </p:nvSpPr>
        <p:spPr>
          <a:xfrm>
            <a:off x="7217765" y="3851511"/>
            <a:ext cx="364893" cy="369332"/>
          </a:xfrm>
          <a:prstGeom prst="rect">
            <a:avLst/>
          </a:prstGeom>
          <a:noFill/>
        </p:spPr>
        <p:txBody>
          <a:bodyPr wrap="square" rtlCol="0">
            <a:spAutoFit/>
          </a:bodyPr>
          <a:lstStyle/>
          <a:p>
            <a:r>
              <a:rPr lang="pt-BR" dirty="0"/>
              <a:t>1</a:t>
            </a:r>
          </a:p>
        </p:txBody>
      </p:sp>
      <p:sp>
        <p:nvSpPr>
          <p:cNvPr id="39" name="CaixaDeTexto 38">
            <a:extLst>
              <a:ext uri="{FF2B5EF4-FFF2-40B4-BE49-F238E27FC236}">
                <a16:creationId xmlns:a16="http://schemas.microsoft.com/office/drawing/2014/main" id="{0AEBDA61-D0F6-94C6-8392-CCAADAA2BA79}"/>
              </a:ext>
            </a:extLst>
          </p:cNvPr>
          <p:cNvSpPr txBox="1"/>
          <p:nvPr/>
        </p:nvSpPr>
        <p:spPr>
          <a:xfrm>
            <a:off x="6014065" y="3825475"/>
            <a:ext cx="364893" cy="369332"/>
          </a:xfrm>
          <a:prstGeom prst="rect">
            <a:avLst/>
          </a:prstGeom>
          <a:noFill/>
        </p:spPr>
        <p:txBody>
          <a:bodyPr wrap="square" rtlCol="0">
            <a:spAutoFit/>
          </a:bodyPr>
          <a:lstStyle/>
          <a:p>
            <a:r>
              <a:rPr lang="pt-BR" dirty="0"/>
              <a:t>n</a:t>
            </a:r>
          </a:p>
        </p:txBody>
      </p:sp>
      <p:sp>
        <p:nvSpPr>
          <p:cNvPr id="40" name="Fluxograma: Decisão 39">
            <a:extLst>
              <a:ext uri="{FF2B5EF4-FFF2-40B4-BE49-F238E27FC236}">
                <a16:creationId xmlns:a16="http://schemas.microsoft.com/office/drawing/2014/main" id="{E22E8CB5-0DE9-32F5-1A79-1553BA2DF533}"/>
              </a:ext>
            </a:extLst>
          </p:cNvPr>
          <p:cNvSpPr/>
          <p:nvPr/>
        </p:nvSpPr>
        <p:spPr>
          <a:xfrm>
            <a:off x="6280408" y="3344818"/>
            <a:ext cx="1131216" cy="575033"/>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luxograma: Decisão 16">
            <a:extLst>
              <a:ext uri="{FF2B5EF4-FFF2-40B4-BE49-F238E27FC236}">
                <a16:creationId xmlns:a16="http://schemas.microsoft.com/office/drawing/2014/main" id="{4695768D-1EC4-264A-8A09-9B88FFCC1579}"/>
              </a:ext>
            </a:extLst>
          </p:cNvPr>
          <p:cNvSpPr/>
          <p:nvPr/>
        </p:nvSpPr>
        <p:spPr>
          <a:xfrm>
            <a:off x="8881549" y="2827604"/>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CaixaDeTexto 41">
            <a:extLst>
              <a:ext uri="{FF2B5EF4-FFF2-40B4-BE49-F238E27FC236}">
                <a16:creationId xmlns:a16="http://schemas.microsoft.com/office/drawing/2014/main" id="{E6705FA8-D1E9-96D0-D374-3B90D71202B9}"/>
              </a:ext>
            </a:extLst>
          </p:cNvPr>
          <p:cNvSpPr txBox="1"/>
          <p:nvPr/>
        </p:nvSpPr>
        <p:spPr>
          <a:xfrm>
            <a:off x="8911180" y="2923609"/>
            <a:ext cx="1050514" cy="369332"/>
          </a:xfrm>
          <a:prstGeom prst="rect">
            <a:avLst/>
          </a:prstGeom>
          <a:noFill/>
        </p:spPr>
        <p:txBody>
          <a:bodyPr wrap="square" rtlCol="0">
            <a:spAutoFit/>
          </a:bodyPr>
          <a:lstStyle/>
          <a:p>
            <a:r>
              <a:rPr lang="pt-BR" dirty="0">
                <a:highlight>
                  <a:srgbClr val="FFFF00"/>
                </a:highlight>
              </a:rPr>
              <a:t>dirigido</a:t>
            </a:r>
          </a:p>
        </p:txBody>
      </p:sp>
      <p:cxnSp>
        <p:nvCxnSpPr>
          <p:cNvPr id="44" name="Conector: Angulado 43">
            <a:extLst>
              <a:ext uri="{FF2B5EF4-FFF2-40B4-BE49-F238E27FC236}">
                <a16:creationId xmlns:a16="http://schemas.microsoft.com/office/drawing/2014/main" id="{6D160554-EC64-87B6-69E6-9B7F14391D2C}"/>
              </a:ext>
            </a:extLst>
          </p:cNvPr>
          <p:cNvCxnSpPr>
            <a:cxnSpLocks/>
            <a:endCxn id="42" idx="1"/>
          </p:cNvCxnSpPr>
          <p:nvPr/>
        </p:nvCxnSpPr>
        <p:spPr>
          <a:xfrm flipV="1">
            <a:off x="3381876" y="3108275"/>
            <a:ext cx="5529304" cy="1118077"/>
          </a:xfrm>
          <a:prstGeom prst="bentConnector3">
            <a:avLst>
              <a:gd name="adj1" fmla="val 5503"/>
            </a:avLst>
          </a:prstGeom>
        </p:spPr>
        <p:style>
          <a:lnRef idx="1">
            <a:schemeClr val="accent1"/>
          </a:lnRef>
          <a:fillRef idx="0">
            <a:schemeClr val="accent1"/>
          </a:fillRef>
          <a:effectRef idx="0">
            <a:schemeClr val="accent1"/>
          </a:effectRef>
          <a:fontRef idx="minor">
            <a:schemeClr val="tx1"/>
          </a:fontRef>
        </p:style>
      </p:cxnSp>
      <p:cxnSp>
        <p:nvCxnSpPr>
          <p:cNvPr id="47" name="Conector reto 46">
            <a:extLst>
              <a:ext uri="{FF2B5EF4-FFF2-40B4-BE49-F238E27FC236}">
                <a16:creationId xmlns:a16="http://schemas.microsoft.com/office/drawing/2014/main" id="{EC4CE640-33D5-FA08-1F06-9B9EE279C545}"/>
              </a:ext>
            </a:extLst>
          </p:cNvPr>
          <p:cNvCxnSpPr>
            <a:stCxn id="25" idx="0"/>
            <a:endCxn id="17" idx="2"/>
          </p:cNvCxnSpPr>
          <p:nvPr/>
        </p:nvCxnSpPr>
        <p:spPr>
          <a:xfrm flipH="1" flipV="1">
            <a:off x="9318528" y="3377570"/>
            <a:ext cx="3981" cy="8119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ector reto 48">
            <a:extLst>
              <a:ext uri="{FF2B5EF4-FFF2-40B4-BE49-F238E27FC236}">
                <a16:creationId xmlns:a16="http://schemas.microsoft.com/office/drawing/2014/main" id="{E7A64442-4953-D5A5-FA69-B98378BAE2C1}"/>
              </a:ext>
            </a:extLst>
          </p:cNvPr>
          <p:cNvCxnSpPr>
            <a:cxnSpLocks/>
            <a:stCxn id="62" idx="2"/>
            <a:endCxn id="26" idx="0"/>
          </p:cNvCxnSpPr>
          <p:nvPr/>
        </p:nvCxnSpPr>
        <p:spPr>
          <a:xfrm>
            <a:off x="11316602" y="2831634"/>
            <a:ext cx="1" cy="1357847"/>
          </a:xfrm>
          <a:prstGeom prst="line">
            <a:avLst/>
          </a:prstGeom>
        </p:spPr>
        <p:style>
          <a:lnRef idx="1">
            <a:schemeClr val="accent1"/>
          </a:lnRef>
          <a:fillRef idx="0">
            <a:schemeClr val="accent1"/>
          </a:fillRef>
          <a:effectRef idx="0">
            <a:schemeClr val="accent1"/>
          </a:effectRef>
          <a:fontRef idx="minor">
            <a:schemeClr val="tx1"/>
          </a:fontRef>
        </p:style>
      </p:cxnSp>
      <p:sp>
        <p:nvSpPr>
          <p:cNvPr id="50" name="CaixaDeTexto 49">
            <a:extLst>
              <a:ext uri="{FF2B5EF4-FFF2-40B4-BE49-F238E27FC236}">
                <a16:creationId xmlns:a16="http://schemas.microsoft.com/office/drawing/2014/main" id="{C8F9EE63-91C0-03C9-6BA3-AF247924E0A6}"/>
              </a:ext>
            </a:extLst>
          </p:cNvPr>
          <p:cNvSpPr txBox="1"/>
          <p:nvPr/>
        </p:nvSpPr>
        <p:spPr>
          <a:xfrm>
            <a:off x="11316602" y="3838760"/>
            <a:ext cx="364563" cy="369332"/>
          </a:xfrm>
          <a:prstGeom prst="rect">
            <a:avLst/>
          </a:prstGeom>
          <a:noFill/>
        </p:spPr>
        <p:txBody>
          <a:bodyPr wrap="square" rtlCol="0">
            <a:spAutoFit/>
          </a:bodyPr>
          <a:lstStyle/>
          <a:p>
            <a:r>
              <a:rPr lang="pt-BR" dirty="0"/>
              <a:t>n</a:t>
            </a:r>
          </a:p>
        </p:txBody>
      </p:sp>
      <p:sp>
        <p:nvSpPr>
          <p:cNvPr id="51" name="CaixaDeTexto 50">
            <a:extLst>
              <a:ext uri="{FF2B5EF4-FFF2-40B4-BE49-F238E27FC236}">
                <a16:creationId xmlns:a16="http://schemas.microsoft.com/office/drawing/2014/main" id="{81CE1960-B531-5559-ED25-6901A9C8F91E}"/>
              </a:ext>
            </a:extLst>
          </p:cNvPr>
          <p:cNvSpPr txBox="1"/>
          <p:nvPr/>
        </p:nvSpPr>
        <p:spPr>
          <a:xfrm>
            <a:off x="9071874" y="3842134"/>
            <a:ext cx="364563" cy="369332"/>
          </a:xfrm>
          <a:prstGeom prst="rect">
            <a:avLst/>
          </a:prstGeom>
          <a:noFill/>
        </p:spPr>
        <p:txBody>
          <a:bodyPr wrap="square" rtlCol="0">
            <a:spAutoFit/>
          </a:bodyPr>
          <a:lstStyle/>
          <a:p>
            <a:r>
              <a:rPr lang="pt-BR" dirty="0"/>
              <a:t>n</a:t>
            </a:r>
          </a:p>
        </p:txBody>
      </p:sp>
      <p:sp>
        <p:nvSpPr>
          <p:cNvPr id="52" name="CaixaDeTexto 51">
            <a:extLst>
              <a:ext uri="{FF2B5EF4-FFF2-40B4-BE49-F238E27FC236}">
                <a16:creationId xmlns:a16="http://schemas.microsoft.com/office/drawing/2014/main" id="{90D6C8B0-46E4-4FC8-1B89-627568A6BAD6}"/>
              </a:ext>
            </a:extLst>
          </p:cNvPr>
          <p:cNvSpPr txBox="1"/>
          <p:nvPr/>
        </p:nvSpPr>
        <p:spPr>
          <a:xfrm>
            <a:off x="3192208" y="3802124"/>
            <a:ext cx="364563" cy="369332"/>
          </a:xfrm>
          <a:prstGeom prst="rect">
            <a:avLst/>
          </a:prstGeom>
          <a:noFill/>
        </p:spPr>
        <p:txBody>
          <a:bodyPr wrap="square" rtlCol="0">
            <a:spAutoFit/>
          </a:bodyPr>
          <a:lstStyle/>
          <a:p>
            <a:r>
              <a:rPr lang="pt-BR" dirty="0"/>
              <a:t>n</a:t>
            </a:r>
          </a:p>
        </p:txBody>
      </p:sp>
      <p:sp>
        <p:nvSpPr>
          <p:cNvPr id="62" name="Fluxograma: Decisão 61">
            <a:extLst>
              <a:ext uri="{FF2B5EF4-FFF2-40B4-BE49-F238E27FC236}">
                <a16:creationId xmlns:a16="http://schemas.microsoft.com/office/drawing/2014/main" id="{EF063440-DE5E-4BE9-870A-236FCC21A069}"/>
              </a:ext>
            </a:extLst>
          </p:cNvPr>
          <p:cNvSpPr/>
          <p:nvPr/>
        </p:nvSpPr>
        <p:spPr>
          <a:xfrm>
            <a:off x="10879623" y="2281668"/>
            <a:ext cx="873957" cy="549966"/>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CaixaDeTexto 68">
            <a:extLst>
              <a:ext uri="{FF2B5EF4-FFF2-40B4-BE49-F238E27FC236}">
                <a16:creationId xmlns:a16="http://schemas.microsoft.com/office/drawing/2014/main" id="{CE466B15-09AA-9011-D786-131B0D83DA9B}"/>
              </a:ext>
            </a:extLst>
          </p:cNvPr>
          <p:cNvSpPr txBox="1"/>
          <p:nvPr/>
        </p:nvSpPr>
        <p:spPr>
          <a:xfrm>
            <a:off x="10894596" y="2379085"/>
            <a:ext cx="1050514" cy="369332"/>
          </a:xfrm>
          <a:prstGeom prst="rect">
            <a:avLst/>
          </a:prstGeom>
          <a:noFill/>
        </p:spPr>
        <p:txBody>
          <a:bodyPr wrap="square" rtlCol="0">
            <a:spAutoFit/>
          </a:bodyPr>
          <a:lstStyle/>
          <a:p>
            <a:r>
              <a:rPr lang="pt-BR" dirty="0">
                <a:highlight>
                  <a:srgbClr val="FFFF00"/>
                </a:highlight>
              </a:rPr>
              <a:t>contém</a:t>
            </a:r>
          </a:p>
        </p:txBody>
      </p:sp>
      <p:cxnSp>
        <p:nvCxnSpPr>
          <p:cNvPr id="23" name="Conector: Angulado 22">
            <a:extLst>
              <a:ext uri="{FF2B5EF4-FFF2-40B4-BE49-F238E27FC236}">
                <a16:creationId xmlns:a16="http://schemas.microsoft.com/office/drawing/2014/main" id="{95CD1C7B-2C47-5F48-855D-7590FAEA0FC9}"/>
              </a:ext>
            </a:extLst>
          </p:cNvPr>
          <p:cNvCxnSpPr>
            <a:cxnSpLocks/>
          </p:cNvCxnSpPr>
          <p:nvPr/>
        </p:nvCxnSpPr>
        <p:spPr>
          <a:xfrm rot="10800000" flipV="1">
            <a:off x="3403628" y="2556651"/>
            <a:ext cx="7315300" cy="165881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41" name="CaixaDeTexto 40">
            <a:extLst>
              <a:ext uri="{FF2B5EF4-FFF2-40B4-BE49-F238E27FC236}">
                <a16:creationId xmlns:a16="http://schemas.microsoft.com/office/drawing/2014/main" id="{AF039645-28D4-CDC0-409A-C15AC1062D88}"/>
              </a:ext>
            </a:extLst>
          </p:cNvPr>
          <p:cNvSpPr txBox="1"/>
          <p:nvPr/>
        </p:nvSpPr>
        <p:spPr>
          <a:xfrm>
            <a:off x="3475673" y="3802124"/>
            <a:ext cx="364563" cy="369332"/>
          </a:xfrm>
          <a:prstGeom prst="rect">
            <a:avLst/>
          </a:prstGeom>
          <a:noFill/>
        </p:spPr>
        <p:txBody>
          <a:bodyPr wrap="square" rtlCol="0">
            <a:spAutoFit/>
          </a:bodyPr>
          <a:lstStyle/>
          <a:p>
            <a:r>
              <a:rPr lang="pt-BR" dirty="0"/>
              <a:t>n</a:t>
            </a:r>
          </a:p>
        </p:txBody>
      </p:sp>
      <p:sp>
        <p:nvSpPr>
          <p:cNvPr id="43" name="Retângulo 42">
            <a:extLst>
              <a:ext uri="{FF2B5EF4-FFF2-40B4-BE49-F238E27FC236}">
                <a16:creationId xmlns:a16="http://schemas.microsoft.com/office/drawing/2014/main" id="{92DBB1A8-E0AB-006F-F379-9367898E9238}"/>
              </a:ext>
            </a:extLst>
          </p:cNvPr>
          <p:cNvSpPr/>
          <p:nvPr/>
        </p:nvSpPr>
        <p:spPr>
          <a:xfrm>
            <a:off x="5162371" y="4157146"/>
            <a:ext cx="1328377" cy="46438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CaixaDeTexto 44">
            <a:extLst>
              <a:ext uri="{FF2B5EF4-FFF2-40B4-BE49-F238E27FC236}">
                <a16:creationId xmlns:a16="http://schemas.microsoft.com/office/drawing/2014/main" id="{B80ED2DB-B56B-5A7C-AB23-CF42A68CDB13}"/>
              </a:ext>
            </a:extLst>
          </p:cNvPr>
          <p:cNvSpPr txBox="1"/>
          <p:nvPr/>
        </p:nvSpPr>
        <p:spPr>
          <a:xfrm>
            <a:off x="518474" y="141402"/>
            <a:ext cx="3120272" cy="369332"/>
          </a:xfrm>
          <a:prstGeom prst="rect">
            <a:avLst/>
          </a:prstGeom>
          <a:noFill/>
        </p:spPr>
        <p:txBody>
          <a:bodyPr wrap="square" rtlCol="0">
            <a:spAutoFit/>
          </a:bodyPr>
          <a:lstStyle/>
          <a:p>
            <a:r>
              <a:rPr lang="pt-BR" dirty="0"/>
              <a:t>Cinema(</a:t>
            </a:r>
            <a:r>
              <a:rPr lang="pt-BR" u="sng" dirty="0"/>
              <a:t>CNPJ</a:t>
            </a:r>
            <a:r>
              <a:rPr lang="pt-BR" dirty="0"/>
              <a:t>, </a:t>
            </a:r>
            <a:r>
              <a:rPr lang="pt-BR" dirty="0" err="1"/>
              <a:t>End</a:t>
            </a:r>
            <a:r>
              <a:rPr lang="pt-BR" dirty="0"/>
              <a:t>, </a:t>
            </a:r>
            <a:r>
              <a:rPr lang="pt-BR" dirty="0" err="1"/>
              <a:t>Tel</a:t>
            </a:r>
            <a:r>
              <a:rPr lang="pt-BR" dirty="0"/>
              <a:t>)</a:t>
            </a:r>
          </a:p>
        </p:txBody>
      </p:sp>
      <p:sp>
        <p:nvSpPr>
          <p:cNvPr id="46" name="CaixaDeTexto 45">
            <a:extLst>
              <a:ext uri="{FF2B5EF4-FFF2-40B4-BE49-F238E27FC236}">
                <a16:creationId xmlns:a16="http://schemas.microsoft.com/office/drawing/2014/main" id="{0483277A-D798-4A57-4300-D950D5EB1834}"/>
              </a:ext>
            </a:extLst>
          </p:cNvPr>
          <p:cNvSpPr txBox="1"/>
          <p:nvPr/>
        </p:nvSpPr>
        <p:spPr>
          <a:xfrm>
            <a:off x="518473" y="469884"/>
            <a:ext cx="7406105" cy="369332"/>
          </a:xfrm>
          <a:prstGeom prst="rect">
            <a:avLst/>
          </a:prstGeom>
          <a:noFill/>
        </p:spPr>
        <p:txBody>
          <a:bodyPr wrap="square" rtlCol="0">
            <a:spAutoFit/>
          </a:bodyPr>
          <a:lstStyle/>
          <a:p>
            <a:r>
              <a:rPr lang="pt-BR" dirty="0"/>
              <a:t>Filme(</a:t>
            </a:r>
            <a:r>
              <a:rPr lang="pt-BR" u="sng" dirty="0" err="1"/>
              <a:t>id_filme</a:t>
            </a:r>
            <a:r>
              <a:rPr lang="pt-BR" dirty="0"/>
              <a:t>, </a:t>
            </a:r>
            <a:r>
              <a:rPr lang="pt-BR" dirty="0" err="1"/>
              <a:t>TitBrasil</a:t>
            </a:r>
            <a:r>
              <a:rPr lang="pt-BR" dirty="0"/>
              <a:t>, </a:t>
            </a:r>
            <a:r>
              <a:rPr lang="pt-BR" dirty="0" err="1"/>
              <a:t>TitOrig</a:t>
            </a:r>
            <a:r>
              <a:rPr lang="pt-BR" dirty="0"/>
              <a:t>, Idioma, Sinopse, </a:t>
            </a:r>
            <a:r>
              <a:rPr lang="pt-BR" dirty="0" err="1"/>
              <a:t>Genero</a:t>
            </a:r>
            <a:r>
              <a:rPr lang="pt-BR" dirty="0"/>
              <a:t>)</a:t>
            </a:r>
          </a:p>
        </p:txBody>
      </p:sp>
      <p:sp>
        <p:nvSpPr>
          <p:cNvPr id="48" name="CaixaDeTexto 47">
            <a:extLst>
              <a:ext uri="{FF2B5EF4-FFF2-40B4-BE49-F238E27FC236}">
                <a16:creationId xmlns:a16="http://schemas.microsoft.com/office/drawing/2014/main" id="{980BA33F-FB2D-7C58-D35F-2A8797934CC9}"/>
              </a:ext>
            </a:extLst>
          </p:cNvPr>
          <p:cNvSpPr txBox="1"/>
          <p:nvPr/>
        </p:nvSpPr>
        <p:spPr>
          <a:xfrm>
            <a:off x="518472" y="865707"/>
            <a:ext cx="7406105" cy="369332"/>
          </a:xfrm>
          <a:prstGeom prst="rect">
            <a:avLst/>
          </a:prstGeom>
          <a:noFill/>
        </p:spPr>
        <p:txBody>
          <a:bodyPr wrap="square" rtlCol="0">
            <a:spAutoFit/>
          </a:bodyPr>
          <a:lstStyle/>
          <a:p>
            <a:r>
              <a:rPr lang="pt-BR" dirty="0"/>
              <a:t>Sala(</a:t>
            </a:r>
            <a:r>
              <a:rPr lang="pt-BR" u="sng" dirty="0" err="1"/>
              <a:t>id_sala</a:t>
            </a:r>
            <a:r>
              <a:rPr lang="pt-BR" dirty="0"/>
              <a:t>, </a:t>
            </a:r>
            <a:r>
              <a:rPr lang="pt-BR" dirty="0" err="1"/>
              <a:t>QtdeLugares</a:t>
            </a:r>
            <a:r>
              <a:rPr lang="pt-BR" dirty="0"/>
              <a:t>, </a:t>
            </a:r>
            <a:r>
              <a:rPr lang="pt-BR" dirty="0" err="1"/>
              <a:t>TipoSom</a:t>
            </a:r>
            <a:r>
              <a:rPr lang="pt-BR" dirty="0"/>
              <a:t>, Acessibilidade)</a:t>
            </a:r>
          </a:p>
        </p:txBody>
      </p:sp>
      <p:sp>
        <p:nvSpPr>
          <p:cNvPr id="53" name="CaixaDeTexto 52">
            <a:extLst>
              <a:ext uri="{FF2B5EF4-FFF2-40B4-BE49-F238E27FC236}">
                <a16:creationId xmlns:a16="http://schemas.microsoft.com/office/drawing/2014/main" id="{49AD6EEC-D3B8-1E6C-C634-1E2CBB7D54A1}"/>
              </a:ext>
            </a:extLst>
          </p:cNvPr>
          <p:cNvSpPr txBox="1"/>
          <p:nvPr/>
        </p:nvSpPr>
        <p:spPr>
          <a:xfrm>
            <a:off x="518472" y="1263441"/>
            <a:ext cx="3038299" cy="369332"/>
          </a:xfrm>
          <a:prstGeom prst="rect">
            <a:avLst/>
          </a:prstGeom>
          <a:noFill/>
        </p:spPr>
        <p:txBody>
          <a:bodyPr wrap="square" rtlCol="0">
            <a:spAutoFit/>
          </a:bodyPr>
          <a:lstStyle/>
          <a:p>
            <a:r>
              <a:rPr lang="pt-BR" dirty="0"/>
              <a:t>Diretor(</a:t>
            </a:r>
            <a:r>
              <a:rPr lang="pt-BR" u="sng" dirty="0" err="1"/>
              <a:t>id_diretor</a:t>
            </a:r>
            <a:r>
              <a:rPr lang="pt-BR" dirty="0"/>
              <a:t>, nome)</a:t>
            </a:r>
          </a:p>
        </p:txBody>
      </p:sp>
      <p:sp>
        <p:nvSpPr>
          <p:cNvPr id="54" name="CaixaDeTexto 53">
            <a:extLst>
              <a:ext uri="{FF2B5EF4-FFF2-40B4-BE49-F238E27FC236}">
                <a16:creationId xmlns:a16="http://schemas.microsoft.com/office/drawing/2014/main" id="{BC6F4584-B0DE-CABF-01A8-06606C6F55D6}"/>
              </a:ext>
            </a:extLst>
          </p:cNvPr>
          <p:cNvSpPr txBox="1"/>
          <p:nvPr/>
        </p:nvSpPr>
        <p:spPr>
          <a:xfrm>
            <a:off x="518471" y="1632773"/>
            <a:ext cx="3767763" cy="369332"/>
          </a:xfrm>
          <a:prstGeom prst="rect">
            <a:avLst/>
          </a:prstGeom>
          <a:noFill/>
        </p:spPr>
        <p:txBody>
          <a:bodyPr wrap="square" rtlCol="0">
            <a:spAutoFit/>
          </a:bodyPr>
          <a:lstStyle/>
          <a:p>
            <a:r>
              <a:rPr lang="pt-BR" dirty="0"/>
              <a:t>Elenco(</a:t>
            </a:r>
            <a:r>
              <a:rPr lang="pt-BR" u="sng" dirty="0" err="1"/>
              <a:t>id_elenco</a:t>
            </a:r>
            <a:r>
              <a:rPr lang="pt-BR" dirty="0"/>
              <a:t>, nome, papel)</a:t>
            </a:r>
          </a:p>
        </p:txBody>
      </p:sp>
      <p:sp>
        <p:nvSpPr>
          <p:cNvPr id="3" name="CaixaDeTexto 2">
            <a:extLst>
              <a:ext uri="{FF2B5EF4-FFF2-40B4-BE49-F238E27FC236}">
                <a16:creationId xmlns:a16="http://schemas.microsoft.com/office/drawing/2014/main" id="{B8CECF7A-0758-BBF5-E010-B82D6EDC483D}"/>
              </a:ext>
            </a:extLst>
          </p:cNvPr>
          <p:cNvSpPr txBox="1"/>
          <p:nvPr/>
        </p:nvSpPr>
        <p:spPr>
          <a:xfrm>
            <a:off x="518471" y="1993045"/>
            <a:ext cx="4846763" cy="369332"/>
          </a:xfrm>
          <a:prstGeom prst="rect">
            <a:avLst/>
          </a:prstGeom>
          <a:noFill/>
        </p:spPr>
        <p:txBody>
          <a:bodyPr wrap="square" rtlCol="0">
            <a:spAutoFit/>
          </a:bodyPr>
          <a:lstStyle/>
          <a:p>
            <a:r>
              <a:rPr lang="pt-BR" dirty="0" err="1"/>
              <a:t>Sessao</a:t>
            </a:r>
            <a:r>
              <a:rPr lang="pt-BR" dirty="0"/>
              <a:t>(</a:t>
            </a:r>
            <a:r>
              <a:rPr lang="pt-BR" u="sng" dirty="0" err="1"/>
              <a:t>id_filme</a:t>
            </a:r>
            <a:r>
              <a:rPr lang="pt-BR" u="sng" dirty="0"/>
              <a:t>,</a:t>
            </a:r>
            <a:r>
              <a:rPr lang="pt-BR" dirty="0"/>
              <a:t> </a:t>
            </a:r>
            <a:r>
              <a:rPr lang="pt-BR" u="sng" dirty="0" err="1"/>
              <a:t>id_sala</a:t>
            </a:r>
            <a:r>
              <a:rPr lang="pt-BR" dirty="0"/>
              <a:t>, dia, horário, </a:t>
            </a:r>
            <a:r>
              <a:rPr lang="pt-BR" dirty="0" err="1"/>
              <a:t>preco</a:t>
            </a:r>
            <a:r>
              <a:rPr lang="pt-BR" dirty="0"/>
              <a:t>)</a:t>
            </a:r>
          </a:p>
        </p:txBody>
      </p:sp>
      <p:sp>
        <p:nvSpPr>
          <p:cNvPr id="55" name="CaixaDeTexto 54">
            <a:extLst>
              <a:ext uri="{FF2B5EF4-FFF2-40B4-BE49-F238E27FC236}">
                <a16:creationId xmlns:a16="http://schemas.microsoft.com/office/drawing/2014/main" id="{ED09B27B-4E79-2C65-816A-6E52A2C77B25}"/>
              </a:ext>
            </a:extLst>
          </p:cNvPr>
          <p:cNvSpPr txBox="1"/>
          <p:nvPr/>
        </p:nvSpPr>
        <p:spPr>
          <a:xfrm>
            <a:off x="7045479" y="141402"/>
            <a:ext cx="3800542" cy="369332"/>
          </a:xfrm>
          <a:prstGeom prst="rect">
            <a:avLst/>
          </a:prstGeom>
          <a:noFill/>
        </p:spPr>
        <p:txBody>
          <a:bodyPr wrap="square" rtlCol="0">
            <a:spAutoFit/>
          </a:bodyPr>
          <a:lstStyle/>
          <a:p>
            <a:r>
              <a:rPr lang="pt-BR" dirty="0" err="1"/>
              <a:t>Cinema_Filme</a:t>
            </a:r>
            <a:r>
              <a:rPr lang="pt-BR" dirty="0"/>
              <a:t>(</a:t>
            </a:r>
            <a:r>
              <a:rPr lang="pt-BR" u="sng" dirty="0"/>
              <a:t>CNPJ</a:t>
            </a:r>
            <a:r>
              <a:rPr lang="pt-BR" dirty="0"/>
              <a:t>, </a:t>
            </a:r>
            <a:r>
              <a:rPr lang="pt-BR" u="sng" dirty="0" err="1"/>
              <a:t>id_filme</a:t>
            </a:r>
            <a:r>
              <a:rPr lang="pt-BR" dirty="0"/>
              <a:t>)</a:t>
            </a:r>
          </a:p>
        </p:txBody>
      </p:sp>
      <p:sp>
        <p:nvSpPr>
          <p:cNvPr id="56" name="CaixaDeTexto 55">
            <a:extLst>
              <a:ext uri="{FF2B5EF4-FFF2-40B4-BE49-F238E27FC236}">
                <a16:creationId xmlns:a16="http://schemas.microsoft.com/office/drawing/2014/main" id="{7B6BF368-EA31-A969-59CC-64864E1E0924}"/>
              </a:ext>
            </a:extLst>
          </p:cNvPr>
          <p:cNvSpPr txBox="1"/>
          <p:nvPr/>
        </p:nvSpPr>
        <p:spPr>
          <a:xfrm>
            <a:off x="7042113" y="539246"/>
            <a:ext cx="3800542" cy="369332"/>
          </a:xfrm>
          <a:prstGeom prst="rect">
            <a:avLst/>
          </a:prstGeom>
          <a:noFill/>
        </p:spPr>
        <p:txBody>
          <a:bodyPr wrap="square" rtlCol="0">
            <a:spAutoFit/>
          </a:bodyPr>
          <a:lstStyle/>
          <a:p>
            <a:r>
              <a:rPr lang="pt-BR" dirty="0" err="1"/>
              <a:t>Filme_Elenco</a:t>
            </a:r>
            <a:r>
              <a:rPr lang="pt-BR" dirty="0"/>
              <a:t>(</a:t>
            </a:r>
            <a:r>
              <a:rPr lang="pt-BR" u="sng" dirty="0" err="1"/>
              <a:t>id_filme</a:t>
            </a:r>
            <a:r>
              <a:rPr lang="pt-BR" u="sng" dirty="0"/>
              <a:t>,</a:t>
            </a:r>
            <a:r>
              <a:rPr lang="pt-BR" dirty="0"/>
              <a:t> </a:t>
            </a:r>
            <a:r>
              <a:rPr lang="pt-BR" u="sng" dirty="0" err="1"/>
              <a:t>id_elenco</a:t>
            </a:r>
            <a:r>
              <a:rPr lang="pt-BR" dirty="0"/>
              <a:t>)</a:t>
            </a:r>
          </a:p>
        </p:txBody>
      </p:sp>
      <p:sp>
        <p:nvSpPr>
          <p:cNvPr id="57" name="CaixaDeTexto 56">
            <a:extLst>
              <a:ext uri="{FF2B5EF4-FFF2-40B4-BE49-F238E27FC236}">
                <a16:creationId xmlns:a16="http://schemas.microsoft.com/office/drawing/2014/main" id="{CC437788-A906-EA1A-1ED5-F5B9CF5985DA}"/>
              </a:ext>
            </a:extLst>
          </p:cNvPr>
          <p:cNvSpPr txBox="1"/>
          <p:nvPr/>
        </p:nvSpPr>
        <p:spPr>
          <a:xfrm>
            <a:off x="7042113" y="918185"/>
            <a:ext cx="3800542" cy="369332"/>
          </a:xfrm>
          <a:prstGeom prst="rect">
            <a:avLst/>
          </a:prstGeom>
          <a:noFill/>
        </p:spPr>
        <p:txBody>
          <a:bodyPr wrap="square" rtlCol="0">
            <a:spAutoFit/>
          </a:bodyPr>
          <a:lstStyle/>
          <a:p>
            <a:r>
              <a:rPr lang="pt-BR" dirty="0" err="1"/>
              <a:t>Filme_Diretor</a:t>
            </a:r>
            <a:r>
              <a:rPr lang="pt-BR" dirty="0"/>
              <a:t>(</a:t>
            </a:r>
            <a:r>
              <a:rPr lang="pt-BR" u="sng" dirty="0" err="1"/>
              <a:t>id_filme</a:t>
            </a:r>
            <a:r>
              <a:rPr lang="pt-BR" u="sng" dirty="0"/>
              <a:t>,</a:t>
            </a:r>
            <a:r>
              <a:rPr lang="pt-BR" dirty="0"/>
              <a:t> </a:t>
            </a:r>
            <a:r>
              <a:rPr lang="pt-BR" u="sng" dirty="0" err="1"/>
              <a:t>id_diretor</a:t>
            </a:r>
            <a:r>
              <a:rPr lang="pt-BR" dirty="0"/>
              <a:t>)</a:t>
            </a:r>
          </a:p>
        </p:txBody>
      </p:sp>
      <p:sp>
        <p:nvSpPr>
          <p:cNvPr id="58" name="CaixaDeTexto 57">
            <a:extLst>
              <a:ext uri="{FF2B5EF4-FFF2-40B4-BE49-F238E27FC236}">
                <a16:creationId xmlns:a16="http://schemas.microsoft.com/office/drawing/2014/main" id="{BE7BDAF7-68C5-D433-670C-129D01A16E88}"/>
              </a:ext>
            </a:extLst>
          </p:cNvPr>
          <p:cNvSpPr txBox="1"/>
          <p:nvPr/>
        </p:nvSpPr>
        <p:spPr>
          <a:xfrm>
            <a:off x="6658838" y="1434961"/>
            <a:ext cx="4132507" cy="1077218"/>
          </a:xfrm>
          <a:prstGeom prst="rect">
            <a:avLst/>
          </a:prstGeom>
          <a:noFill/>
        </p:spPr>
        <p:txBody>
          <a:bodyPr wrap="square" rtlCol="0">
            <a:spAutoFit/>
          </a:bodyPr>
          <a:lstStyle/>
          <a:p>
            <a:r>
              <a:rPr lang="pt-BR" sz="3200" dirty="0">
                <a:highlight>
                  <a:srgbClr val="FFFF00"/>
                </a:highlight>
              </a:rPr>
              <a:t>MAPEANDO OS RELACIONAMENTOS</a:t>
            </a:r>
          </a:p>
        </p:txBody>
      </p:sp>
    </p:spTree>
    <p:extLst>
      <p:ext uri="{BB962C8B-B14F-4D97-AF65-F5344CB8AC3E}">
        <p14:creationId xmlns:p14="http://schemas.microsoft.com/office/powerpoint/2010/main" val="2905945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aixaDeTexto 44">
            <a:extLst>
              <a:ext uri="{FF2B5EF4-FFF2-40B4-BE49-F238E27FC236}">
                <a16:creationId xmlns:a16="http://schemas.microsoft.com/office/drawing/2014/main" id="{B80ED2DB-B56B-5A7C-AB23-CF42A68CDB13}"/>
              </a:ext>
            </a:extLst>
          </p:cNvPr>
          <p:cNvSpPr txBox="1"/>
          <p:nvPr/>
        </p:nvSpPr>
        <p:spPr>
          <a:xfrm>
            <a:off x="518474" y="141402"/>
            <a:ext cx="3120272" cy="369332"/>
          </a:xfrm>
          <a:prstGeom prst="rect">
            <a:avLst/>
          </a:prstGeom>
          <a:noFill/>
        </p:spPr>
        <p:txBody>
          <a:bodyPr wrap="square" rtlCol="0">
            <a:spAutoFit/>
          </a:bodyPr>
          <a:lstStyle/>
          <a:p>
            <a:r>
              <a:rPr lang="pt-BR" dirty="0"/>
              <a:t>Cinema(</a:t>
            </a:r>
            <a:r>
              <a:rPr lang="pt-BR" u="sng" dirty="0"/>
              <a:t>CNPJ</a:t>
            </a:r>
            <a:r>
              <a:rPr lang="pt-BR" dirty="0"/>
              <a:t>, </a:t>
            </a:r>
            <a:r>
              <a:rPr lang="pt-BR" dirty="0" err="1"/>
              <a:t>End</a:t>
            </a:r>
            <a:r>
              <a:rPr lang="pt-BR" dirty="0"/>
              <a:t>, </a:t>
            </a:r>
            <a:r>
              <a:rPr lang="pt-BR" dirty="0" err="1"/>
              <a:t>Tel</a:t>
            </a:r>
            <a:r>
              <a:rPr lang="pt-BR" dirty="0"/>
              <a:t>)</a:t>
            </a:r>
          </a:p>
        </p:txBody>
      </p:sp>
      <p:sp>
        <p:nvSpPr>
          <p:cNvPr id="46" name="CaixaDeTexto 45">
            <a:extLst>
              <a:ext uri="{FF2B5EF4-FFF2-40B4-BE49-F238E27FC236}">
                <a16:creationId xmlns:a16="http://schemas.microsoft.com/office/drawing/2014/main" id="{0483277A-D798-4A57-4300-D950D5EB1834}"/>
              </a:ext>
            </a:extLst>
          </p:cNvPr>
          <p:cNvSpPr txBox="1"/>
          <p:nvPr/>
        </p:nvSpPr>
        <p:spPr>
          <a:xfrm>
            <a:off x="518473" y="469884"/>
            <a:ext cx="7406105" cy="369332"/>
          </a:xfrm>
          <a:prstGeom prst="rect">
            <a:avLst/>
          </a:prstGeom>
          <a:noFill/>
        </p:spPr>
        <p:txBody>
          <a:bodyPr wrap="square" rtlCol="0">
            <a:spAutoFit/>
          </a:bodyPr>
          <a:lstStyle/>
          <a:p>
            <a:r>
              <a:rPr lang="pt-BR" dirty="0"/>
              <a:t>Filme(</a:t>
            </a:r>
            <a:r>
              <a:rPr lang="pt-BR" u="sng" dirty="0" err="1"/>
              <a:t>id_filme</a:t>
            </a:r>
            <a:r>
              <a:rPr lang="pt-BR" dirty="0"/>
              <a:t>, </a:t>
            </a:r>
            <a:r>
              <a:rPr lang="pt-BR" dirty="0" err="1"/>
              <a:t>TitBrasil</a:t>
            </a:r>
            <a:r>
              <a:rPr lang="pt-BR" dirty="0"/>
              <a:t>, </a:t>
            </a:r>
            <a:r>
              <a:rPr lang="pt-BR" dirty="0" err="1"/>
              <a:t>TitOrig</a:t>
            </a:r>
            <a:r>
              <a:rPr lang="pt-BR" dirty="0"/>
              <a:t>, Idioma, Sinopse, </a:t>
            </a:r>
            <a:r>
              <a:rPr lang="pt-BR" dirty="0" err="1"/>
              <a:t>Genero</a:t>
            </a:r>
            <a:r>
              <a:rPr lang="pt-BR" dirty="0"/>
              <a:t>)</a:t>
            </a:r>
          </a:p>
        </p:txBody>
      </p:sp>
      <p:sp>
        <p:nvSpPr>
          <p:cNvPr id="48" name="CaixaDeTexto 47">
            <a:extLst>
              <a:ext uri="{FF2B5EF4-FFF2-40B4-BE49-F238E27FC236}">
                <a16:creationId xmlns:a16="http://schemas.microsoft.com/office/drawing/2014/main" id="{980BA33F-FB2D-7C58-D35F-2A8797934CC9}"/>
              </a:ext>
            </a:extLst>
          </p:cNvPr>
          <p:cNvSpPr txBox="1"/>
          <p:nvPr/>
        </p:nvSpPr>
        <p:spPr>
          <a:xfrm>
            <a:off x="518472" y="865707"/>
            <a:ext cx="7406105" cy="369332"/>
          </a:xfrm>
          <a:prstGeom prst="rect">
            <a:avLst/>
          </a:prstGeom>
          <a:noFill/>
        </p:spPr>
        <p:txBody>
          <a:bodyPr wrap="square" rtlCol="0">
            <a:spAutoFit/>
          </a:bodyPr>
          <a:lstStyle/>
          <a:p>
            <a:r>
              <a:rPr lang="pt-BR" dirty="0"/>
              <a:t>Sala(</a:t>
            </a:r>
            <a:r>
              <a:rPr lang="pt-BR" u="sng" dirty="0" err="1"/>
              <a:t>id_sala</a:t>
            </a:r>
            <a:r>
              <a:rPr lang="pt-BR" dirty="0"/>
              <a:t>, </a:t>
            </a:r>
            <a:r>
              <a:rPr lang="pt-BR" dirty="0" err="1"/>
              <a:t>QtdeLugares</a:t>
            </a:r>
            <a:r>
              <a:rPr lang="pt-BR" dirty="0"/>
              <a:t>, </a:t>
            </a:r>
            <a:r>
              <a:rPr lang="pt-BR" dirty="0" err="1"/>
              <a:t>TipoSom</a:t>
            </a:r>
            <a:r>
              <a:rPr lang="pt-BR" dirty="0"/>
              <a:t>, Acessibilidade)</a:t>
            </a:r>
          </a:p>
        </p:txBody>
      </p:sp>
      <p:sp>
        <p:nvSpPr>
          <p:cNvPr id="53" name="CaixaDeTexto 52">
            <a:extLst>
              <a:ext uri="{FF2B5EF4-FFF2-40B4-BE49-F238E27FC236}">
                <a16:creationId xmlns:a16="http://schemas.microsoft.com/office/drawing/2014/main" id="{49AD6EEC-D3B8-1E6C-C634-1E2CBB7D54A1}"/>
              </a:ext>
            </a:extLst>
          </p:cNvPr>
          <p:cNvSpPr txBox="1"/>
          <p:nvPr/>
        </p:nvSpPr>
        <p:spPr>
          <a:xfrm>
            <a:off x="518472" y="1263441"/>
            <a:ext cx="3038299" cy="369332"/>
          </a:xfrm>
          <a:prstGeom prst="rect">
            <a:avLst/>
          </a:prstGeom>
          <a:noFill/>
        </p:spPr>
        <p:txBody>
          <a:bodyPr wrap="square" rtlCol="0">
            <a:spAutoFit/>
          </a:bodyPr>
          <a:lstStyle/>
          <a:p>
            <a:r>
              <a:rPr lang="pt-BR" dirty="0"/>
              <a:t>Diretor(</a:t>
            </a:r>
            <a:r>
              <a:rPr lang="pt-BR" u="sng" dirty="0" err="1"/>
              <a:t>id_diretor</a:t>
            </a:r>
            <a:r>
              <a:rPr lang="pt-BR" dirty="0"/>
              <a:t>, nome)</a:t>
            </a:r>
          </a:p>
        </p:txBody>
      </p:sp>
      <p:sp>
        <p:nvSpPr>
          <p:cNvPr id="54" name="CaixaDeTexto 53">
            <a:extLst>
              <a:ext uri="{FF2B5EF4-FFF2-40B4-BE49-F238E27FC236}">
                <a16:creationId xmlns:a16="http://schemas.microsoft.com/office/drawing/2014/main" id="{BC6F4584-B0DE-CABF-01A8-06606C6F55D6}"/>
              </a:ext>
            </a:extLst>
          </p:cNvPr>
          <p:cNvSpPr txBox="1"/>
          <p:nvPr/>
        </p:nvSpPr>
        <p:spPr>
          <a:xfrm>
            <a:off x="518471" y="1632773"/>
            <a:ext cx="3767763" cy="369332"/>
          </a:xfrm>
          <a:prstGeom prst="rect">
            <a:avLst/>
          </a:prstGeom>
          <a:noFill/>
        </p:spPr>
        <p:txBody>
          <a:bodyPr wrap="square" rtlCol="0">
            <a:spAutoFit/>
          </a:bodyPr>
          <a:lstStyle/>
          <a:p>
            <a:r>
              <a:rPr lang="pt-BR" dirty="0"/>
              <a:t>Elenco(</a:t>
            </a:r>
            <a:r>
              <a:rPr lang="pt-BR" u="sng" dirty="0" err="1"/>
              <a:t>id_elenco</a:t>
            </a:r>
            <a:r>
              <a:rPr lang="pt-BR" dirty="0"/>
              <a:t>, nome, papel)</a:t>
            </a:r>
          </a:p>
        </p:txBody>
      </p:sp>
      <p:sp>
        <p:nvSpPr>
          <p:cNvPr id="3" name="CaixaDeTexto 2">
            <a:extLst>
              <a:ext uri="{FF2B5EF4-FFF2-40B4-BE49-F238E27FC236}">
                <a16:creationId xmlns:a16="http://schemas.microsoft.com/office/drawing/2014/main" id="{B8CECF7A-0758-BBF5-E010-B82D6EDC483D}"/>
              </a:ext>
            </a:extLst>
          </p:cNvPr>
          <p:cNvSpPr txBox="1"/>
          <p:nvPr/>
        </p:nvSpPr>
        <p:spPr>
          <a:xfrm>
            <a:off x="518471" y="1993045"/>
            <a:ext cx="4846763" cy="369332"/>
          </a:xfrm>
          <a:prstGeom prst="rect">
            <a:avLst/>
          </a:prstGeom>
          <a:noFill/>
        </p:spPr>
        <p:txBody>
          <a:bodyPr wrap="square" rtlCol="0">
            <a:spAutoFit/>
          </a:bodyPr>
          <a:lstStyle/>
          <a:p>
            <a:r>
              <a:rPr lang="pt-BR" dirty="0" err="1"/>
              <a:t>Sessao</a:t>
            </a:r>
            <a:r>
              <a:rPr lang="pt-BR" dirty="0"/>
              <a:t>(</a:t>
            </a:r>
            <a:r>
              <a:rPr lang="pt-BR" u="sng" dirty="0" err="1"/>
              <a:t>id_filme</a:t>
            </a:r>
            <a:r>
              <a:rPr lang="pt-BR" u="sng" dirty="0"/>
              <a:t>,</a:t>
            </a:r>
            <a:r>
              <a:rPr lang="pt-BR" dirty="0"/>
              <a:t> </a:t>
            </a:r>
            <a:r>
              <a:rPr lang="pt-BR" u="sng" dirty="0" err="1"/>
              <a:t>id_sala</a:t>
            </a:r>
            <a:r>
              <a:rPr lang="pt-BR" dirty="0"/>
              <a:t>, dia, horário, </a:t>
            </a:r>
            <a:r>
              <a:rPr lang="pt-BR" dirty="0" err="1"/>
              <a:t>preco</a:t>
            </a:r>
            <a:r>
              <a:rPr lang="pt-BR" dirty="0"/>
              <a:t>)</a:t>
            </a:r>
          </a:p>
        </p:txBody>
      </p:sp>
      <p:sp>
        <p:nvSpPr>
          <p:cNvPr id="55" name="CaixaDeTexto 54">
            <a:extLst>
              <a:ext uri="{FF2B5EF4-FFF2-40B4-BE49-F238E27FC236}">
                <a16:creationId xmlns:a16="http://schemas.microsoft.com/office/drawing/2014/main" id="{ED09B27B-4E79-2C65-816A-6E52A2C77B25}"/>
              </a:ext>
            </a:extLst>
          </p:cNvPr>
          <p:cNvSpPr txBox="1"/>
          <p:nvPr/>
        </p:nvSpPr>
        <p:spPr>
          <a:xfrm>
            <a:off x="7045479" y="141402"/>
            <a:ext cx="3800542" cy="369332"/>
          </a:xfrm>
          <a:prstGeom prst="rect">
            <a:avLst/>
          </a:prstGeom>
          <a:noFill/>
        </p:spPr>
        <p:txBody>
          <a:bodyPr wrap="square" rtlCol="0">
            <a:spAutoFit/>
          </a:bodyPr>
          <a:lstStyle/>
          <a:p>
            <a:r>
              <a:rPr lang="pt-BR" dirty="0" err="1"/>
              <a:t>Cinema_Filme</a:t>
            </a:r>
            <a:r>
              <a:rPr lang="pt-BR" dirty="0"/>
              <a:t>(</a:t>
            </a:r>
            <a:r>
              <a:rPr lang="pt-BR" u="sng" dirty="0"/>
              <a:t>CNPJ</a:t>
            </a:r>
            <a:r>
              <a:rPr lang="pt-BR" dirty="0"/>
              <a:t>, </a:t>
            </a:r>
            <a:r>
              <a:rPr lang="pt-BR" u="sng" dirty="0" err="1"/>
              <a:t>id_filme</a:t>
            </a:r>
            <a:r>
              <a:rPr lang="pt-BR" dirty="0"/>
              <a:t>)</a:t>
            </a:r>
          </a:p>
        </p:txBody>
      </p:sp>
      <p:sp>
        <p:nvSpPr>
          <p:cNvPr id="56" name="CaixaDeTexto 55">
            <a:extLst>
              <a:ext uri="{FF2B5EF4-FFF2-40B4-BE49-F238E27FC236}">
                <a16:creationId xmlns:a16="http://schemas.microsoft.com/office/drawing/2014/main" id="{7B6BF368-EA31-A969-59CC-64864E1E0924}"/>
              </a:ext>
            </a:extLst>
          </p:cNvPr>
          <p:cNvSpPr txBox="1"/>
          <p:nvPr/>
        </p:nvSpPr>
        <p:spPr>
          <a:xfrm>
            <a:off x="7042113" y="539246"/>
            <a:ext cx="3800542" cy="369332"/>
          </a:xfrm>
          <a:prstGeom prst="rect">
            <a:avLst/>
          </a:prstGeom>
          <a:noFill/>
        </p:spPr>
        <p:txBody>
          <a:bodyPr wrap="square" rtlCol="0">
            <a:spAutoFit/>
          </a:bodyPr>
          <a:lstStyle/>
          <a:p>
            <a:r>
              <a:rPr lang="pt-BR" dirty="0" err="1"/>
              <a:t>Filme_Elenco</a:t>
            </a:r>
            <a:r>
              <a:rPr lang="pt-BR" dirty="0"/>
              <a:t>(</a:t>
            </a:r>
            <a:r>
              <a:rPr lang="pt-BR" u="sng" dirty="0" err="1"/>
              <a:t>id_filme</a:t>
            </a:r>
            <a:r>
              <a:rPr lang="pt-BR" u="sng" dirty="0"/>
              <a:t>,</a:t>
            </a:r>
            <a:r>
              <a:rPr lang="pt-BR" dirty="0"/>
              <a:t> </a:t>
            </a:r>
            <a:r>
              <a:rPr lang="pt-BR" u="sng" dirty="0" err="1"/>
              <a:t>id_elenco</a:t>
            </a:r>
            <a:r>
              <a:rPr lang="pt-BR" dirty="0"/>
              <a:t>)</a:t>
            </a:r>
          </a:p>
        </p:txBody>
      </p:sp>
      <p:sp>
        <p:nvSpPr>
          <p:cNvPr id="57" name="CaixaDeTexto 56">
            <a:extLst>
              <a:ext uri="{FF2B5EF4-FFF2-40B4-BE49-F238E27FC236}">
                <a16:creationId xmlns:a16="http://schemas.microsoft.com/office/drawing/2014/main" id="{CC437788-A906-EA1A-1ED5-F5B9CF5985DA}"/>
              </a:ext>
            </a:extLst>
          </p:cNvPr>
          <p:cNvSpPr txBox="1"/>
          <p:nvPr/>
        </p:nvSpPr>
        <p:spPr>
          <a:xfrm>
            <a:off x="7042113" y="918185"/>
            <a:ext cx="3800542" cy="369332"/>
          </a:xfrm>
          <a:prstGeom prst="rect">
            <a:avLst/>
          </a:prstGeom>
          <a:noFill/>
        </p:spPr>
        <p:txBody>
          <a:bodyPr wrap="square" rtlCol="0">
            <a:spAutoFit/>
          </a:bodyPr>
          <a:lstStyle/>
          <a:p>
            <a:r>
              <a:rPr lang="pt-BR" dirty="0" err="1"/>
              <a:t>Filme_Diretor</a:t>
            </a:r>
            <a:r>
              <a:rPr lang="pt-BR" dirty="0"/>
              <a:t>(</a:t>
            </a:r>
            <a:r>
              <a:rPr lang="pt-BR" u="sng" dirty="0" err="1"/>
              <a:t>id_filme</a:t>
            </a:r>
            <a:r>
              <a:rPr lang="pt-BR" u="sng" dirty="0"/>
              <a:t>,</a:t>
            </a:r>
            <a:r>
              <a:rPr lang="pt-BR" dirty="0"/>
              <a:t> </a:t>
            </a:r>
            <a:r>
              <a:rPr lang="pt-BR" u="sng" dirty="0" err="1"/>
              <a:t>id_diretor</a:t>
            </a:r>
            <a:r>
              <a:rPr lang="pt-BR" dirty="0"/>
              <a:t>)</a:t>
            </a:r>
          </a:p>
        </p:txBody>
      </p:sp>
      <p:sp>
        <p:nvSpPr>
          <p:cNvPr id="59" name="CaixaDeTexto 58">
            <a:extLst>
              <a:ext uri="{FF2B5EF4-FFF2-40B4-BE49-F238E27FC236}">
                <a16:creationId xmlns:a16="http://schemas.microsoft.com/office/drawing/2014/main" id="{B05BC677-6AAE-19DF-9DEE-FFF809C48C73}"/>
              </a:ext>
            </a:extLst>
          </p:cNvPr>
          <p:cNvSpPr txBox="1"/>
          <p:nvPr/>
        </p:nvSpPr>
        <p:spPr>
          <a:xfrm>
            <a:off x="415245" y="2623464"/>
            <a:ext cx="9899975" cy="707886"/>
          </a:xfrm>
          <a:prstGeom prst="rect">
            <a:avLst/>
          </a:prstGeom>
          <a:noFill/>
        </p:spPr>
        <p:txBody>
          <a:bodyPr wrap="square" rtlCol="0">
            <a:spAutoFit/>
          </a:bodyPr>
          <a:lstStyle/>
          <a:p>
            <a:pPr algn="just"/>
            <a:r>
              <a:rPr lang="pt-BR" sz="2000" dirty="0"/>
              <a:t>1) Como eu faço para saber os nomes em português dos filmes produzidos pelo diretor “João da Silva”?</a:t>
            </a:r>
          </a:p>
        </p:txBody>
      </p:sp>
      <p:sp>
        <p:nvSpPr>
          <p:cNvPr id="60" name="CaixaDeTexto 59">
            <a:extLst>
              <a:ext uri="{FF2B5EF4-FFF2-40B4-BE49-F238E27FC236}">
                <a16:creationId xmlns:a16="http://schemas.microsoft.com/office/drawing/2014/main" id="{87996427-9502-7F58-ADE3-3273E04433D8}"/>
              </a:ext>
            </a:extLst>
          </p:cNvPr>
          <p:cNvSpPr txBox="1"/>
          <p:nvPr/>
        </p:nvSpPr>
        <p:spPr>
          <a:xfrm>
            <a:off x="415244" y="3959411"/>
            <a:ext cx="9899975" cy="707886"/>
          </a:xfrm>
          <a:prstGeom prst="rect">
            <a:avLst/>
          </a:prstGeom>
          <a:noFill/>
        </p:spPr>
        <p:txBody>
          <a:bodyPr wrap="square" rtlCol="0">
            <a:spAutoFit/>
          </a:bodyPr>
          <a:lstStyle/>
          <a:p>
            <a:pPr algn="just"/>
            <a:r>
              <a:rPr lang="pt-BR" sz="2000" dirty="0"/>
              <a:t>2) Como eu faço para saber quais são os nomes em português dos filmes que estão sendo exibidos na data de hoje aqui em Brasília?</a:t>
            </a:r>
          </a:p>
        </p:txBody>
      </p:sp>
      <p:sp>
        <p:nvSpPr>
          <p:cNvPr id="61" name="CaixaDeTexto 60">
            <a:extLst>
              <a:ext uri="{FF2B5EF4-FFF2-40B4-BE49-F238E27FC236}">
                <a16:creationId xmlns:a16="http://schemas.microsoft.com/office/drawing/2014/main" id="{C3266F14-A683-10E2-4114-2DC4135C3436}"/>
              </a:ext>
            </a:extLst>
          </p:cNvPr>
          <p:cNvSpPr txBox="1"/>
          <p:nvPr/>
        </p:nvSpPr>
        <p:spPr>
          <a:xfrm>
            <a:off x="415244" y="5295358"/>
            <a:ext cx="9899975" cy="707886"/>
          </a:xfrm>
          <a:prstGeom prst="rect">
            <a:avLst/>
          </a:prstGeom>
          <a:noFill/>
        </p:spPr>
        <p:txBody>
          <a:bodyPr wrap="square" rtlCol="0">
            <a:spAutoFit/>
          </a:bodyPr>
          <a:lstStyle/>
          <a:p>
            <a:pPr algn="just"/>
            <a:r>
              <a:rPr lang="pt-BR" sz="2000" dirty="0"/>
              <a:t>3) Como eu faço para saber quais são os nomes em português dos filmes que estão sendo exibidos na data de hoje aqui em Brasília e que tem acessibilidade?</a:t>
            </a:r>
          </a:p>
        </p:txBody>
      </p:sp>
    </p:spTree>
    <p:extLst>
      <p:ext uri="{BB962C8B-B14F-4D97-AF65-F5344CB8AC3E}">
        <p14:creationId xmlns:p14="http://schemas.microsoft.com/office/powerpoint/2010/main" val="177604131"/>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2446</Words>
  <Application>Microsoft Office PowerPoint</Application>
  <PresentationFormat>Widescreen</PresentationFormat>
  <Paragraphs>426</Paragraphs>
  <Slides>13</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13</vt:i4>
      </vt:variant>
    </vt:vector>
  </HeadingPairs>
  <TitlesOfParts>
    <vt:vector size="17" baseType="lpstr">
      <vt:lpstr>Arial</vt:lpstr>
      <vt:lpstr>Calibri</vt:lpstr>
      <vt:lpstr>Calibri Light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Glauco Pedrosa</dc:creator>
  <cp:lastModifiedBy>Glauco Pedrosa</cp:lastModifiedBy>
  <cp:revision>6</cp:revision>
  <dcterms:created xsi:type="dcterms:W3CDTF">2024-04-02T17:38:05Z</dcterms:created>
  <dcterms:modified xsi:type="dcterms:W3CDTF">2024-04-04T16:06:58Z</dcterms:modified>
</cp:coreProperties>
</file>