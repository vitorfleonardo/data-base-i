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66" r:id="rId3"/>
    <p:sldId id="267" r:id="rId4"/>
    <p:sldId id="268" r:id="rId5"/>
    <p:sldId id="270" r:id="rId6"/>
    <p:sldId id="269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43DE5E-238A-1AFC-3C00-E3D35885E7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308CFB1-352A-DEC3-974F-DCBEC6880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71ECEE-8E01-467F-7672-3BB4A0C9F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1C8EC8-40D1-53BC-1557-A3E606D77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6F3667C-37BA-8C88-5E88-F44132D60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20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1E5990-60BE-F393-71E8-DA42EB01D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62B851-68F4-2001-06DA-DBBE1BE064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DF3E246-B03A-BD0C-848B-A1ADC62D2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AFAEF8-16CC-060A-F39F-E50E11CC8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3E3F79D-EDAA-AA52-8365-736C4F44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0302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1A4B02-1C0D-7C1D-171D-054C21381B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FE84A4A-F826-3B7C-D7B6-C499C908B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1385DB6-418E-085F-8FF2-98C38611D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B74624-9B31-30ED-AFCE-5200E969A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D47238-C799-EDA0-7A68-07B63722D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4461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28556-C4EC-7B85-AAC2-49BED90F16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69B751-8171-6801-217E-9153E79550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B23A35B-9FAB-35C6-CAB3-71B0C4E76E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15E4D24-5DAB-B3ED-2CED-62766B7D6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AB8593-9600-7AC4-3DB8-E0C9859DCD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D729FD6-4A9C-890D-E8F1-1FD7DAB7D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6953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FE1634-1BB2-2499-E1B1-9239211A6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AE90DC-A669-0351-6CB2-B88ADAC635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8FB2245-77A3-FBAB-F906-145A7C898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7A90410-1FAC-C9DD-C3AC-3EBDAA62A8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B5BB22F-DFC7-615B-C0DC-3E7DB799C8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A41971A-0E66-7EC9-E90C-F5BB054A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5B5D721-C697-5E27-00A2-E23A2B60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178803D-A6D9-079D-D1ED-16E9B8FB6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8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0D03FF-C178-D066-76F0-875ED000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86976FD-96DA-D3F3-378D-92D5526D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29DC2ADA-1A1E-E873-F36B-EF0B368CB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51A82DD-4371-19FD-2912-CF6CC21A6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8451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DF4AB54-158C-4F64-42BE-759308FB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B2E1701-F9CC-ADD6-83DC-5526EEE8C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158742-C5EC-56CB-EE84-8DEE22117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2500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98E0B-98AC-323B-55D3-BEC02C62B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74A3E5-C0B6-CABE-0E72-99724B760A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54E76BCF-F37E-9293-09A2-381DFA49BC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8AC329-6800-F562-9597-E14E15229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46AA5BD-2A04-ED3B-39AE-8AC37E337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DCA16B8-A6FE-4334-B142-4922C646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202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5CC28-AABB-FD06-7DD6-860C95BCA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35F182E-A477-5047-BA9E-ED39757171A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261CDF7-6128-D769-A5B4-7A10ED098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B87836A-5F92-B875-B26D-52431A3A7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3368FB2-36B9-1C0E-2645-94B0173DF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CAD955-50E0-DCF1-41B5-A2A20A3B9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024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86AFA-C3AA-5ABA-C1AA-E14063E89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A029D7-1623-9B75-D7C1-C0E177D000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AF642A1-EFEC-D3B4-8399-0EB0BCEDA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ACAF4C-6150-20A8-A950-A60768A33F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AF94181-EB71-249A-EE5D-9D71492AC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8918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28E781A-0BEC-7CE6-C5F8-C446AE4B41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73F8531-B727-076A-C2CD-F0F1A7DA0B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3BFAD2-FEEA-FFD2-C09F-7E8426B50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FDD1DD-8272-DBA6-0389-ABCD0CF8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A8EA60D-4F10-717F-0CCE-BC56F38A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121393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5269390-785C-352A-00B2-A6F7196A05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1F6E52-8F42-AD38-F7FE-3C1856E3A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2EEA071-3E1D-A243-1EFE-61D0CF2157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DF0FB3-CD19-4AAA-84DF-74FF054774A6}" type="datetimeFigureOut">
              <a:rPr lang="pt-BR" smtClean="0"/>
              <a:t>09/04/2024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E230D00-6AB8-EFCE-46F6-6EF3B3F577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BBF51F-ACA1-91E4-4AB7-FA8F7A9450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8B0774-7957-4DA7-AB9A-3DB6E6AB9F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38392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053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fábrica deseja informatizar seu processo de distribuição de produtos e, para tanto, ela precisa armazenar dados dos </a:t>
            </a:r>
            <a:r>
              <a:rPr lang="pt-BR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distribuidores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2000" b="1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CNPJ, Razão Social, Telefone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). Como o processo de distribuição é por cidade, precisa-se armazenar as </a:t>
            </a:r>
            <a:r>
              <a:rPr lang="pt-BR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cidades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(Código IBGE, UF, Nome) e, evidentemente, as informações dos </a:t>
            </a:r>
            <a:r>
              <a:rPr lang="pt-BR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produtos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2000" b="1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Código, Descrição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a serem distribuídos. Para melhor controle interno se faz necessário também guardar as informações dos </a:t>
            </a:r>
            <a:r>
              <a:rPr lang="pt-BR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funcionários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pt-BR" sz="2000" b="1" kern="100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CPF e Nome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e de quem gerencia outros funcionários. É preciso também armazenar os nomes dos </a:t>
            </a:r>
            <a:r>
              <a:rPr lang="pt-BR" sz="2000" b="1" kern="100" dirty="0">
                <a:solidFill>
                  <a:srgbClr val="FF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dependentes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dos funcionários.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389068" y="3734596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Distribuidor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334112" y="361033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cnpj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170420" y="3845953"/>
            <a:ext cx="218648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010400" y="376882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52760" y="3906360"/>
            <a:ext cx="395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rs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165121" y="3919262"/>
            <a:ext cx="223947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005101" y="399613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165121" y="3919262"/>
            <a:ext cx="223947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005101" y="426228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07557" y="416679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4564840" y="2989962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023824" y="3512353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4943814" y="335808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53233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53233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47BC6FF9-CC32-9C0B-FCEF-7F24D3B326AC}"/>
              </a:ext>
            </a:extLst>
          </p:cNvPr>
          <p:cNvCxnSpPr>
            <a:cxnSpLocks/>
            <a:stCxn id="36" idx="4"/>
          </p:cNvCxnSpPr>
          <p:nvPr/>
        </p:nvCxnSpPr>
        <p:spPr>
          <a:xfrm flipH="1">
            <a:off x="57616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46573B12-E5A1-2274-65DE-2A9076A4C175}"/>
              </a:ext>
            </a:extLst>
          </p:cNvPr>
          <p:cNvSpPr/>
          <p:nvPr/>
        </p:nvSpPr>
        <p:spPr>
          <a:xfrm>
            <a:off x="57616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DEDA4AEA-D254-6343-199F-953542102D6E}"/>
              </a:ext>
            </a:extLst>
          </p:cNvPr>
          <p:cNvCxnSpPr>
            <a:cxnSpLocks/>
            <a:stCxn id="38" idx="4"/>
          </p:cNvCxnSpPr>
          <p:nvPr/>
        </p:nvCxnSpPr>
        <p:spPr>
          <a:xfrm flipH="1">
            <a:off x="6234840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EED0AC0E-773C-9B9E-BAA1-9272BC1D3ACE}"/>
              </a:ext>
            </a:extLst>
          </p:cNvPr>
          <p:cNvSpPr/>
          <p:nvPr/>
        </p:nvSpPr>
        <p:spPr>
          <a:xfrm>
            <a:off x="6234840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096342" y="298875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ibge</a:t>
            </a:r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0361731-0A52-34D0-9D88-6BA60D0BDCAB}"/>
              </a:ext>
            </a:extLst>
          </p:cNvPr>
          <p:cNvSpPr txBox="1"/>
          <p:nvPr/>
        </p:nvSpPr>
        <p:spPr>
          <a:xfrm>
            <a:off x="5685101" y="2995258"/>
            <a:ext cx="39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uf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749BCBC-A6EE-91C3-86EB-CEF35AE5AC79}"/>
              </a:ext>
            </a:extLst>
          </p:cNvPr>
          <p:cNvSpPr txBox="1"/>
          <p:nvPr/>
        </p:nvSpPr>
        <p:spPr>
          <a:xfrm>
            <a:off x="6028762" y="300052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211EF3E-4C00-19C7-D9D7-41F4261944F0}"/>
              </a:ext>
            </a:extLst>
          </p:cNvPr>
          <p:cNvSpPr txBox="1"/>
          <p:nvPr/>
        </p:nvSpPr>
        <p:spPr>
          <a:xfrm>
            <a:off x="3403140" y="625009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250754F1-2A5A-808A-0AF1-AB86F9B2EEDC}"/>
              </a:ext>
            </a:extLst>
          </p:cNvPr>
          <p:cNvCxnSpPr>
            <a:cxnSpLocks/>
          </p:cNvCxnSpPr>
          <p:nvPr/>
        </p:nvCxnSpPr>
        <p:spPr>
          <a:xfrm>
            <a:off x="3790150" y="5923627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890A2DC6-6DE0-6708-A7EF-253B4F7F909A}"/>
              </a:ext>
            </a:extLst>
          </p:cNvPr>
          <p:cNvSpPr/>
          <p:nvPr/>
        </p:nvSpPr>
        <p:spPr>
          <a:xfrm>
            <a:off x="3704901" y="60815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BAEF324F-7937-86BC-9D70-99C168643050}"/>
              </a:ext>
            </a:extLst>
          </p:cNvPr>
          <p:cNvCxnSpPr>
            <a:cxnSpLocks/>
          </p:cNvCxnSpPr>
          <p:nvPr/>
        </p:nvCxnSpPr>
        <p:spPr>
          <a:xfrm flipH="1">
            <a:off x="4338100" y="5880761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1685154D-839B-7558-6300-ED8251F54898}"/>
              </a:ext>
            </a:extLst>
          </p:cNvPr>
          <p:cNvSpPr/>
          <p:nvPr/>
        </p:nvSpPr>
        <p:spPr>
          <a:xfrm>
            <a:off x="4249791" y="607941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FE37B9C-A5B1-3DAB-C1C4-4D56123D99EA}"/>
              </a:ext>
            </a:extLst>
          </p:cNvPr>
          <p:cNvSpPr txBox="1"/>
          <p:nvPr/>
        </p:nvSpPr>
        <p:spPr>
          <a:xfrm>
            <a:off x="4138895" y="6274806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desc</a:t>
            </a:r>
            <a:endParaRPr lang="pt-BR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4831416" y="3747840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Cidade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CED985-108C-AEE1-CF53-4D7DC3391EE4}"/>
              </a:ext>
            </a:extLst>
          </p:cNvPr>
          <p:cNvSpPr txBox="1"/>
          <p:nvPr/>
        </p:nvSpPr>
        <p:spPr>
          <a:xfrm>
            <a:off x="3367107" y="5554295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7CD3689B-64D5-52D4-A42C-8DDD799BFA69}"/>
              </a:ext>
            </a:extLst>
          </p:cNvPr>
          <p:cNvSpPr txBox="1"/>
          <p:nvPr/>
        </p:nvSpPr>
        <p:spPr>
          <a:xfrm>
            <a:off x="8015007" y="5608281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Dependente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1A4DE3FE-7B80-1E44-814F-E0140B6A36FF}"/>
              </a:ext>
            </a:extLst>
          </p:cNvPr>
          <p:cNvSpPr txBox="1"/>
          <p:nvPr/>
        </p:nvSpPr>
        <p:spPr>
          <a:xfrm>
            <a:off x="8033527" y="31146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cpf</a:t>
            </a:r>
            <a:endParaRPr lang="pt-BR" dirty="0"/>
          </a:p>
        </p:txBody>
      </p:sp>
      <p:cxnSp>
        <p:nvCxnSpPr>
          <p:cNvPr id="67" name="Conector reto 66">
            <a:extLst>
              <a:ext uri="{FF2B5EF4-FFF2-40B4-BE49-F238E27FC236}">
                <a16:creationId xmlns:a16="http://schemas.microsoft.com/office/drawing/2014/main" id="{B54C6BB7-AE37-08F2-8209-4E0E43332AD2}"/>
              </a:ext>
            </a:extLst>
          </p:cNvPr>
          <p:cNvCxnSpPr>
            <a:cxnSpLocks/>
            <a:stCxn id="68" idx="4"/>
          </p:cNvCxnSpPr>
          <p:nvPr/>
        </p:nvCxnSpPr>
        <p:spPr>
          <a:xfrm>
            <a:off x="8492511" y="3637001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Elipse 67">
            <a:extLst>
              <a:ext uri="{FF2B5EF4-FFF2-40B4-BE49-F238E27FC236}">
                <a16:creationId xmlns:a16="http://schemas.microsoft.com/office/drawing/2014/main" id="{50846980-2698-D334-E9B5-6E210C3708C1}"/>
              </a:ext>
            </a:extLst>
          </p:cNvPr>
          <p:cNvSpPr/>
          <p:nvPr/>
        </p:nvSpPr>
        <p:spPr>
          <a:xfrm>
            <a:off x="8412501" y="348273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9" name="Conector reto 68">
            <a:extLst>
              <a:ext uri="{FF2B5EF4-FFF2-40B4-BE49-F238E27FC236}">
                <a16:creationId xmlns:a16="http://schemas.microsoft.com/office/drawing/2014/main" id="{A625AF10-2A30-F460-474F-B790ED1D5286}"/>
              </a:ext>
            </a:extLst>
          </p:cNvPr>
          <p:cNvCxnSpPr>
            <a:cxnSpLocks/>
            <a:stCxn id="71" idx="4"/>
          </p:cNvCxnSpPr>
          <p:nvPr/>
        </p:nvCxnSpPr>
        <p:spPr>
          <a:xfrm flipH="1">
            <a:off x="8996272" y="3624353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Elipse 70">
            <a:extLst>
              <a:ext uri="{FF2B5EF4-FFF2-40B4-BE49-F238E27FC236}">
                <a16:creationId xmlns:a16="http://schemas.microsoft.com/office/drawing/2014/main" id="{2A285D5E-8A60-6B29-F916-7E21B625CC02}"/>
              </a:ext>
            </a:extLst>
          </p:cNvPr>
          <p:cNvSpPr/>
          <p:nvPr/>
        </p:nvSpPr>
        <p:spPr>
          <a:xfrm>
            <a:off x="8996272" y="347008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2" name="CaixaDeTexto 71">
            <a:extLst>
              <a:ext uri="{FF2B5EF4-FFF2-40B4-BE49-F238E27FC236}">
                <a16:creationId xmlns:a16="http://schemas.microsoft.com/office/drawing/2014/main" id="{59B0EACE-E5C1-6C45-CAC8-7106C26B6587}"/>
              </a:ext>
            </a:extLst>
          </p:cNvPr>
          <p:cNvSpPr txBox="1"/>
          <p:nvPr/>
        </p:nvSpPr>
        <p:spPr>
          <a:xfrm>
            <a:off x="8769282" y="313932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74" name="CaixaDeTexto 73">
            <a:extLst>
              <a:ext uri="{FF2B5EF4-FFF2-40B4-BE49-F238E27FC236}">
                <a16:creationId xmlns:a16="http://schemas.microsoft.com/office/drawing/2014/main" id="{D92A9227-19A3-92EB-E67F-91B20C39A3D4}"/>
              </a:ext>
            </a:extLst>
          </p:cNvPr>
          <p:cNvSpPr txBox="1"/>
          <p:nvPr/>
        </p:nvSpPr>
        <p:spPr>
          <a:xfrm>
            <a:off x="8078993" y="3888603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Funcionario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699873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B3578E51-1A4D-5025-FB3A-FC5F383CBDCF}"/>
              </a:ext>
            </a:extLst>
          </p:cNvPr>
          <p:cNvSpPr/>
          <p:nvPr/>
        </p:nvSpPr>
        <p:spPr>
          <a:xfrm>
            <a:off x="7935819" y="5532584"/>
            <a:ext cx="1577104" cy="553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979374D-AE3B-EA34-7856-90EC7B6D494D}"/>
              </a:ext>
            </a:extLst>
          </p:cNvPr>
          <p:cNvSpPr txBox="1"/>
          <p:nvPr/>
        </p:nvSpPr>
        <p:spPr>
          <a:xfrm>
            <a:off x="162613" y="96934"/>
            <a:ext cx="11809428" cy="20536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Uma fábrica deseja informatizar seu processo de distribuição de produtos e, para tanto, ela precisa armazenar dados dos distribuidores (CNPJ, Razão Social, Telefone). Como o processo de distribuição é por cidade, precisa-se armazenar as cidades (Código IBGE, UF, Nome) e, evidentemente, as informações dos produtos (Código, Descrição) a serem distribuídos. Para melhor controle interno se faz necessário também guardar as informações dos funcionários (CPF e Nome) e de </a:t>
            </a:r>
            <a:r>
              <a:rPr lang="pt-BR" sz="2000" kern="100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quem gerencia outros funcionários</a:t>
            </a:r>
            <a:r>
              <a:rPr lang="pt-BR" sz="20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É preciso também armazenar os nomes dos dependentes dos funcionários. </a:t>
            </a: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13F2105A-A7A9-A478-8377-76E85D35DBED}"/>
              </a:ext>
            </a:extLst>
          </p:cNvPr>
          <p:cNvSpPr txBox="1"/>
          <p:nvPr/>
        </p:nvSpPr>
        <p:spPr>
          <a:xfrm>
            <a:off x="8015007" y="5608281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Dependente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389068" y="3734596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Distribuidor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334112" y="361033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cnpj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170420" y="3845953"/>
            <a:ext cx="218648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010400" y="376882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52760" y="3906360"/>
            <a:ext cx="395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rs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165121" y="3919262"/>
            <a:ext cx="223947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005101" y="399613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165121" y="3919262"/>
            <a:ext cx="223947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005101" y="426228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07557" y="416679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4564840" y="2989962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023824" y="3512353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4943814" y="335808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53233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53233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47BC6FF9-CC32-9C0B-FCEF-7F24D3B326AC}"/>
              </a:ext>
            </a:extLst>
          </p:cNvPr>
          <p:cNvCxnSpPr>
            <a:cxnSpLocks/>
            <a:stCxn id="36" idx="4"/>
          </p:cNvCxnSpPr>
          <p:nvPr/>
        </p:nvCxnSpPr>
        <p:spPr>
          <a:xfrm flipH="1">
            <a:off x="57616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46573B12-E5A1-2274-65DE-2A9076A4C175}"/>
              </a:ext>
            </a:extLst>
          </p:cNvPr>
          <p:cNvSpPr/>
          <p:nvPr/>
        </p:nvSpPr>
        <p:spPr>
          <a:xfrm>
            <a:off x="57616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DEDA4AEA-D254-6343-199F-953542102D6E}"/>
              </a:ext>
            </a:extLst>
          </p:cNvPr>
          <p:cNvCxnSpPr>
            <a:cxnSpLocks/>
            <a:stCxn id="38" idx="4"/>
          </p:cNvCxnSpPr>
          <p:nvPr/>
        </p:nvCxnSpPr>
        <p:spPr>
          <a:xfrm flipH="1">
            <a:off x="6234840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EED0AC0E-773C-9B9E-BAA1-9272BC1D3ACE}"/>
              </a:ext>
            </a:extLst>
          </p:cNvPr>
          <p:cNvSpPr/>
          <p:nvPr/>
        </p:nvSpPr>
        <p:spPr>
          <a:xfrm>
            <a:off x="6234840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096342" y="298875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ibge</a:t>
            </a:r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0361731-0A52-34D0-9D88-6BA60D0BDCAB}"/>
              </a:ext>
            </a:extLst>
          </p:cNvPr>
          <p:cNvSpPr txBox="1"/>
          <p:nvPr/>
        </p:nvSpPr>
        <p:spPr>
          <a:xfrm>
            <a:off x="5685101" y="2995258"/>
            <a:ext cx="39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uf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749BCBC-A6EE-91C3-86EB-CEF35AE5AC79}"/>
              </a:ext>
            </a:extLst>
          </p:cNvPr>
          <p:cNvSpPr txBox="1"/>
          <p:nvPr/>
        </p:nvSpPr>
        <p:spPr>
          <a:xfrm>
            <a:off x="6028762" y="300052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211EF3E-4C00-19C7-D9D7-41F4261944F0}"/>
              </a:ext>
            </a:extLst>
          </p:cNvPr>
          <p:cNvSpPr txBox="1"/>
          <p:nvPr/>
        </p:nvSpPr>
        <p:spPr>
          <a:xfrm>
            <a:off x="3403140" y="625009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250754F1-2A5A-808A-0AF1-AB86F9B2EEDC}"/>
              </a:ext>
            </a:extLst>
          </p:cNvPr>
          <p:cNvCxnSpPr>
            <a:cxnSpLocks/>
          </p:cNvCxnSpPr>
          <p:nvPr/>
        </p:nvCxnSpPr>
        <p:spPr>
          <a:xfrm>
            <a:off x="3790150" y="5923627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890A2DC6-6DE0-6708-A7EF-253B4F7F909A}"/>
              </a:ext>
            </a:extLst>
          </p:cNvPr>
          <p:cNvSpPr/>
          <p:nvPr/>
        </p:nvSpPr>
        <p:spPr>
          <a:xfrm>
            <a:off x="3704901" y="60815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BAEF324F-7937-86BC-9D70-99C168643050}"/>
              </a:ext>
            </a:extLst>
          </p:cNvPr>
          <p:cNvCxnSpPr>
            <a:cxnSpLocks/>
          </p:cNvCxnSpPr>
          <p:nvPr/>
        </p:nvCxnSpPr>
        <p:spPr>
          <a:xfrm flipH="1">
            <a:off x="4338100" y="5880761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1685154D-839B-7558-6300-ED8251F54898}"/>
              </a:ext>
            </a:extLst>
          </p:cNvPr>
          <p:cNvSpPr/>
          <p:nvPr/>
        </p:nvSpPr>
        <p:spPr>
          <a:xfrm>
            <a:off x="4249791" y="607941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FE37B9C-A5B1-3DAB-C1C4-4D56123D99EA}"/>
              </a:ext>
            </a:extLst>
          </p:cNvPr>
          <p:cNvSpPr txBox="1"/>
          <p:nvPr/>
        </p:nvSpPr>
        <p:spPr>
          <a:xfrm>
            <a:off x="4138895" y="6274806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desc</a:t>
            </a:r>
            <a:endParaRPr lang="pt-BR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4831416" y="3747840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Cidade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CED985-108C-AEE1-CF53-4D7DC3391EE4}"/>
              </a:ext>
            </a:extLst>
          </p:cNvPr>
          <p:cNvSpPr txBox="1"/>
          <p:nvPr/>
        </p:nvSpPr>
        <p:spPr>
          <a:xfrm>
            <a:off x="3367107" y="5554295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B54D5C2-C698-1CA3-FDBC-65CFD32EF38F}"/>
              </a:ext>
            </a:extLst>
          </p:cNvPr>
          <p:cNvSpPr txBox="1"/>
          <p:nvPr/>
        </p:nvSpPr>
        <p:spPr>
          <a:xfrm>
            <a:off x="8033527" y="31146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cpf</a:t>
            </a:r>
            <a:endParaRPr lang="pt-BR" dirty="0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A0CDABE5-E0BC-395D-5737-E46FA590E54C}"/>
              </a:ext>
            </a:extLst>
          </p:cNvPr>
          <p:cNvCxnSpPr>
            <a:cxnSpLocks/>
            <a:stCxn id="59" idx="4"/>
          </p:cNvCxnSpPr>
          <p:nvPr/>
        </p:nvCxnSpPr>
        <p:spPr>
          <a:xfrm>
            <a:off x="8492511" y="3637001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FDF835C4-9FD3-80C1-54D7-195A650864D5}"/>
              </a:ext>
            </a:extLst>
          </p:cNvPr>
          <p:cNvSpPr/>
          <p:nvPr/>
        </p:nvSpPr>
        <p:spPr>
          <a:xfrm>
            <a:off x="8412501" y="348273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A05DC016-B8FA-4777-0376-EB34E8169427}"/>
              </a:ext>
            </a:extLst>
          </p:cNvPr>
          <p:cNvCxnSpPr>
            <a:cxnSpLocks/>
            <a:stCxn id="61" idx="4"/>
          </p:cNvCxnSpPr>
          <p:nvPr/>
        </p:nvCxnSpPr>
        <p:spPr>
          <a:xfrm flipH="1">
            <a:off x="8996272" y="3624353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DAB03FA0-B35B-E277-FCED-B5E9B2F64037}"/>
              </a:ext>
            </a:extLst>
          </p:cNvPr>
          <p:cNvSpPr/>
          <p:nvPr/>
        </p:nvSpPr>
        <p:spPr>
          <a:xfrm>
            <a:off x="8996272" y="347008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6EBAAFD-AAEA-7432-A403-F038CD59E634}"/>
              </a:ext>
            </a:extLst>
          </p:cNvPr>
          <p:cNvSpPr txBox="1"/>
          <p:nvPr/>
        </p:nvSpPr>
        <p:spPr>
          <a:xfrm>
            <a:off x="8769282" y="313932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B60FBF3C-6AED-6C36-8260-BB607F7592FB}"/>
              </a:ext>
            </a:extLst>
          </p:cNvPr>
          <p:cNvSpPr txBox="1"/>
          <p:nvPr/>
        </p:nvSpPr>
        <p:spPr>
          <a:xfrm>
            <a:off x="8078993" y="3888603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Funcionario</a:t>
            </a:r>
            <a:endParaRPr lang="pt-BR" dirty="0"/>
          </a:p>
        </p:txBody>
      </p:sp>
      <p:sp>
        <p:nvSpPr>
          <p:cNvPr id="2" name="Fluxograma: Decisão 1">
            <a:extLst>
              <a:ext uri="{FF2B5EF4-FFF2-40B4-BE49-F238E27FC236}">
                <a16:creationId xmlns:a16="http://schemas.microsoft.com/office/drawing/2014/main" id="{F0AF299F-D2D3-A190-7A36-7C369E022F22}"/>
              </a:ext>
            </a:extLst>
          </p:cNvPr>
          <p:cNvSpPr/>
          <p:nvPr/>
        </p:nvSpPr>
        <p:spPr>
          <a:xfrm>
            <a:off x="3260265" y="4387590"/>
            <a:ext cx="1464309" cy="700482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2287B035-BEA2-FA43-AF04-0FCA916B5DBD}"/>
              </a:ext>
            </a:extLst>
          </p:cNvPr>
          <p:cNvCxnSpPr>
            <a:stCxn id="6" idx="2"/>
            <a:endCxn id="2" idx="1"/>
          </p:cNvCxnSpPr>
          <p:nvPr/>
        </p:nvCxnSpPr>
        <p:spPr>
          <a:xfrm rot="16200000" flipH="1">
            <a:off x="2373793" y="3851358"/>
            <a:ext cx="633903" cy="11390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300E257B-96E4-3572-37E3-381DEBADC15B}"/>
              </a:ext>
            </a:extLst>
          </p:cNvPr>
          <p:cNvCxnSpPr>
            <a:stCxn id="55" idx="2"/>
            <a:endCxn id="2" idx="3"/>
          </p:cNvCxnSpPr>
          <p:nvPr/>
        </p:nvCxnSpPr>
        <p:spPr>
          <a:xfrm rot="5400000">
            <a:off x="4833744" y="4008003"/>
            <a:ext cx="620659" cy="8389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8A9E77B2-00B5-201A-8370-8ADF0D195FDF}"/>
              </a:ext>
            </a:extLst>
          </p:cNvPr>
          <p:cNvCxnSpPr>
            <a:stCxn id="2" idx="2"/>
            <a:endCxn id="56" idx="0"/>
          </p:cNvCxnSpPr>
          <p:nvPr/>
        </p:nvCxnSpPr>
        <p:spPr>
          <a:xfrm>
            <a:off x="3992420" y="5088072"/>
            <a:ext cx="106842" cy="466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68793D3-8EAB-3EA3-3EC0-F2E736E95709}"/>
              </a:ext>
            </a:extLst>
          </p:cNvPr>
          <p:cNvSpPr txBox="1"/>
          <p:nvPr/>
        </p:nvSpPr>
        <p:spPr>
          <a:xfrm>
            <a:off x="3379809" y="4543151"/>
            <a:ext cx="14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BB69AC2-AEAB-142E-F3D6-A7588908CC65}"/>
              </a:ext>
            </a:extLst>
          </p:cNvPr>
          <p:cNvSpPr txBox="1"/>
          <p:nvPr/>
        </p:nvSpPr>
        <p:spPr>
          <a:xfrm>
            <a:off x="5563570" y="4113996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E3FAE18-7297-7CA1-B0D9-26955C195CFC}"/>
              </a:ext>
            </a:extLst>
          </p:cNvPr>
          <p:cNvSpPr txBox="1"/>
          <p:nvPr/>
        </p:nvSpPr>
        <p:spPr>
          <a:xfrm>
            <a:off x="3727996" y="5238949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FADC098-EFB4-36D8-54C0-CB41A34DA7D6}"/>
              </a:ext>
            </a:extLst>
          </p:cNvPr>
          <p:cNvSpPr txBox="1"/>
          <p:nvPr/>
        </p:nvSpPr>
        <p:spPr>
          <a:xfrm>
            <a:off x="1839445" y="4077617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0" name="Fluxograma: Decisão 29">
            <a:extLst>
              <a:ext uri="{FF2B5EF4-FFF2-40B4-BE49-F238E27FC236}">
                <a16:creationId xmlns:a16="http://schemas.microsoft.com/office/drawing/2014/main" id="{BC12B3C5-1F1F-6658-C8DC-635B7E83345A}"/>
              </a:ext>
            </a:extLst>
          </p:cNvPr>
          <p:cNvSpPr/>
          <p:nvPr/>
        </p:nvSpPr>
        <p:spPr>
          <a:xfrm>
            <a:off x="8092740" y="4635886"/>
            <a:ext cx="1203694" cy="50265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88C34BE-8A90-3FE3-504A-A96D63E242CC}"/>
              </a:ext>
            </a:extLst>
          </p:cNvPr>
          <p:cNvSpPr txBox="1"/>
          <p:nvPr/>
        </p:nvSpPr>
        <p:spPr>
          <a:xfrm>
            <a:off x="8322461" y="4718740"/>
            <a:ext cx="1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3E1BBBA1-7DB4-F157-E96F-99FB34471275}"/>
              </a:ext>
            </a:extLst>
          </p:cNvPr>
          <p:cNvCxnSpPr>
            <a:stCxn id="30" idx="0"/>
          </p:cNvCxnSpPr>
          <p:nvPr/>
        </p:nvCxnSpPr>
        <p:spPr>
          <a:xfrm flipV="1">
            <a:off x="8694587" y="4275692"/>
            <a:ext cx="0" cy="36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97D74FB4-F8A9-6783-57BA-FDC4A2EA8959}"/>
              </a:ext>
            </a:extLst>
          </p:cNvPr>
          <p:cNvCxnSpPr>
            <a:stCxn id="30" idx="2"/>
            <a:endCxn id="29" idx="0"/>
          </p:cNvCxnSpPr>
          <p:nvPr/>
        </p:nvCxnSpPr>
        <p:spPr>
          <a:xfrm>
            <a:off x="8694587" y="5138539"/>
            <a:ext cx="29784" cy="394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89D342E-7AF0-CEF0-A1F2-438A10AA2167}"/>
              </a:ext>
            </a:extLst>
          </p:cNvPr>
          <p:cNvSpPr txBox="1"/>
          <p:nvPr/>
        </p:nvSpPr>
        <p:spPr>
          <a:xfrm>
            <a:off x="8709479" y="5221393"/>
            <a:ext cx="26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C3B5248-51F9-662B-B69F-127BE5D0EB77}"/>
              </a:ext>
            </a:extLst>
          </p:cNvPr>
          <p:cNvSpPr txBox="1"/>
          <p:nvPr/>
        </p:nvSpPr>
        <p:spPr>
          <a:xfrm>
            <a:off x="8663003" y="4288026"/>
            <a:ext cx="26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n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0A032F7-20DE-46F0-5E40-1AFD4AF54518}"/>
              </a:ext>
            </a:extLst>
          </p:cNvPr>
          <p:cNvCxnSpPr>
            <a:cxnSpLocks/>
          </p:cNvCxnSpPr>
          <p:nvPr/>
        </p:nvCxnSpPr>
        <p:spPr>
          <a:xfrm flipH="1">
            <a:off x="9526155" y="5821547"/>
            <a:ext cx="342667" cy="48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D67A6304-12EC-AEF7-F3D4-AF63920769ED}"/>
              </a:ext>
            </a:extLst>
          </p:cNvPr>
          <p:cNvSpPr/>
          <p:nvPr/>
        </p:nvSpPr>
        <p:spPr>
          <a:xfrm>
            <a:off x="9783308" y="571581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23591D8-CD2B-E52E-5D53-4E149B1F4BF5}"/>
              </a:ext>
            </a:extLst>
          </p:cNvPr>
          <p:cNvSpPr txBox="1"/>
          <p:nvPr/>
        </p:nvSpPr>
        <p:spPr>
          <a:xfrm>
            <a:off x="9943328" y="5608281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nome</a:t>
            </a:r>
          </a:p>
        </p:txBody>
      </p:sp>
      <p:sp>
        <p:nvSpPr>
          <p:cNvPr id="3" name="Fluxograma: Decisão 2">
            <a:extLst>
              <a:ext uri="{FF2B5EF4-FFF2-40B4-BE49-F238E27FC236}">
                <a16:creationId xmlns:a16="http://schemas.microsoft.com/office/drawing/2014/main" id="{594A0FC4-D757-0B9B-7B78-E7E2FAB0E08E}"/>
              </a:ext>
            </a:extLst>
          </p:cNvPr>
          <p:cNvSpPr/>
          <p:nvPr/>
        </p:nvSpPr>
        <p:spPr>
          <a:xfrm>
            <a:off x="9908134" y="3805749"/>
            <a:ext cx="1203694" cy="50265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1ADE54-F0B2-1E63-00D3-43F2E0BE393C}"/>
              </a:ext>
            </a:extLst>
          </p:cNvPr>
          <p:cNvSpPr txBox="1"/>
          <p:nvPr/>
        </p:nvSpPr>
        <p:spPr>
          <a:xfrm>
            <a:off x="10070777" y="3868266"/>
            <a:ext cx="1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gerencia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F7056693-A810-6897-7F90-E79F268689D1}"/>
              </a:ext>
            </a:extLst>
          </p:cNvPr>
          <p:cNvCxnSpPr>
            <a:stCxn id="63" idx="3"/>
            <a:endCxn id="3" idx="0"/>
          </p:cNvCxnSpPr>
          <p:nvPr/>
        </p:nvCxnSpPr>
        <p:spPr>
          <a:xfrm flipV="1">
            <a:off x="9543302" y="3805749"/>
            <a:ext cx="966679" cy="267520"/>
          </a:xfrm>
          <a:prstGeom prst="bentConnector4">
            <a:avLst>
              <a:gd name="adj1" fmla="val 18870"/>
              <a:gd name="adj2" fmla="val 18545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: Angulado 53">
            <a:extLst>
              <a:ext uri="{FF2B5EF4-FFF2-40B4-BE49-F238E27FC236}">
                <a16:creationId xmlns:a16="http://schemas.microsoft.com/office/drawing/2014/main" id="{F4FC8264-13FD-D376-02E2-96AB4E29881F}"/>
              </a:ext>
            </a:extLst>
          </p:cNvPr>
          <p:cNvCxnSpPr>
            <a:stCxn id="3" idx="2"/>
          </p:cNvCxnSpPr>
          <p:nvPr/>
        </p:nvCxnSpPr>
        <p:spPr>
          <a:xfrm rot="5400000" flipH="1">
            <a:off x="9955837" y="3754259"/>
            <a:ext cx="141609" cy="966679"/>
          </a:xfrm>
          <a:prstGeom prst="bentConnector4">
            <a:avLst>
              <a:gd name="adj1" fmla="val -161430"/>
              <a:gd name="adj2" fmla="val 811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9AF3E182-3DA9-6346-4FBB-B4C01789D387}"/>
              </a:ext>
            </a:extLst>
          </p:cNvPr>
          <p:cNvSpPr txBox="1"/>
          <p:nvPr/>
        </p:nvSpPr>
        <p:spPr>
          <a:xfrm>
            <a:off x="9490147" y="3697941"/>
            <a:ext cx="1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804E3D41-30C1-C208-6989-C73FE36803C3}"/>
              </a:ext>
            </a:extLst>
          </p:cNvPr>
          <p:cNvSpPr txBox="1"/>
          <p:nvPr/>
        </p:nvSpPr>
        <p:spPr>
          <a:xfrm>
            <a:off x="9512457" y="4134209"/>
            <a:ext cx="1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3827001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B3578E51-1A4D-5025-FB3A-FC5F383CBDCF}"/>
              </a:ext>
            </a:extLst>
          </p:cNvPr>
          <p:cNvSpPr/>
          <p:nvPr/>
        </p:nvSpPr>
        <p:spPr>
          <a:xfrm>
            <a:off x="7935819" y="5532584"/>
            <a:ext cx="1577104" cy="553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13F2105A-A7A9-A478-8377-76E85D35DBED}"/>
              </a:ext>
            </a:extLst>
          </p:cNvPr>
          <p:cNvSpPr txBox="1"/>
          <p:nvPr/>
        </p:nvSpPr>
        <p:spPr>
          <a:xfrm>
            <a:off x="8015007" y="5608281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Dependente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389068" y="3734596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Distribuidor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334112" y="361033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cnpj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170420" y="3845953"/>
            <a:ext cx="218648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010400" y="376882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52760" y="3906360"/>
            <a:ext cx="395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rs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165121" y="3919262"/>
            <a:ext cx="223947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005101" y="399613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165121" y="3919262"/>
            <a:ext cx="223947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005101" y="426228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07557" y="416679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4564840" y="2989962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023824" y="3512353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4943814" y="335808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53233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53233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47BC6FF9-CC32-9C0B-FCEF-7F24D3B326AC}"/>
              </a:ext>
            </a:extLst>
          </p:cNvPr>
          <p:cNvCxnSpPr>
            <a:cxnSpLocks/>
            <a:stCxn id="36" idx="4"/>
          </p:cNvCxnSpPr>
          <p:nvPr/>
        </p:nvCxnSpPr>
        <p:spPr>
          <a:xfrm flipH="1">
            <a:off x="57616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46573B12-E5A1-2274-65DE-2A9076A4C175}"/>
              </a:ext>
            </a:extLst>
          </p:cNvPr>
          <p:cNvSpPr/>
          <p:nvPr/>
        </p:nvSpPr>
        <p:spPr>
          <a:xfrm>
            <a:off x="57616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DEDA4AEA-D254-6343-199F-953542102D6E}"/>
              </a:ext>
            </a:extLst>
          </p:cNvPr>
          <p:cNvCxnSpPr>
            <a:cxnSpLocks/>
            <a:stCxn id="38" idx="4"/>
          </p:cNvCxnSpPr>
          <p:nvPr/>
        </p:nvCxnSpPr>
        <p:spPr>
          <a:xfrm flipH="1">
            <a:off x="6234840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EED0AC0E-773C-9B9E-BAA1-9272BC1D3ACE}"/>
              </a:ext>
            </a:extLst>
          </p:cNvPr>
          <p:cNvSpPr/>
          <p:nvPr/>
        </p:nvSpPr>
        <p:spPr>
          <a:xfrm>
            <a:off x="6234840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096342" y="298875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ibge</a:t>
            </a:r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0361731-0A52-34D0-9D88-6BA60D0BDCAB}"/>
              </a:ext>
            </a:extLst>
          </p:cNvPr>
          <p:cNvSpPr txBox="1"/>
          <p:nvPr/>
        </p:nvSpPr>
        <p:spPr>
          <a:xfrm>
            <a:off x="5685101" y="2995258"/>
            <a:ext cx="39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uf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749BCBC-A6EE-91C3-86EB-CEF35AE5AC79}"/>
              </a:ext>
            </a:extLst>
          </p:cNvPr>
          <p:cNvSpPr txBox="1"/>
          <p:nvPr/>
        </p:nvSpPr>
        <p:spPr>
          <a:xfrm>
            <a:off x="6028762" y="300052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211EF3E-4C00-19C7-D9D7-41F4261944F0}"/>
              </a:ext>
            </a:extLst>
          </p:cNvPr>
          <p:cNvSpPr txBox="1"/>
          <p:nvPr/>
        </p:nvSpPr>
        <p:spPr>
          <a:xfrm>
            <a:off x="3403140" y="625009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250754F1-2A5A-808A-0AF1-AB86F9B2EEDC}"/>
              </a:ext>
            </a:extLst>
          </p:cNvPr>
          <p:cNvCxnSpPr>
            <a:cxnSpLocks/>
          </p:cNvCxnSpPr>
          <p:nvPr/>
        </p:nvCxnSpPr>
        <p:spPr>
          <a:xfrm>
            <a:off x="3790150" y="5923627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890A2DC6-6DE0-6708-A7EF-253B4F7F909A}"/>
              </a:ext>
            </a:extLst>
          </p:cNvPr>
          <p:cNvSpPr/>
          <p:nvPr/>
        </p:nvSpPr>
        <p:spPr>
          <a:xfrm>
            <a:off x="3704901" y="60815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BAEF324F-7937-86BC-9D70-99C168643050}"/>
              </a:ext>
            </a:extLst>
          </p:cNvPr>
          <p:cNvCxnSpPr>
            <a:cxnSpLocks/>
          </p:cNvCxnSpPr>
          <p:nvPr/>
        </p:nvCxnSpPr>
        <p:spPr>
          <a:xfrm flipH="1">
            <a:off x="4338100" y="5880761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1685154D-839B-7558-6300-ED8251F54898}"/>
              </a:ext>
            </a:extLst>
          </p:cNvPr>
          <p:cNvSpPr/>
          <p:nvPr/>
        </p:nvSpPr>
        <p:spPr>
          <a:xfrm>
            <a:off x="4249791" y="607941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FE37B9C-A5B1-3DAB-C1C4-4D56123D99EA}"/>
              </a:ext>
            </a:extLst>
          </p:cNvPr>
          <p:cNvSpPr txBox="1"/>
          <p:nvPr/>
        </p:nvSpPr>
        <p:spPr>
          <a:xfrm>
            <a:off x="4138895" y="6274806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desc</a:t>
            </a:r>
            <a:endParaRPr lang="pt-BR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4831416" y="3747840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Cidade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CED985-108C-AEE1-CF53-4D7DC3391EE4}"/>
              </a:ext>
            </a:extLst>
          </p:cNvPr>
          <p:cNvSpPr txBox="1"/>
          <p:nvPr/>
        </p:nvSpPr>
        <p:spPr>
          <a:xfrm>
            <a:off x="3367107" y="5554295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Produto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B54D5C2-C698-1CA3-FDBC-65CFD32EF38F}"/>
              </a:ext>
            </a:extLst>
          </p:cNvPr>
          <p:cNvSpPr txBox="1"/>
          <p:nvPr/>
        </p:nvSpPr>
        <p:spPr>
          <a:xfrm>
            <a:off x="8033527" y="31146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cpf</a:t>
            </a:r>
            <a:endParaRPr lang="pt-BR" dirty="0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A0CDABE5-E0BC-395D-5737-E46FA590E54C}"/>
              </a:ext>
            </a:extLst>
          </p:cNvPr>
          <p:cNvCxnSpPr>
            <a:cxnSpLocks/>
            <a:stCxn id="59" idx="4"/>
          </p:cNvCxnSpPr>
          <p:nvPr/>
        </p:nvCxnSpPr>
        <p:spPr>
          <a:xfrm>
            <a:off x="8492511" y="3637001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FDF835C4-9FD3-80C1-54D7-195A650864D5}"/>
              </a:ext>
            </a:extLst>
          </p:cNvPr>
          <p:cNvSpPr/>
          <p:nvPr/>
        </p:nvSpPr>
        <p:spPr>
          <a:xfrm>
            <a:off x="8412501" y="348273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A05DC016-B8FA-4777-0376-EB34E8169427}"/>
              </a:ext>
            </a:extLst>
          </p:cNvPr>
          <p:cNvCxnSpPr>
            <a:cxnSpLocks/>
            <a:stCxn id="61" idx="4"/>
          </p:cNvCxnSpPr>
          <p:nvPr/>
        </p:nvCxnSpPr>
        <p:spPr>
          <a:xfrm flipH="1">
            <a:off x="8996272" y="3624353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DAB03FA0-B35B-E277-FCED-B5E9B2F64037}"/>
              </a:ext>
            </a:extLst>
          </p:cNvPr>
          <p:cNvSpPr/>
          <p:nvPr/>
        </p:nvSpPr>
        <p:spPr>
          <a:xfrm>
            <a:off x="8996272" y="347008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6EBAAFD-AAEA-7432-A403-F038CD59E634}"/>
              </a:ext>
            </a:extLst>
          </p:cNvPr>
          <p:cNvSpPr txBox="1"/>
          <p:nvPr/>
        </p:nvSpPr>
        <p:spPr>
          <a:xfrm>
            <a:off x="8769282" y="313932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B60FBF3C-6AED-6C36-8260-BB607F7592FB}"/>
              </a:ext>
            </a:extLst>
          </p:cNvPr>
          <p:cNvSpPr txBox="1"/>
          <p:nvPr/>
        </p:nvSpPr>
        <p:spPr>
          <a:xfrm>
            <a:off x="8078993" y="3888603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highlight>
                  <a:srgbClr val="FFFF00"/>
                </a:highlight>
              </a:rPr>
              <a:t>Funcionario</a:t>
            </a:r>
            <a:endParaRPr lang="pt-BR" dirty="0">
              <a:highlight>
                <a:srgbClr val="FFFF00"/>
              </a:highlight>
            </a:endParaRPr>
          </a:p>
        </p:txBody>
      </p:sp>
      <p:sp>
        <p:nvSpPr>
          <p:cNvPr id="2" name="Fluxograma: Decisão 1">
            <a:extLst>
              <a:ext uri="{FF2B5EF4-FFF2-40B4-BE49-F238E27FC236}">
                <a16:creationId xmlns:a16="http://schemas.microsoft.com/office/drawing/2014/main" id="{F0AF299F-D2D3-A190-7A36-7C369E022F22}"/>
              </a:ext>
            </a:extLst>
          </p:cNvPr>
          <p:cNvSpPr/>
          <p:nvPr/>
        </p:nvSpPr>
        <p:spPr>
          <a:xfrm>
            <a:off x="3260265" y="4387590"/>
            <a:ext cx="1464309" cy="700482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2287B035-BEA2-FA43-AF04-0FCA916B5DBD}"/>
              </a:ext>
            </a:extLst>
          </p:cNvPr>
          <p:cNvCxnSpPr>
            <a:stCxn id="6" idx="2"/>
            <a:endCxn id="2" idx="1"/>
          </p:cNvCxnSpPr>
          <p:nvPr/>
        </p:nvCxnSpPr>
        <p:spPr>
          <a:xfrm rot="16200000" flipH="1">
            <a:off x="2373793" y="3851358"/>
            <a:ext cx="633903" cy="11390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300E257B-96E4-3572-37E3-381DEBADC15B}"/>
              </a:ext>
            </a:extLst>
          </p:cNvPr>
          <p:cNvCxnSpPr>
            <a:stCxn id="55" idx="2"/>
            <a:endCxn id="2" idx="3"/>
          </p:cNvCxnSpPr>
          <p:nvPr/>
        </p:nvCxnSpPr>
        <p:spPr>
          <a:xfrm rot="5400000">
            <a:off x="4833744" y="4008003"/>
            <a:ext cx="620659" cy="8389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8A9E77B2-00B5-201A-8370-8ADF0D195FDF}"/>
              </a:ext>
            </a:extLst>
          </p:cNvPr>
          <p:cNvCxnSpPr>
            <a:stCxn id="2" idx="2"/>
            <a:endCxn id="56" idx="0"/>
          </p:cNvCxnSpPr>
          <p:nvPr/>
        </p:nvCxnSpPr>
        <p:spPr>
          <a:xfrm>
            <a:off x="3992420" y="5088072"/>
            <a:ext cx="106842" cy="466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68793D3-8EAB-3EA3-3EC0-F2E736E95709}"/>
              </a:ext>
            </a:extLst>
          </p:cNvPr>
          <p:cNvSpPr txBox="1"/>
          <p:nvPr/>
        </p:nvSpPr>
        <p:spPr>
          <a:xfrm>
            <a:off x="3379809" y="4543151"/>
            <a:ext cx="14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BB69AC2-AEAB-142E-F3D6-A7588908CC65}"/>
              </a:ext>
            </a:extLst>
          </p:cNvPr>
          <p:cNvSpPr txBox="1"/>
          <p:nvPr/>
        </p:nvSpPr>
        <p:spPr>
          <a:xfrm>
            <a:off x="5563570" y="4113996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E3FAE18-7297-7CA1-B0D9-26955C195CFC}"/>
              </a:ext>
            </a:extLst>
          </p:cNvPr>
          <p:cNvSpPr txBox="1"/>
          <p:nvPr/>
        </p:nvSpPr>
        <p:spPr>
          <a:xfrm>
            <a:off x="3727996" y="5238949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FADC098-EFB4-36D8-54C0-CB41A34DA7D6}"/>
              </a:ext>
            </a:extLst>
          </p:cNvPr>
          <p:cNvSpPr txBox="1"/>
          <p:nvPr/>
        </p:nvSpPr>
        <p:spPr>
          <a:xfrm>
            <a:off x="1839445" y="4077617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0" name="Fluxograma: Decisão 29">
            <a:extLst>
              <a:ext uri="{FF2B5EF4-FFF2-40B4-BE49-F238E27FC236}">
                <a16:creationId xmlns:a16="http://schemas.microsoft.com/office/drawing/2014/main" id="{BC12B3C5-1F1F-6658-C8DC-635B7E83345A}"/>
              </a:ext>
            </a:extLst>
          </p:cNvPr>
          <p:cNvSpPr/>
          <p:nvPr/>
        </p:nvSpPr>
        <p:spPr>
          <a:xfrm>
            <a:off x="8092740" y="4635886"/>
            <a:ext cx="1203694" cy="50265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88C34BE-8A90-3FE3-504A-A96D63E242CC}"/>
              </a:ext>
            </a:extLst>
          </p:cNvPr>
          <p:cNvSpPr txBox="1"/>
          <p:nvPr/>
        </p:nvSpPr>
        <p:spPr>
          <a:xfrm>
            <a:off x="8322461" y="4718740"/>
            <a:ext cx="1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3E1BBBA1-7DB4-F157-E96F-99FB34471275}"/>
              </a:ext>
            </a:extLst>
          </p:cNvPr>
          <p:cNvCxnSpPr>
            <a:stCxn id="30" idx="0"/>
          </p:cNvCxnSpPr>
          <p:nvPr/>
        </p:nvCxnSpPr>
        <p:spPr>
          <a:xfrm flipV="1">
            <a:off x="8694587" y="4275692"/>
            <a:ext cx="0" cy="36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97D74FB4-F8A9-6783-57BA-FDC4A2EA8959}"/>
              </a:ext>
            </a:extLst>
          </p:cNvPr>
          <p:cNvCxnSpPr>
            <a:stCxn id="30" idx="2"/>
            <a:endCxn id="29" idx="0"/>
          </p:cNvCxnSpPr>
          <p:nvPr/>
        </p:nvCxnSpPr>
        <p:spPr>
          <a:xfrm>
            <a:off x="8694587" y="5138539"/>
            <a:ext cx="29784" cy="394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89D342E-7AF0-CEF0-A1F2-438A10AA2167}"/>
              </a:ext>
            </a:extLst>
          </p:cNvPr>
          <p:cNvSpPr txBox="1"/>
          <p:nvPr/>
        </p:nvSpPr>
        <p:spPr>
          <a:xfrm>
            <a:off x="8709479" y="5221393"/>
            <a:ext cx="26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C3B5248-51F9-662B-B69F-127BE5D0EB77}"/>
              </a:ext>
            </a:extLst>
          </p:cNvPr>
          <p:cNvSpPr txBox="1"/>
          <p:nvPr/>
        </p:nvSpPr>
        <p:spPr>
          <a:xfrm>
            <a:off x="8663003" y="4288026"/>
            <a:ext cx="26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0A032F7-20DE-46F0-5E40-1AFD4AF54518}"/>
              </a:ext>
            </a:extLst>
          </p:cNvPr>
          <p:cNvCxnSpPr>
            <a:cxnSpLocks/>
          </p:cNvCxnSpPr>
          <p:nvPr/>
        </p:nvCxnSpPr>
        <p:spPr>
          <a:xfrm flipH="1">
            <a:off x="9526155" y="5821547"/>
            <a:ext cx="342667" cy="48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D67A6304-12EC-AEF7-F3D4-AF63920769ED}"/>
              </a:ext>
            </a:extLst>
          </p:cNvPr>
          <p:cNvSpPr/>
          <p:nvPr/>
        </p:nvSpPr>
        <p:spPr>
          <a:xfrm>
            <a:off x="9783308" y="571581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23591D8-CD2B-E52E-5D53-4E149B1F4BF5}"/>
              </a:ext>
            </a:extLst>
          </p:cNvPr>
          <p:cNvSpPr txBox="1"/>
          <p:nvPr/>
        </p:nvSpPr>
        <p:spPr>
          <a:xfrm>
            <a:off x="9943328" y="5608281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D50961-57D5-AD40-E872-4DEDDE32EF61}"/>
              </a:ext>
            </a:extLst>
          </p:cNvPr>
          <p:cNvSpPr txBox="1"/>
          <p:nvPr/>
        </p:nvSpPr>
        <p:spPr>
          <a:xfrm>
            <a:off x="851656" y="39432"/>
            <a:ext cx="6281525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Distribuidor(</a:t>
            </a:r>
            <a:r>
              <a:rPr lang="pt-BR" sz="2000" u="sng" dirty="0" err="1"/>
              <a:t>cnpj</a:t>
            </a:r>
            <a:r>
              <a:rPr lang="pt-BR" sz="2000" dirty="0"/>
              <a:t>, </a:t>
            </a:r>
            <a:r>
              <a:rPr lang="pt-BR" sz="2000" dirty="0" err="1"/>
              <a:t>rs</a:t>
            </a:r>
            <a:r>
              <a:rPr lang="pt-BR" sz="2000" dirty="0"/>
              <a:t>, </a:t>
            </a:r>
            <a:r>
              <a:rPr lang="pt-BR" sz="2000" dirty="0" err="1"/>
              <a:t>tel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Cidade(</a:t>
            </a:r>
            <a:r>
              <a:rPr lang="pt-BR" sz="2000" u="sng" dirty="0" err="1"/>
              <a:t>cod_cidade</a:t>
            </a:r>
            <a:r>
              <a:rPr lang="pt-BR" sz="2000" dirty="0"/>
              <a:t>, </a:t>
            </a:r>
            <a:r>
              <a:rPr lang="pt-BR" sz="2000" dirty="0" err="1"/>
              <a:t>ibge</a:t>
            </a:r>
            <a:r>
              <a:rPr lang="pt-BR" sz="2000" dirty="0"/>
              <a:t>, uf, nome)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Produto(</a:t>
            </a:r>
            <a:r>
              <a:rPr lang="pt-BR" sz="2000" u="sng" dirty="0" err="1"/>
              <a:t>cod_prod</a:t>
            </a:r>
            <a:r>
              <a:rPr lang="pt-BR" sz="2000" dirty="0"/>
              <a:t>, </a:t>
            </a:r>
            <a:r>
              <a:rPr lang="pt-BR" sz="2000" dirty="0" err="1"/>
              <a:t>desc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 err="1"/>
              <a:t>Funcionario</a:t>
            </a:r>
            <a:r>
              <a:rPr lang="pt-BR" sz="2000" dirty="0"/>
              <a:t>(</a:t>
            </a:r>
            <a:r>
              <a:rPr lang="pt-BR" sz="2000" u="sng" dirty="0" err="1"/>
              <a:t>cpf</a:t>
            </a:r>
            <a:r>
              <a:rPr lang="pt-BR" sz="2000" dirty="0"/>
              <a:t>, </a:t>
            </a:r>
            <a:r>
              <a:rPr lang="pt-BR" sz="2000" dirty="0" err="1"/>
              <a:t>nome_func</a:t>
            </a:r>
            <a:r>
              <a:rPr lang="pt-BR" sz="2000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F7149C9-26E6-E29F-81F1-60124DA12BCA}"/>
              </a:ext>
            </a:extLst>
          </p:cNvPr>
          <p:cNvSpPr txBox="1"/>
          <p:nvPr/>
        </p:nvSpPr>
        <p:spPr>
          <a:xfrm>
            <a:off x="5974469" y="756696"/>
            <a:ext cx="4485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highlight>
                  <a:srgbClr val="FFFF00"/>
                </a:highlight>
              </a:rPr>
              <a:t>MODELANDO AS ENTIDADES FORTES</a:t>
            </a:r>
          </a:p>
        </p:txBody>
      </p:sp>
      <p:sp>
        <p:nvSpPr>
          <p:cNvPr id="5" name="Fluxograma: Decisão 4">
            <a:extLst>
              <a:ext uri="{FF2B5EF4-FFF2-40B4-BE49-F238E27FC236}">
                <a16:creationId xmlns:a16="http://schemas.microsoft.com/office/drawing/2014/main" id="{7FDD14C6-2DDF-853B-5573-E0109D111903}"/>
              </a:ext>
            </a:extLst>
          </p:cNvPr>
          <p:cNvSpPr/>
          <p:nvPr/>
        </p:nvSpPr>
        <p:spPr>
          <a:xfrm>
            <a:off x="9908134" y="3805749"/>
            <a:ext cx="1203694" cy="50265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2F084DB-BD6B-A4AF-F138-CB3A98348480}"/>
              </a:ext>
            </a:extLst>
          </p:cNvPr>
          <p:cNvSpPr txBox="1"/>
          <p:nvPr/>
        </p:nvSpPr>
        <p:spPr>
          <a:xfrm>
            <a:off x="10070777" y="3868266"/>
            <a:ext cx="1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gerencia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C7EC1BB0-4E55-C479-18C9-0E4B99435EA0}"/>
              </a:ext>
            </a:extLst>
          </p:cNvPr>
          <p:cNvCxnSpPr>
            <a:endCxn id="5" idx="0"/>
          </p:cNvCxnSpPr>
          <p:nvPr/>
        </p:nvCxnSpPr>
        <p:spPr>
          <a:xfrm flipV="1">
            <a:off x="9543302" y="3805749"/>
            <a:ext cx="966679" cy="267520"/>
          </a:xfrm>
          <a:prstGeom prst="bentConnector4">
            <a:avLst>
              <a:gd name="adj1" fmla="val 18870"/>
              <a:gd name="adj2" fmla="val 18545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67765853-1FCD-0FA1-5F4E-0B5FB56825DC}"/>
              </a:ext>
            </a:extLst>
          </p:cNvPr>
          <p:cNvCxnSpPr>
            <a:stCxn id="5" idx="2"/>
          </p:cNvCxnSpPr>
          <p:nvPr/>
        </p:nvCxnSpPr>
        <p:spPr>
          <a:xfrm rot="5400000" flipH="1">
            <a:off x="9955837" y="3754259"/>
            <a:ext cx="141609" cy="966679"/>
          </a:xfrm>
          <a:prstGeom prst="bentConnector4">
            <a:avLst>
              <a:gd name="adj1" fmla="val -161430"/>
              <a:gd name="adj2" fmla="val 811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6E9CB40B-A71B-5635-0B0F-D1EC22FA8FBE}"/>
              </a:ext>
            </a:extLst>
          </p:cNvPr>
          <p:cNvSpPr txBox="1"/>
          <p:nvPr/>
        </p:nvSpPr>
        <p:spPr>
          <a:xfrm>
            <a:off x="9490147" y="3697941"/>
            <a:ext cx="1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2C8E9DAC-85FE-8F35-5FB0-51C5AB3A1669}"/>
              </a:ext>
            </a:extLst>
          </p:cNvPr>
          <p:cNvSpPr txBox="1"/>
          <p:nvPr/>
        </p:nvSpPr>
        <p:spPr>
          <a:xfrm>
            <a:off x="9512457" y="4134209"/>
            <a:ext cx="1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589454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B3578E51-1A4D-5025-FB3A-FC5F383CBDCF}"/>
              </a:ext>
            </a:extLst>
          </p:cNvPr>
          <p:cNvSpPr/>
          <p:nvPr/>
        </p:nvSpPr>
        <p:spPr>
          <a:xfrm>
            <a:off x="7935819" y="5532584"/>
            <a:ext cx="1577104" cy="553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13F2105A-A7A9-A478-8377-76E85D35DBED}"/>
              </a:ext>
            </a:extLst>
          </p:cNvPr>
          <p:cNvSpPr txBox="1"/>
          <p:nvPr/>
        </p:nvSpPr>
        <p:spPr>
          <a:xfrm>
            <a:off x="8015007" y="5608281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highlight>
                  <a:srgbClr val="FFFF00"/>
                </a:highlight>
              </a:rPr>
              <a:t>Dependente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389068" y="3734596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Distribuidor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334112" y="361033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cnpj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170420" y="3845953"/>
            <a:ext cx="218648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010400" y="376882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52760" y="3906360"/>
            <a:ext cx="395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rs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165121" y="3919262"/>
            <a:ext cx="223947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005101" y="399613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165121" y="3919262"/>
            <a:ext cx="223947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005101" y="426228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07557" y="416679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4564840" y="2989962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023824" y="3512353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4943814" y="335808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53233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53233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47BC6FF9-CC32-9C0B-FCEF-7F24D3B326AC}"/>
              </a:ext>
            </a:extLst>
          </p:cNvPr>
          <p:cNvCxnSpPr>
            <a:cxnSpLocks/>
            <a:stCxn id="36" idx="4"/>
          </p:cNvCxnSpPr>
          <p:nvPr/>
        </p:nvCxnSpPr>
        <p:spPr>
          <a:xfrm flipH="1">
            <a:off x="57616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46573B12-E5A1-2274-65DE-2A9076A4C175}"/>
              </a:ext>
            </a:extLst>
          </p:cNvPr>
          <p:cNvSpPr/>
          <p:nvPr/>
        </p:nvSpPr>
        <p:spPr>
          <a:xfrm>
            <a:off x="57616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DEDA4AEA-D254-6343-199F-953542102D6E}"/>
              </a:ext>
            </a:extLst>
          </p:cNvPr>
          <p:cNvCxnSpPr>
            <a:cxnSpLocks/>
            <a:stCxn id="38" idx="4"/>
          </p:cNvCxnSpPr>
          <p:nvPr/>
        </p:nvCxnSpPr>
        <p:spPr>
          <a:xfrm flipH="1">
            <a:off x="6234840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EED0AC0E-773C-9B9E-BAA1-9272BC1D3ACE}"/>
              </a:ext>
            </a:extLst>
          </p:cNvPr>
          <p:cNvSpPr/>
          <p:nvPr/>
        </p:nvSpPr>
        <p:spPr>
          <a:xfrm>
            <a:off x="6234840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096342" y="298875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ibge</a:t>
            </a:r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0361731-0A52-34D0-9D88-6BA60D0BDCAB}"/>
              </a:ext>
            </a:extLst>
          </p:cNvPr>
          <p:cNvSpPr txBox="1"/>
          <p:nvPr/>
        </p:nvSpPr>
        <p:spPr>
          <a:xfrm>
            <a:off x="5685101" y="2995258"/>
            <a:ext cx="39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uf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749BCBC-A6EE-91C3-86EB-CEF35AE5AC79}"/>
              </a:ext>
            </a:extLst>
          </p:cNvPr>
          <p:cNvSpPr txBox="1"/>
          <p:nvPr/>
        </p:nvSpPr>
        <p:spPr>
          <a:xfrm>
            <a:off x="6028762" y="300052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211EF3E-4C00-19C7-D9D7-41F4261944F0}"/>
              </a:ext>
            </a:extLst>
          </p:cNvPr>
          <p:cNvSpPr txBox="1"/>
          <p:nvPr/>
        </p:nvSpPr>
        <p:spPr>
          <a:xfrm>
            <a:off x="3403140" y="625009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250754F1-2A5A-808A-0AF1-AB86F9B2EEDC}"/>
              </a:ext>
            </a:extLst>
          </p:cNvPr>
          <p:cNvCxnSpPr>
            <a:cxnSpLocks/>
          </p:cNvCxnSpPr>
          <p:nvPr/>
        </p:nvCxnSpPr>
        <p:spPr>
          <a:xfrm>
            <a:off x="3790150" y="5923627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890A2DC6-6DE0-6708-A7EF-253B4F7F909A}"/>
              </a:ext>
            </a:extLst>
          </p:cNvPr>
          <p:cNvSpPr/>
          <p:nvPr/>
        </p:nvSpPr>
        <p:spPr>
          <a:xfrm>
            <a:off x="3704901" y="60815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BAEF324F-7937-86BC-9D70-99C168643050}"/>
              </a:ext>
            </a:extLst>
          </p:cNvPr>
          <p:cNvCxnSpPr>
            <a:cxnSpLocks/>
          </p:cNvCxnSpPr>
          <p:nvPr/>
        </p:nvCxnSpPr>
        <p:spPr>
          <a:xfrm flipH="1">
            <a:off x="4338100" y="5880761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1685154D-839B-7558-6300-ED8251F54898}"/>
              </a:ext>
            </a:extLst>
          </p:cNvPr>
          <p:cNvSpPr/>
          <p:nvPr/>
        </p:nvSpPr>
        <p:spPr>
          <a:xfrm>
            <a:off x="4249791" y="607941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FE37B9C-A5B1-3DAB-C1C4-4D56123D99EA}"/>
              </a:ext>
            </a:extLst>
          </p:cNvPr>
          <p:cNvSpPr txBox="1"/>
          <p:nvPr/>
        </p:nvSpPr>
        <p:spPr>
          <a:xfrm>
            <a:off x="4138895" y="6274806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desc</a:t>
            </a:r>
            <a:endParaRPr lang="pt-BR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4831416" y="3747840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Cidade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CED985-108C-AEE1-CF53-4D7DC3391EE4}"/>
              </a:ext>
            </a:extLst>
          </p:cNvPr>
          <p:cNvSpPr txBox="1"/>
          <p:nvPr/>
        </p:nvSpPr>
        <p:spPr>
          <a:xfrm>
            <a:off x="3367107" y="5554295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B54D5C2-C698-1CA3-FDBC-65CFD32EF38F}"/>
              </a:ext>
            </a:extLst>
          </p:cNvPr>
          <p:cNvSpPr txBox="1"/>
          <p:nvPr/>
        </p:nvSpPr>
        <p:spPr>
          <a:xfrm>
            <a:off x="8033527" y="31146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cpf</a:t>
            </a:r>
            <a:endParaRPr lang="pt-BR" dirty="0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A0CDABE5-E0BC-395D-5737-E46FA590E54C}"/>
              </a:ext>
            </a:extLst>
          </p:cNvPr>
          <p:cNvCxnSpPr>
            <a:cxnSpLocks/>
            <a:stCxn id="59" idx="4"/>
          </p:cNvCxnSpPr>
          <p:nvPr/>
        </p:nvCxnSpPr>
        <p:spPr>
          <a:xfrm>
            <a:off x="8492511" y="3637001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FDF835C4-9FD3-80C1-54D7-195A650864D5}"/>
              </a:ext>
            </a:extLst>
          </p:cNvPr>
          <p:cNvSpPr/>
          <p:nvPr/>
        </p:nvSpPr>
        <p:spPr>
          <a:xfrm>
            <a:off x="8412501" y="348273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A05DC016-B8FA-4777-0376-EB34E8169427}"/>
              </a:ext>
            </a:extLst>
          </p:cNvPr>
          <p:cNvCxnSpPr>
            <a:cxnSpLocks/>
            <a:stCxn id="61" idx="4"/>
          </p:cNvCxnSpPr>
          <p:nvPr/>
        </p:nvCxnSpPr>
        <p:spPr>
          <a:xfrm flipH="1">
            <a:off x="8996272" y="3624353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DAB03FA0-B35B-E277-FCED-B5E9B2F64037}"/>
              </a:ext>
            </a:extLst>
          </p:cNvPr>
          <p:cNvSpPr/>
          <p:nvPr/>
        </p:nvSpPr>
        <p:spPr>
          <a:xfrm>
            <a:off x="8996272" y="347008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6EBAAFD-AAEA-7432-A403-F038CD59E634}"/>
              </a:ext>
            </a:extLst>
          </p:cNvPr>
          <p:cNvSpPr txBox="1"/>
          <p:nvPr/>
        </p:nvSpPr>
        <p:spPr>
          <a:xfrm>
            <a:off x="8769282" y="313932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B60FBF3C-6AED-6C36-8260-BB607F7592FB}"/>
              </a:ext>
            </a:extLst>
          </p:cNvPr>
          <p:cNvSpPr txBox="1"/>
          <p:nvPr/>
        </p:nvSpPr>
        <p:spPr>
          <a:xfrm>
            <a:off x="8078993" y="3888603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Funcionario</a:t>
            </a:r>
            <a:endParaRPr lang="pt-BR" dirty="0"/>
          </a:p>
        </p:txBody>
      </p:sp>
      <p:sp>
        <p:nvSpPr>
          <p:cNvPr id="2" name="Fluxograma: Decisão 1">
            <a:extLst>
              <a:ext uri="{FF2B5EF4-FFF2-40B4-BE49-F238E27FC236}">
                <a16:creationId xmlns:a16="http://schemas.microsoft.com/office/drawing/2014/main" id="{F0AF299F-D2D3-A190-7A36-7C369E022F22}"/>
              </a:ext>
            </a:extLst>
          </p:cNvPr>
          <p:cNvSpPr/>
          <p:nvPr/>
        </p:nvSpPr>
        <p:spPr>
          <a:xfrm>
            <a:off x="3260265" y="4387590"/>
            <a:ext cx="1464309" cy="700482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2287B035-BEA2-FA43-AF04-0FCA916B5DBD}"/>
              </a:ext>
            </a:extLst>
          </p:cNvPr>
          <p:cNvCxnSpPr>
            <a:stCxn id="6" idx="2"/>
            <a:endCxn id="2" idx="1"/>
          </p:cNvCxnSpPr>
          <p:nvPr/>
        </p:nvCxnSpPr>
        <p:spPr>
          <a:xfrm rot="16200000" flipH="1">
            <a:off x="2373793" y="3851358"/>
            <a:ext cx="633903" cy="11390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300E257B-96E4-3572-37E3-381DEBADC15B}"/>
              </a:ext>
            </a:extLst>
          </p:cNvPr>
          <p:cNvCxnSpPr>
            <a:stCxn id="55" idx="2"/>
            <a:endCxn id="2" idx="3"/>
          </p:cNvCxnSpPr>
          <p:nvPr/>
        </p:nvCxnSpPr>
        <p:spPr>
          <a:xfrm rot="5400000">
            <a:off x="4833744" y="4008003"/>
            <a:ext cx="620659" cy="8389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8A9E77B2-00B5-201A-8370-8ADF0D195FDF}"/>
              </a:ext>
            </a:extLst>
          </p:cNvPr>
          <p:cNvCxnSpPr>
            <a:stCxn id="2" idx="2"/>
            <a:endCxn id="56" idx="0"/>
          </p:cNvCxnSpPr>
          <p:nvPr/>
        </p:nvCxnSpPr>
        <p:spPr>
          <a:xfrm>
            <a:off x="3992420" y="5088072"/>
            <a:ext cx="106842" cy="466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68793D3-8EAB-3EA3-3EC0-F2E736E95709}"/>
              </a:ext>
            </a:extLst>
          </p:cNvPr>
          <p:cNvSpPr txBox="1"/>
          <p:nvPr/>
        </p:nvSpPr>
        <p:spPr>
          <a:xfrm>
            <a:off x="3379809" y="4543151"/>
            <a:ext cx="14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distribuição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BB69AC2-AEAB-142E-F3D6-A7588908CC65}"/>
              </a:ext>
            </a:extLst>
          </p:cNvPr>
          <p:cNvSpPr txBox="1"/>
          <p:nvPr/>
        </p:nvSpPr>
        <p:spPr>
          <a:xfrm>
            <a:off x="5563570" y="4113996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E3FAE18-7297-7CA1-B0D9-26955C195CFC}"/>
              </a:ext>
            </a:extLst>
          </p:cNvPr>
          <p:cNvSpPr txBox="1"/>
          <p:nvPr/>
        </p:nvSpPr>
        <p:spPr>
          <a:xfrm>
            <a:off x="3727996" y="5238949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FADC098-EFB4-36D8-54C0-CB41A34DA7D6}"/>
              </a:ext>
            </a:extLst>
          </p:cNvPr>
          <p:cNvSpPr txBox="1"/>
          <p:nvPr/>
        </p:nvSpPr>
        <p:spPr>
          <a:xfrm>
            <a:off x="1839445" y="4077617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0" name="Fluxograma: Decisão 29">
            <a:extLst>
              <a:ext uri="{FF2B5EF4-FFF2-40B4-BE49-F238E27FC236}">
                <a16:creationId xmlns:a16="http://schemas.microsoft.com/office/drawing/2014/main" id="{BC12B3C5-1F1F-6658-C8DC-635B7E83345A}"/>
              </a:ext>
            </a:extLst>
          </p:cNvPr>
          <p:cNvSpPr/>
          <p:nvPr/>
        </p:nvSpPr>
        <p:spPr>
          <a:xfrm>
            <a:off x="8092740" y="4635886"/>
            <a:ext cx="1203694" cy="50265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88C34BE-8A90-3FE3-504A-A96D63E242CC}"/>
              </a:ext>
            </a:extLst>
          </p:cNvPr>
          <p:cNvSpPr txBox="1"/>
          <p:nvPr/>
        </p:nvSpPr>
        <p:spPr>
          <a:xfrm>
            <a:off x="8322461" y="4718740"/>
            <a:ext cx="1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possui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3E1BBBA1-7DB4-F157-E96F-99FB34471275}"/>
              </a:ext>
            </a:extLst>
          </p:cNvPr>
          <p:cNvCxnSpPr>
            <a:stCxn id="30" idx="0"/>
          </p:cNvCxnSpPr>
          <p:nvPr/>
        </p:nvCxnSpPr>
        <p:spPr>
          <a:xfrm flipV="1">
            <a:off x="8694587" y="4275692"/>
            <a:ext cx="0" cy="36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97D74FB4-F8A9-6783-57BA-FDC4A2EA8959}"/>
              </a:ext>
            </a:extLst>
          </p:cNvPr>
          <p:cNvCxnSpPr>
            <a:stCxn id="30" idx="2"/>
            <a:endCxn id="29" idx="0"/>
          </p:cNvCxnSpPr>
          <p:nvPr/>
        </p:nvCxnSpPr>
        <p:spPr>
          <a:xfrm>
            <a:off x="8694587" y="5138539"/>
            <a:ext cx="29784" cy="394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89D342E-7AF0-CEF0-A1F2-438A10AA2167}"/>
              </a:ext>
            </a:extLst>
          </p:cNvPr>
          <p:cNvSpPr txBox="1"/>
          <p:nvPr/>
        </p:nvSpPr>
        <p:spPr>
          <a:xfrm>
            <a:off x="8709479" y="5221393"/>
            <a:ext cx="26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C3B5248-51F9-662B-B69F-127BE5D0EB77}"/>
              </a:ext>
            </a:extLst>
          </p:cNvPr>
          <p:cNvSpPr txBox="1"/>
          <p:nvPr/>
        </p:nvSpPr>
        <p:spPr>
          <a:xfrm>
            <a:off x="8663003" y="4288026"/>
            <a:ext cx="26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0A032F7-20DE-46F0-5E40-1AFD4AF54518}"/>
              </a:ext>
            </a:extLst>
          </p:cNvPr>
          <p:cNvCxnSpPr>
            <a:cxnSpLocks/>
          </p:cNvCxnSpPr>
          <p:nvPr/>
        </p:nvCxnSpPr>
        <p:spPr>
          <a:xfrm flipH="1">
            <a:off x="9526155" y="5821547"/>
            <a:ext cx="342667" cy="48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D67A6304-12EC-AEF7-F3D4-AF63920769ED}"/>
              </a:ext>
            </a:extLst>
          </p:cNvPr>
          <p:cNvSpPr/>
          <p:nvPr/>
        </p:nvSpPr>
        <p:spPr>
          <a:xfrm>
            <a:off x="9783308" y="571581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23591D8-CD2B-E52E-5D53-4E149B1F4BF5}"/>
              </a:ext>
            </a:extLst>
          </p:cNvPr>
          <p:cNvSpPr txBox="1"/>
          <p:nvPr/>
        </p:nvSpPr>
        <p:spPr>
          <a:xfrm>
            <a:off x="9943328" y="5608281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D50961-57D5-AD40-E872-4DEDDE32EF61}"/>
              </a:ext>
            </a:extLst>
          </p:cNvPr>
          <p:cNvSpPr txBox="1"/>
          <p:nvPr/>
        </p:nvSpPr>
        <p:spPr>
          <a:xfrm>
            <a:off x="851656" y="39432"/>
            <a:ext cx="6281525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Distribuidor(</a:t>
            </a:r>
            <a:r>
              <a:rPr lang="pt-BR" sz="2000" u="sng" dirty="0" err="1"/>
              <a:t>cnpj</a:t>
            </a:r>
            <a:r>
              <a:rPr lang="pt-BR" sz="2000" dirty="0"/>
              <a:t>, </a:t>
            </a:r>
            <a:r>
              <a:rPr lang="pt-BR" sz="2000" dirty="0" err="1"/>
              <a:t>rs</a:t>
            </a:r>
            <a:r>
              <a:rPr lang="pt-BR" sz="2000" dirty="0"/>
              <a:t>, </a:t>
            </a:r>
            <a:r>
              <a:rPr lang="pt-BR" sz="2000" dirty="0" err="1"/>
              <a:t>tel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Cidade(</a:t>
            </a:r>
            <a:r>
              <a:rPr lang="pt-BR" sz="2000" u="sng" dirty="0" err="1"/>
              <a:t>cod_cidade</a:t>
            </a:r>
            <a:r>
              <a:rPr lang="pt-BR" sz="2000" dirty="0"/>
              <a:t>, </a:t>
            </a:r>
            <a:r>
              <a:rPr lang="pt-BR" sz="2000" dirty="0" err="1"/>
              <a:t>ibge</a:t>
            </a:r>
            <a:r>
              <a:rPr lang="pt-BR" sz="2000" dirty="0"/>
              <a:t>, uf, nome)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Produto(</a:t>
            </a:r>
            <a:r>
              <a:rPr lang="pt-BR" sz="2000" u="sng" dirty="0" err="1"/>
              <a:t>cod_prod</a:t>
            </a:r>
            <a:r>
              <a:rPr lang="pt-BR" sz="2000" dirty="0"/>
              <a:t>, </a:t>
            </a:r>
            <a:r>
              <a:rPr lang="pt-BR" sz="2000" dirty="0" err="1"/>
              <a:t>desc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 err="1"/>
              <a:t>Funcionario</a:t>
            </a:r>
            <a:r>
              <a:rPr lang="pt-BR" sz="2000" dirty="0"/>
              <a:t>(</a:t>
            </a:r>
            <a:r>
              <a:rPr lang="pt-BR" sz="2000" u="sng" dirty="0" err="1"/>
              <a:t>cpf</a:t>
            </a:r>
            <a:r>
              <a:rPr lang="pt-BR" sz="2000" dirty="0"/>
              <a:t>, </a:t>
            </a:r>
            <a:r>
              <a:rPr lang="pt-BR" sz="2000" dirty="0" err="1"/>
              <a:t>nome_func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Dependente(</a:t>
            </a:r>
            <a:r>
              <a:rPr lang="pt-BR" sz="2000" u="sng" dirty="0" err="1"/>
              <a:t>cpf</a:t>
            </a:r>
            <a:r>
              <a:rPr lang="pt-BR" sz="2000" dirty="0"/>
              <a:t>, </a:t>
            </a:r>
            <a:r>
              <a:rPr lang="pt-BR" sz="2000" dirty="0" err="1"/>
              <a:t>nome_dep</a:t>
            </a:r>
            <a:r>
              <a:rPr lang="pt-BR" sz="2000" dirty="0"/>
              <a:t>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A03C545-7D48-DD84-FB6D-CA6127E74602}"/>
              </a:ext>
            </a:extLst>
          </p:cNvPr>
          <p:cNvSpPr txBox="1"/>
          <p:nvPr/>
        </p:nvSpPr>
        <p:spPr>
          <a:xfrm>
            <a:off x="5974469" y="756696"/>
            <a:ext cx="4485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highlight>
                  <a:srgbClr val="FFFF00"/>
                </a:highlight>
              </a:rPr>
              <a:t>MODELANDO AS ENTIDADES FRACAS</a:t>
            </a:r>
          </a:p>
        </p:txBody>
      </p:sp>
      <p:sp>
        <p:nvSpPr>
          <p:cNvPr id="7" name="Fluxograma: Decisão 6">
            <a:extLst>
              <a:ext uri="{FF2B5EF4-FFF2-40B4-BE49-F238E27FC236}">
                <a16:creationId xmlns:a16="http://schemas.microsoft.com/office/drawing/2014/main" id="{AC7D300D-A158-A328-7D0C-F1D32FEACBB0}"/>
              </a:ext>
            </a:extLst>
          </p:cNvPr>
          <p:cNvSpPr/>
          <p:nvPr/>
        </p:nvSpPr>
        <p:spPr>
          <a:xfrm>
            <a:off x="9908134" y="3805749"/>
            <a:ext cx="1203694" cy="50265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FC3F0C1-5503-4DA1-76BA-5ECA1CD6AA51}"/>
              </a:ext>
            </a:extLst>
          </p:cNvPr>
          <p:cNvSpPr txBox="1"/>
          <p:nvPr/>
        </p:nvSpPr>
        <p:spPr>
          <a:xfrm>
            <a:off x="10070777" y="3868266"/>
            <a:ext cx="1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gerencia</a:t>
            </a:r>
          </a:p>
        </p:txBody>
      </p:sp>
      <p:cxnSp>
        <p:nvCxnSpPr>
          <p:cNvPr id="32" name="Conector: Angulado 31">
            <a:extLst>
              <a:ext uri="{FF2B5EF4-FFF2-40B4-BE49-F238E27FC236}">
                <a16:creationId xmlns:a16="http://schemas.microsoft.com/office/drawing/2014/main" id="{5BA420D4-12C3-CB0E-59FE-1B3D99E37729}"/>
              </a:ext>
            </a:extLst>
          </p:cNvPr>
          <p:cNvCxnSpPr>
            <a:endCxn id="7" idx="0"/>
          </p:cNvCxnSpPr>
          <p:nvPr/>
        </p:nvCxnSpPr>
        <p:spPr>
          <a:xfrm flipV="1">
            <a:off x="9543302" y="3805749"/>
            <a:ext cx="966679" cy="267520"/>
          </a:xfrm>
          <a:prstGeom prst="bentConnector4">
            <a:avLst>
              <a:gd name="adj1" fmla="val 18870"/>
              <a:gd name="adj2" fmla="val 18545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: Angulado 33">
            <a:extLst>
              <a:ext uri="{FF2B5EF4-FFF2-40B4-BE49-F238E27FC236}">
                <a16:creationId xmlns:a16="http://schemas.microsoft.com/office/drawing/2014/main" id="{D95293D5-001B-6B81-B1BE-8C6511BA51EB}"/>
              </a:ext>
            </a:extLst>
          </p:cNvPr>
          <p:cNvCxnSpPr>
            <a:stCxn id="7" idx="2"/>
          </p:cNvCxnSpPr>
          <p:nvPr/>
        </p:nvCxnSpPr>
        <p:spPr>
          <a:xfrm rot="5400000" flipH="1">
            <a:off x="9955837" y="3754259"/>
            <a:ext cx="141609" cy="966679"/>
          </a:xfrm>
          <a:prstGeom prst="bentConnector4">
            <a:avLst>
              <a:gd name="adj1" fmla="val -161430"/>
              <a:gd name="adj2" fmla="val 811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01DAE27E-1ED4-EB91-C6C2-6B8F22F23A74}"/>
              </a:ext>
            </a:extLst>
          </p:cNvPr>
          <p:cNvSpPr txBox="1"/>
          <p:nvPr/>
        </p:nvSpPr>
        <p:spPr>
          <a:xfrm>
            <a:off x="9490147" y="3697941"/>
            <a:ext cx="1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4" name="CaixaDeTexto 63">
            <a:extLst>
              <a:ext uri="{FF2B5EF4-FFF2-40B4-BE49-F238E27FC236}">
                <a16:creationId xmlns:a16="http://schemas.microsoft.com/office/drawing/2014/main" id="{3C1B3B19-ED97-649A-912C-E84EF54D9B1F}"/>
              </a:ext>
            </a:extLst>
          </p:cNvPr>
          <p:cNvSpPr txBox="1"/>
          <p:nvPr/>
        </p:nvSpPr>
        <p:spPr>
          <a:xfrm>
            <a:off x="9512457" y="4134209"/>
            <a:ext cx="1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2102846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tângulo 28">
            <a:extLst>
              <a:ext uri="{FF2B5EF4-FFF2-40B4-BE49-F238E27FC236}">
                <a16:creationId xmlns:a16="http://schemas.microsoft.com/office/drawing/2014/main" id="{B3578E51-1A4D-5025-FB3A-FC5F383CBDCF}"/>
              </a:ext>
            </a:extLst>
          </p:cNvPr>
          <p:cNvSpPr/>
          <p:nvPr/>
        </p:nvSpPr>
        <p:spPr>
          <a:xfrm>
            <a:off x="7935819" y="5532584"/>
            <a:ext cx="1577104" cy="55367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13F2105A-A7A9-A478-8377-76E85D35DBED}"/>
              </a:ext>
            </a:extLst>
          </p:cNvPr>
          <p:cNvSpPr txBox="1"/>
          <p:nvPr/>
        </p:nvSpPr>
        <p:spPr>
          <a:xfrm>
            <a:off x="8015007" y="5608281"/>
            <a:ext cx="138966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Dependente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0124E7C-5201-DB50-19DA-6B9DCAF2CAC2}"/>
              </a:ext>
            </a:extLst>
          </p:cNvPr>
          <p:cNvSpPr txBox="1"/>
          <p:nvPr/>
        </p:nvSpPr>
        <p:spPr>
          <a:xfrm>
            <a:off x="1389068" y="3734596"/>
            <a:ext cx="146430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Distribuidor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92FEEB2E-E305-0B34-A510-3BCB82284294}"/>
              </a:ext>
            </a:extLst>
          </p:cNvPr>
          <p:cNvSpPr txBox="1"/>
          <p:nvPr/>
        </p:nvSpPr>
        <p:spPr>
          <a:xfrm>
            <a:off x="334112" y="361033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cnpj</a:t>
            </a:r>
            <a:endParaRPr lang="pt-BR" dirty="0"/>
          </a:p>
        </p:txBody>
      </p:sp>
      <p:cxnSp>
        <p:nvCxnSpPr>
          <p:cNvPr id="9" name="Conector reto 8">
            <a:extLst>
              <a:ext uri="{FF2B5EF4-FFF2-40B4-BE49-F238E27FC236}">
                <a16:creationId xmlns:a16="http://schemas.microsoft.com/office/drawing/2014/main" id="{059A1BF3-61B6-FF6E-1651-5975F2BFEEB3}"/>
              </a:ext>
            </a:extLst>
          </p:cNvPr>
          <p:cNvCxnSpPr>
            <a:cxnSpLocks/>
            <a:stCxn id="10" idx="6"/>
            <a:endCxn id="6" idx="1"/>
          </p:cNvCxnSpPr>
          <p:nvPr/>
        </p:nvCxnSpPr>
        <p:spPr>
          <a:xfrm>
            <a:off x="1170420" y="3845953"/>
            <a:ext cx="218648" cy="733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371F90EF-AE46-6752-48E2-DB66205D3F7B}"/>
              </a:ext>
            </a:extLst>
          </p:cNvPr>
          <p:cNvSpPr/>
          <p:nvPr/>
        </p:nvSpPr>
        <p:spPr>
          <a:xfrm>
            <a:off x="1010400" y="3768821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43D6AD04-9E8E-2A17-D4A8-CA1260458E46}"/>
              </a:ext>
            </a:extLst>
          </p:cNvPr>
          <p:cNvSpPr txBox="1"/>
          <p:nvPr/>
        </p:nvSpPr>
        <p:spPr>
          <a:xfrm>
            <a:off x="552760" y="3906360"/>
            <a:ext cx="39535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rs</a:t>
            </a:r>
            <a:endParaRPr lang="pt-BR" dirty="0"/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50150952-98D4-26E5-65EA-53B05BA32A7E}"/>
              </a:ext>
            </a:extLst>
          </p:cNvPr>
          <p:cNvCxnSpPr>
            <a:cxnSpLocks/>
            <a:stCxn id="13" idx="6"/>
            <a:endCxn id="6" idx="1"/>
          </p:cNvCxnSpPr>
          <p:nvPr/>
        </p:nvCxnSpPr>
        <p:spPr>
          <a:xfrm flipV="1">
            <a:off x="1165121" y="3919262"/>
            <a:ext cx="223947" cy="1540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Elipse 12">
            <a:extLst>
              <a:ext uri="{FF2B5EF4-FFF2-40B4-BE49-F238E27FC236}">
                <a16:creationId xmlns:a16="http://schemas.microsoft.com/office/drawing/2014/main" id="{47C213DA-C7DD-5EC2-2762-56B654001BE5}"/>
              </a:ext>
            </a:extLst>
          </p:cNvPr>
          <p:cNvSpPr/>
          <p:nvPr/>
        </p:nvSpPr>
        <p:spPr>
          <a:xfrm>
            <a:off x="1005101" y="399613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43274DC4-1952-1E15-AD78-5D42B7119CFF}"/>
              </a:ext>
            </a:extLst>
          </p:cNvPr>
          <p:cNvCxnSpPr>
            <a:cxnSpLocks/>
            <a:stCxn id="15" idx="6"/>
            <a:endCxn id="6" idx="1"/>
          </p:cNvCxnSpPr>
          <p:nvPr/>
        </p:nvCxnSpPr>
        <p:spPr>
          <a:xfrm flipV="1">
            <a:off x="1165121" y="3919262"/>
            <a:ext cx="223947" cy="4201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82D3776A-7514-AE0A-758F-8FE9EBA79120}"/>
              </a:ext>
            </a:extLst>
          </p:cNvPr>
          <p:cNvSpPr/>
          <p:nvPr/>
        </p:nvSpPr>
        <p:spPr>
          <a:xfrm>
            <a:off x="1005101" y="426228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72336B9-72ED-6947-454E-5D8D1512DFB9}"/>
              </a:ext>
            </a:extLst>
          </p:cNvPr>
          <p:cNvSpPr txBox="1"/>
          <p:nvPr/>
        </p:nvSpPr>
        <p:spPr>
          <a:xfrm>
            <a:off x="507557" y="4166793"/>
            <a:ext cx="440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 err="1"/>
              <a:t>tel</a:t>
            </a:r>
            <a:endParaRPr lang="pt-BR" dirty="0"/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685E09C-370E-A2B0-F296-D3B6C1EC4DBD}"/>
              </a:ext>
            </a:extLst>
          </p:cNvPr>
          <p:cNvSpPr txBox="1"/>
          <p:nvPr/>
        </p:nvSpPr>
        <p:spPr>
          <a:xfrm>
            <a:off x="4564840" y="2989962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20" name="Conector reto 19">
            <a:extLst>
              <a:ext uri="{FF2B5EF4-FFF2-40B4-BE49-F238E27FC236}">
                <a16:creationId xmlns:a16="http://schemas.microsoft.com/office/drawing/2014/main" id="{45758967-4E98-A8B9-9AA3-F0CCF7CD4F20}"/>
              </a:ext>
            </a:extLst>
          </p:cNvPr>
          <p:cNvCxnSpPr>
            <a:cxnSpLocks/>
            <a:stCxn id="21" idx="4"/>
          </p:cNvCxnSpPr>
          <p:nvPr/>
        </p:nvCxnSpPr>
        <p:spPr>
          <a:xfrm>
            <a:off x="5023824" y="3512353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Elipse 20">
            <a:extLst>
              <a:ext uri="{FF2B5EF4-FFF2-40B4-BE49-F238E27FC236}">
                <a16:creationId xmlns:a16="http://schemas.microsoft.com/office/drawing/2014/main" id="{3871218F-842E-46CA-5589-30AE36AE8D55}"/>
              </a:ext>
            </a:extLst>
          </p:cNvPr>
          <p:cNvSpPr/>
          <p:nvPr/>
        </p:nvSpPr>
        <p:spPr>
          <a:xfrm>
            <a:off x="4943814" y="3358089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D53B8974-CA35-9F58-675E-B78F57CD9F8A}"/>
              </a:ext>
            </a:extLst>
          </p:cNvPr>
          <p:cNvCxnSpPr>
            <a:cxnSpLocks/>
            <a:stCxn id="24" idx="4"/>
          </p:cNvCxnSpPr>
          <p:nvPr/>
        </p:nvCxnSpPr>
        <p:spPr>
          <a:xfrm flipH="1">
            <a:off x="53233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Elipse 23">
            <a:extLst>
              <a:ext uri="{FF2B5EF4-FFF2-40B4-BE49-F238E27FC236}">
                <a16:creationId xmlns:a16="http://schemas.microsoft.com/office/drawing/2014/main" id="{4C90657D-3FB1-94AF-521E-4575B9D63726}"/>
              </a:ext>
            </a:extLst>
          </p:cNvPr>
          <p:cNvSpPr/>
          <p:nvPr/>
        </p:nvSpPr>
        <p:spPr>
          <a:xfrm>
            <a:off x="53233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47BC6FF9-CC32-9C0B-FCEF-7F24D3B326AC}"/>
              </a:ext>
            </a:extLst>
          </p:cNvPr>
          <p:cNvCxnSpPr>
            <a:cxnSpLocks/>
            <a:stCxn id="36" idx="4"/>
          </p:cNvCxnSpPr>
          <p:nvPr/>
        </p:nvCxnSpPr>
        <p:spPr>
          <a:xfrm flipH="1">
            <a:off x="5761632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Elipse 35">
            <a:extLst>
              <a:ext uri="{FF2B5EF4-FFF2-40B4-BE49-F238E27FC236}">
                <a16:creationId xmlns:a16="http://schemas.microsoft.com/office/drawing/2014/main" id="{46573B12-E5A1-2274-65DE-2A9076A4C175}"/>
              </a:ext>
            </a:extLst>
          </p:cNvPr>
          <p:cNvSpPr/>
          <p:nvPr/>
        </p:nvSpPr>
        <p:spPr>
          <a:xfrm>
            <a:off x="5761632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id="{DEDA4AEA-D254-6343-199F-953542102D6E}"/>
              </a:ext>
            </a:extLst>
          </p:cNvPr>
          <p:cNvCxnSpPr>
            <a:cxnSpLocks/>
            <a:stCxn id="38" idx="4"/>
          </p:cNvCxnSpPr>
          <p:nvPr/>
        </p:nvCxnSpPr>
        <p:spPr>
          <a:xfrm flipH="1">
            <a:off x="6234840" y="3473787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ipse 37">
            <a:extLst>
              <a:ext uri="{FF2B5EF4-FFF2-40B4-BE49-F238E27FC236}">
                <a16:creationId xmlns:a16="http://schemas.microsoft.com/office/drawing/2014/main" id="{EED0AC0E-773C-9B9E-BAA1-9272BC1D3ACE}"/>
              </a:ext>
            </a:extLst>
          </p:cNvPr>
          <p:cNvSpPr/>
          <p:nvPr/>
        </p:nvSpPr>
        <p:spPr>
          <a:xfrm>
            <a:off x="6234840" y="3319523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9" name="CaixaDeTexto 38">
            <a:extLst>
              <a:ext uri="{FF2B5EF4-FFF2-40B4-BE49-F238E27FC236}">
                <a16:creationId xmlns:a16="http://schemas.microsoft.com/office/drawing/2014/main" id="{E9ACA389-C65C-487C-79D2-CF399E70D5B2}"/>
              </a:ext>
            </a:extLst>
          </p:cNvPr>
          <p:cNvSpPr txBox="1"/>
          <p:nvPr/>
        </p:nvSpPr>
        <p:spPr>
          <a:xfrm>
            <a:off x="5096342" y="2988757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ibge</a:t>
            </a:r>
            <a:endParaRPr lang="pt-BR" dirty="0"/>
          </a:p>
        </p:txBody>
      </p:sp>
      <p:sp>
        <p:nvSpPr>
          <p:cNvPr id="40" name="CaixaDeTexto 39">
            <a:extLst>
              <a:ext uri="{FF2B5EF4-FFF2-40B4-BE49-F238E27FC236}">
                <a16:creationId xmlns:a16="http://schemas.microsoft.com/office/drawing/2014/main" id="{10361731-0A52-34D0-9D88-6BA60D0BDCAB}"/>
              </a:ext>
            </a:extLst>
          </p:cNvPr>
          <p:cNvSpPr txBox="1"/>
          <p:nvPr/>
        </p:nvSpPr>
        <p:spPr>
          <a:xfrm>
            <a:off x="5685101" y="2995258"/>
            <a:ext cx="3913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uf</a:t>
            </a:r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id="{D749BCBC-A6EE-91C3-86EB-CEF35AE5AC79}"/>
              </a:ext>
            </a:extLst>
          </p:cNvPr>
          <p:cNvSpPr txBox="1"/>
          <p:nvPr/>
        </p:nvSpPr>
        <p:spPr>
          <a:xfrm>
            <a:off x="6028762" y="300052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id="{9211EF3E-4C00-19C7-D9D7-41F4261944F0}"/>
              </a:ext>
            </a:extLst>
          </p:cNvPr>
          <p:cNvSpPr txBox="1"/>
          <p:nvPr/>
        </p:nvSpPr>
        <p:spPr>
          <a:xfrm>
            <a:off x="3403140" y="625009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cod</a:t>
            </a:r>
            <a:endParaRPr lang="pt-BR" dirty="0"/>
          </a:p>
        </p:txBody>
      </p:sp>
      <p:cxnSp>
        <p:nvCxnSpPr>
          <p:cNvPr id="44" name="Conector reto 43">
            <a:extLst>
              <a:ext uri="{FF2B5EF4-FFF2-40B4-BE49-F238E27FC236}">
                <a16:creationId xmlns:a16="http://schemas.microsoft.com/office/drawing/2014/main" id="{250754F1-2A5A-808A-0AF1-AB86F9B2EEDC}"/>
              </a:ext>
            </a:extLst>
          </p:cNvPr>
          <p:cNvCxnSpPr>
            <a:cxnSpLocks/>
          </p:cNvCxnSpPr>
          <p:nvPr/>
        </p:nvCxnSpPr>
        <p:spPr>
          <a:xfrm>
            <a:off x="3790150" y="5923627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Elipse 44">
            <a:extLst>
              <a:ext uri="{FF2B5EF4-FFF2-40B4-BE49-F238E27FC236}">
                <a16:creationId xmlns:a16="http://schemas.microsoft.com/office/drawing/2014/main" id="{890A2DC6-6DE0-6708-A7EF-253B4F7F909A}"/>
              </a:ext>
            </a:extLst>
          </p:cNvPr>
          <p:cNvSpPr/>
          <p:nvPr/>
        </p:nvSpPr>
        <p:spPr>
          <a:xfrm>
            <a:off x="3704901" y="608154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6" name="Conector reto 45">
            <a:extLst>
              <a:ext uri="{FF2B5EF4-FFF2-40B4-BE49-F238E27FC236}">
                <a16:creationId xmlns:a16="http://schemas.microsoft.com/office/drawing/2014/main" id="{BAEF324F-7937-86BC-9D70-99C168643050}"/>
              </a:ext>
            </a:extLst>
          </p:cNvPr>
          <p:cNvCxnSpPr>
            <a:cxnSpLocks/>
          </p:cNvCxnSpPr>
          <p:nvPr/>
        </p:nvCxnSpPr>
        <p:spPr>
          <a:xfrm flipH="1">
            <a:off x="4338100" y="5880761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Elipse 46">
            <a:extLst>
              <a:ext uri="{FF2B5EF4-FFF2-40B4-BE49-F238E27FC236}">
                <a16:creationId xmlns:a16="http://schemas.microsoft.com/office/drawing/2014/main" id="{1685154D-839B-7558-6300-ED8251F54898}"/>
              </a:ext>
            </a:extLst>
          </p:cNvPr>
          <p:cNvSpPr/>
          <p:nvPr/>
        </p:nvSpPr>
        <p:spPr>
          <a:xfrm>
            <a:off x="4249791" y="6079417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CaixaDeTexto 51">
            <a:extLst>
              <a:ext uri="{FF2B5EF4-FFF2-40B4-BE49-F238E27FC236}">
                <a16:creationId xmlns:a16="http://schemas.microsoft.com/office/drawing/2014/main" id="{9FE37B9C-A5B1-3DAB-C1C4-4D56123D99EA}"/>
              </a:ext>
            </a:extLst>
          </p:cNvPr>
          <p:cNvSpPr txBox="1"/>
          <p:nvPr/>
        </p:nvSpPr>
        <p:spPr>
          <a:xfrm>
            <a:off x="4138895" y="6274806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desc</a:t>
            </a:r>
            <a:endParaRPr lang="pt-BR" dirty="0"/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5C4CB97B-D2C2-C0BF-8484-BB47FFCD7BCC}"/>
              </a:ext>
            </a:extLst>
          </p:cNvPr>
          <p:cNvSpPr txBox="1"/>
          <p:nvPr/>
        </p:nvSpPr>
        <p:spPr>
          <a:xfrm>
            <a:off x="4831416" y="3747840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Cidade</a:t>
            </a:r>
          </a:p>
        </p:txBody>
      </p:sp>
      <p:sp>
        <p:nvSpPr>
          <p:cNvPr id="56" name="CaixaDeTexto 55">
            <a:extLst>
              <a:ext uri="{FF2B5EF4-FFF2-40B4-BE49-F238E27FC236}">
                <a16:creationId xmlns:a16="http://schemas.microsoft.com/office/drawing/2014/main" id="{53CED985-108C-AEE1-CF53-4D7DC3391EE4}"/>
              </a:ext>
            </a:extLst>
          </p:cNvPr>
          <p:cNvSpPr txBox="1"/>
          <p:nvPr/>
        </p:nvSpPr>
        <p:spPr>
          <a:xfrm>
            <a:off x="3367107" y="5554295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/>
              <a:t>Produto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1B54D5C2-C698-1CA3-FDBC-65CFD32EF38F}"/>
              </a:ext>
            </a:extLst>
          </p:cNvPr>
          <p:cNvSpPr txBox="1"/>
          <p:nvPr/>
        </p:nvSpPr>
        <p:spPr>
          <a:xfrm>
            <a:off x="8033527" y="3114610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err="1"/>
              <a:t>cpf</a:t>
            </a:r>
            <a:endParaRPr lang="pt-BR" dirty="0"/>
          </a:p>
        </p:txBody>
      </p:sp>
      <p:cxnSp>
        <p:nvCxnSpPr>
          <p:cNvPr id="58" name="Conector reto 57">
            <a:extLst>
              <a:ext uri="{FF2B5EF4-FFF2-40B4-BE49-F238E27FC236}">
                <a16:creationId xmlns:a16="http://schemas.microsoft.com/office/drawing/2014/main" id="{A0CDABE5-E0BC-395D-5737-E46FA590E54C}"/>
              </a:ext>
            </a:extLst>
          </p:cNvPr>
          <p:cNvCxnSpPr>
            <a:cxnSpLocks/>
            <a:stCxn id="59" idx="4"/>
          </p:cNvCxnSpPr>
          <p:nvPr/>
        </p:nvCxnSpPr>
        <p:spPr>
          <a:xfrm>
            <a:off x="8492511" y="3637001"/>
            <a:ext cx="0" cy="22688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Elipse 58">
            <a:extLst>
              <a:ext uri="{FF2B5EF4-FFF2-40B4-BE49-F238E27FC236}">
                <a16:creationId xmlns:a16="http://schemas.microsoft.com/office/drawing/2014/main" id="{FDF835C4-9FD3-80C1-54D7-195A650864D5}"/>
              </a:ext>
            </a:extLst>
          </p:cNvPr>
          <p:cNvSpPr/>
          <p:nvPr/>
        </p:nvSpPr>
        <p:spPr>
          <a:xfrm>
            <a:off x="8412501" y="3482737"/>
            <a:ext cx="160020" cy="154264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0" name="Conector reto 59">
            <a:extLst>
              <a:ext uri="{FF2B5EF4-FFF2-40B4-BE49-F238E27FC236}">
                <a16:creationId xmlns:a16="http://schemas.microsoft.com/office/drawing/2014/main" id="{A05DC016-B8FA-4777-0376-EB34E8169427}"/>
              </a:ext>
            </a:extLst>
          </p:cNvPr>
          <p:cNvCxnSpPr>
            <a:cxnSpLocks/>
            <a:stCxn id="61" idx="4"/>
          </p:cNvCxnSpPr>
          <p:nvPr/>
        </p:nvCxnSpPr>
        <p:spPr>
          <a:xfrm flipH="1">
            <a:off x="8996272" y="3624353"/>
            <a:ext cx="80010" cy="3126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Elipse 60">
            <a:extLst>
              <a:ext uri="{FF2B5EF4-FFF2-40B4-BE49-F238E27FC236}">
                <a16:creationId xmlns:a16="http://schemas.microsoft.com/office/drawing/2014/main" id="{DAB03FA0-B35B-E277-FCED-B5E9B2F64037}"/>
              </a:ext>
            </a:extLst>
          </p:cNvPr>
          <p:cNvSpPr/>
          <p:nvPr/>
        </p:nvSpPr>
        <p:spPr>
          <a:xfrm>
            <a:off x="8996272" y="3470089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2" name="CaixaDeTexto 61">
            <a:extLst>
              <a:ext uri="{FF2B5EF4-FFF2-40B4-BE49-F238E27FC236}">
                <a16:creationId xmlns:a16="http://schemas.microsoft.com/office/drawing/2014/main" id="{A6EBAAFD-AAEA-7432-A403-F038CD59E634}"/>
              </a:ext>
            </a:extLst>
          </p:cNvPr>
          <p:cNvSpPr txBox="1"/>
          <p:nvPr/>
        </p:nvSpPr>
        <p:spPr>
          <a:xfrm>
            <a:off x="8769282" y="3139323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63" name="CaixaDeTexto 62">
            <a:extLst>
              <a:ext uri="{FF2B5EF4-FFF2-40B4-BE49-F238E27FC236}">
                <a16:creationId xmlns:a16="http://schemas.microsoft.com/office/drawing/2014/main" id="{B60FBF3C-6AED-6C36-8260-BB607F7592FB}"/>
              </a:ext>
            </a:extLst>
          </p:cNvPr>
          <p:cNvSpPr txBox="1"/>
          <p:nvPr/>
        </p:nvSpPr>
        <p:spPr>
          <a:xfrm>
            <a:off x="8078993" y="3888603"/>
            <a:ext cx="146430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pt-BR" dirty="0" err="1"/>
              <a:t>Funcionario</a:t>
            </a:r>
            <a:endParaRPr lang="pt-BR" dirty="0"/>
          </a:p>
        </p:txBody>
      </p:sp>
      <p:sp>
        <p:nvSpPr>
          <p:cNvPr id="2" name="Fluxograma: Decisão 1">
            <a:extLst>
              <a:ext uri="{FF2B5EF4-FFF2-40B4-BE49-F238E27FC236}">
                <a16:creationId xmlns:a16="http://schemas.microsoft.com/office/drawing/2014/main" id="{F0AF299F-D2D3-A190-7A36-7C369E022F22}"/>
              </a:ext>
            </a:extLst>
          </p:cNvPr>
          <p:cNvSpPr/>
          <p:nvPr/>
        </p:nvSpPr>
        <p:spPr>
          <a:xfrm>
            <a:off x="3260265" y="4387590"/>
            <a:ext cx="1464309" cy="700482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" name="Conector: Angulado 3">
            <a:extLst>
              <a:ext uri="{FF2B5EF4-FFF2-40B4-BE49-F238E27FC236}">
                <a16:creationId xmlns:a16="http://schemas.microsoft.com/office/drawing/2014/main" id="{2287B035-BEA2-FA43-AF04-0FCA916B5DBD}"/>
              </a:ext>
            </a:extLst>
          </p:cNvPr>
          <p:cNvCxnSpPr>
            <a:stCxn id="6" idx="2"/>
            <a:endCxn id="2" idx="1"/>
          </p:cNvCxnSpPr>
          <p:nvPr/>
        </p:nvCxnSpPr>
        <p:spPr>
          <a:xfrm rot="16200000" flipH="1">
            <a:off x="2373793" y="3851358"/>
            <a:ext cx="633903" cy="113904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: Angulado 15">
            <a:extLst>
              <a:ext uri="{FF2B5EF4-FFF2-40B4-BE49-F238E27FC236}">
                <a16:creationId xmlns:a16="http://schemas.microsoft.com/office/drawing/2014/main" id="{300E257B-96E4-3572-37E3-381DEBADC15B}"/>
              </a:ext>
            </a:extLst>
          </p:cNvPr>
          <p:cNvCxnSpPr>
            <a:stCxn id="55" idx="2"/>
            <a:endCxn id="2" idx="3"/>
          </p:cNvCxnSpPr>
          <p:nvPr/>
        </p:nvCxnSpPr>
        <p:spPr>
          <a:xfrm rot="5400000">
            <a:off x="4833744" y="4008003"/>
            <a:ext cx="620659" cy="838997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reto 21">
            <a:extLst>
              <a:ext uri="{FF2B5EF4-FFF2-40B4-BE49-F238E27FC236}">
                <a16:creationId xmlns:a16="http://schemas.microsoft.com/office/drawing/2014/main" id="{8A9E77B2-00B5-201A-8370-8ADF0D195FDF}"/>
              </a:ext>
            </a:extLst>
          </p:cNvPr>
          <p:cNvCxnSpPr>
            <a:stCxn id="2" idx="2"/>
            <a:endCxn id="56" idx="0"/>
          </p:cNvCxnSpPr>
          <p:nvPr/>
        </p:nvCxnSpPr>
        <p:spPr>
          <a:xfrm>
            <a:off x="3992420" y="5088072"/>
            <a:ext cx="106842" cy="4662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F68793D3-8EAB-3EA3-3EC0-F2E736E95709}"/>
              </a:ext>
            </a:extLst>
          </p:cNvPr>
          <p:cNvSpPr txBox="1"/>
          <p:nvPr/>
        </p:nvSpPr>
        <p:spPr>
          <a:xfrm>
            <a:off x="3379809" y="4543151"/>
            <a:ext cx="1464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distribuição</a:t>
            </a: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2BB69AC2-AEAB-142E-F3D6-A7588908CC65}"/>
              </a:ext>
            </a:extLst>
          </p:cNvPr>
          <p:cNvSpPr txBox="1"/>
          <p:nvPr/>
        </p:nvSpPr>
        <p:spPr>
          <a:xfrm>
            <a:off x="5563570" y="4113996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E3FAE18-7297-7CA1-B0D9-26955C195CFC}"/>
              </a:ext>
            </a:extLst>
          </p:cNvPr>
          <p:cNvSpPr txBox="1"/>
          <p:nvPr/>
        </p:nvSpPr>
        <p:spPr>
          <a:xfrm>
            <a:off x="3727996" y="5238949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2FADC098-EFB4-36D8-54C0-CB41A34DA7D6}"/>
              </a:ext>
            </a:extLst>
          </p:cNvPr>
          <p:cNvSpPr txBox="1"/>
          <p:nvPr/>
        </p:nvSpPr>
        <p:spPr>
          <a:xfrm>
            <a:off x="1839445" y="4077617"/>
            <a:ext cx="4108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30" name="Fluxograma: Decisão 29">
            <a:extLst>
              <a:ext uri="{FF2B5EF4-FFF2-40B4-BE49-F238E27FC236}">
                <a16:creationId xmlns:a16="http://schemas.microsoft.com/office/drawing/2014/main" id="{BC12B3C5-1F1F-6658-C8DC-635B7E83345A}"/>
              </a:ext>
            </a:extLst>
          </p:cNvPr>
          <p:cNvSpPr/>
          <p:nvPr/>
        </p:nvSpPr>
        <p:spPr>
          <a:xfrm>
            <a:off x="8092740" y="4635886"/>
            <a:ext cx="1203694" cy="50265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88C34BE-8A90-3FE3-504A-A96D63E242CC}"/>
              </a:ext>
            </a:extLst>
          </p:cNvPr>
          <p:cNvSpPr txBox="1"/>
          <p:nvPr/>
        </p:nvSpPr>
        <p:spPr>
          <a:xfrm>
            <a:off x="8322461" y="4718740"/>
            <a:ext cx="1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possui</a:t>
            </a:r>
          </a:p>
        </p:txBody>
      </p:sp>
      <p:cxnSp>
        <p:nvCxnSpPr>
          <p:cNvPr id="33" name="Conector reto 32">
            <a:extLst>
              <a:ext uri="{FF2B5EF4-FFF2-40B4-BE49-F238E27FC236}">
                <a16:creationId xmlns:a16="http://schemas.microsoft.com/office/drawing/2014/main" id="{3E1BBBA1-7DB4-F157-E96F-99FB34471275}"/>
              </a:ext>
            </a:extLst>
          </p:cNvPr>
          <p:cNvCxnSpPr>
            <a:stCxn id="30" idx="0"/>
          </p:cNvCxnSpPr>
          <p:nvPr/>
        </p:nvCxnSpPr>
        <p:spPr>
          <a:xfrm flipV="1">
            <a:off x="8694587" y="4275692"/>
            <a:ext cx="0" cy="3601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reto 41">
            <a:extLst>
              <a:ext uri="{FF2B5EF4-FFF2-40B4-BE49-F238E27FC236}">
                <a16:creationId xmlns:a16="http://schemas.microsoft.com/office/drawing/2014/main" id="{97D74FB4-F8A9-6783-57BA-FDC4A2EA8959}"/>
              </a:ext>
            </a:extLst>
          </p:cNvPr>
          <p:cNvCxnSpPr>
            <a:stCxn id="30" idx="2"/>
            <a:endCxn id="29" idx="0"/>
          </p:cNvCxnSpPr>
          <p:nvPr/>
        </p:nvCxnSpPr>
        <p:spPr>
          <a:xfrm>
            <a:off x="8694587" y="5138539"/>
            <a:ext cx="29784" cy="3940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A89D342E-7AF0-CEF0-A1F2-438A10AA2167}"/>
              </a:ext>
            </a:extLst>
          </p:cNvPr>
          <p:cNvSpPr txBox="1"/>
          <p:nvPr/>
        </p:nvSpPr>
        <p:spPr>
          <a:xfrm>
            <a:off x="8709479" y="5221393"/>
            <a:ext cx="26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sp>
        <p:nvSpPr>
          <p:cNvPr id="49" name="CaixaDeTexto 48">
            <a:extLst>
              <a:ext uri="{FF2B5EF4-FFF2-40B4-BE49-F238E27FC236}">
                <a16:creationId xmlns:a16="http://schemas.microsoft.com/office/drawing/2014/main" id="{3C3B5248-51F9-662B-B69F-127BE5D0EB77}"/>
              </a:ext>
            </a:extLst>
          </p:cNvPr>
          <p:cNvSpPr txBox="1"/>
          <p:nvPr/>
        </p:nvSpPr>
        <p:spPr>
          <a:xfrm>
            <a:off x="8663003" y="4288026"/>
            <a:ext cx="268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50" name="Conector reto 49">
            <a:extLst>
              <a:ext uri="{FF2B5EF4-FFF2-40B4-BE49-F238E27FC236}">
                <a16:creationId xmlns:a16="http://schemas.microsoft.com/office/drawing/2014/main" id="{00A032F7-20DE-46F0-5E40-1AFD4AF54518}"/>
              </a:ext>
            </a:extLst>
          </p:cNvPr>
          <p:cNvCxnSpPr>
            <a:cxnSpLocks/>
          </p:cNvCxnSpPr>
          <p:nvPr/>
        </p:nvCxnSpPr>
        <p:spPr>
          <a:xfrm flipH="1">
            <a:off x="9526155" y="5821547"/>
            <a:ext cx="342667" cy="483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Elipse 50">
            <a:extLst>
              <a:ext uri="{FF2B5EF4-FFF2-40B4-BE49-F238E27FC236}">
                <a16:creationId xmlns:a16="http://schemas.microsoft.com/office/drawing/2014/main" id="{D67A6304-12EC-AEF7-F3D4-AF63920769ED}"/>
              </a:ext>
            </a:extLst>
          </p:cNvPr>
          <p:cNvSpPr/>
          <p:nvPr/>
        </p:nvSpPr>
        <p:spPr>
          <a:xfrm>
            <a:off x="9783308" y="5715815"/>
            <a:ext cx="160020" cy="15426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423591D8-CD2B-E52E-5D53-4E149B1F4BF5}"/>
              </a:ext>
            </a:extLst>
          </p:cNvPr>
          <p:cNvSpPr txBox="1"/>
          <p:nvPr/>
        </p:nvSpPr>
        <p:spPr>
          <a:xfrm>
            <a:off x="9943328" y="5608281"/>
            <a:ext cx="7740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nome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FD50961-57D5-AD40-E872-4DEDDE32EF61}"/>
              </a:ext>
            </a:extLst>
          </p:cNvPr>
          <p:cNvSpPr txBox="1"/>
          <p:nvPr/>
        </p:nvSpPr>
        <p:spPr>
          <a:xfrm>
            <a:off x="851656" y="39432"/>
            <a:ext cx="6281525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Distribuidor(</a:t>
            </a:r>
            <a:r>
              <a:rPr lang="pt-BR" sz="2000" u="sng" dirty="0" err="1"/>
              <a:t>cnpj</a:t>
            </a:r>
            <a:r>
              <a:rPr lang="pt-BR" sz="2000" dirty="0"/>
              <a:t>, </a:t>
            </a:r>
            <a:r>
              <a:rPr lang="pt-BR" sz="2000" dirty="0" err="1"/>
              <a:t>rs</a:t>
            </a:r>
            <a:r>
              <a:rPr lang="pt-BR" sz="2000" dirty="0"/>
              <a:t>, </a:t>
            </a:r>
            <a:r>
              <a:rPr lang="pt-BR" sz="2000" dirty="0" err="1"/>
              <a:t>tel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Cidade(</a:t>
            </a:r>
            <a:r>
              <a:rPr lang="pt-BR" sz="2000" u="sng" dirty="0" err="1"/>
              <a:t>cod_cidade</a:t>
            </a:r>
            <a:r>
              <a:rPr lang="pt-BR" sz="2000" dirty="0"/>
              <a:t>, </a:t>
            </a:r>
            <a:r>
              <a:rPr lang="pt-BR" sz="2000" dirty="0" err="1"/>
              <a:t>ibge</a:t>
            </a:r>
            <a:r>
              <a:rPr lang="pt-BR" sz="2000" dirty="0"/>
              <a:t>, uf, nome)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Produto(</a:t>
            </a:r>
            <a:r>
              <a:rPr lang="pt-BR" sz="2000" u="sng" dirty="0" err="1"/>
              <a:t>cod_prod</a:t>
            </a:r>
            <a:r>
              <a:rPr lang="pt-BR" sz="2000" dirty="0"/>
              <a:t>, </a:t>
            </a:r>
            <a:r>
              <a:rPr lang="pt-BR" sz="2000" dirty="0" err="1"/>
              <a:t>desc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 err="1"/>
              <a:t>Funcionario</a:t>
            </a:r>
            <a:r>
              <a:rPr lang="pt-BR" sz="2000" dirty="0"/>
              <a:t>(</a:t>
            </a:r>
            <a:r>
              <a:rPr lang="pt-BR" sz="2000" u="sng" dirty="0" err="1"/>
              <a:t>cpf</a:t>
            </a:r>
            <a:r>
              <a:rPr lang="pt-BR" sz="2000" dirty="0"/>
              <a:t>, </a:t>
            </a:r>
            <a:r>
              <a:rPr lang="pt-BR" sz="2000" dirty="0" err="1"/>
              <a:t>nome_func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Dependente(</a:t>
            </a:r>
            <a:r>
              <a:rPr lang="pt-BR" sz="2000" u="sng" dirty="0" err="1"/>
              <a:t>cpf</a:t>
            </a:r>
            <a:r>
              <a:rPr lang="pt-BR" sz="2000" dirty="0"/>
              <a:t>, </a:t>
            </a:r>
            <a:r>
              <a:rPr lang="pt-BR" sz="2000" dirty="0" err="1"/>
              <a:t>nome_dep</a:t>
            </a:r>
            <a:r>
              <a:rPr lang="pt-BR" sz="2000" dirty="0"/>
              <a:t>, </a:t>
            </a:r>
            <a:r>
              <a:rPr lang="pt-BR" sz="2000" dirty="0">
                <a:highlight>
                  <a:srgbClr val="FFFF00"/>
                </a:highlight>
              </a:rPr>
              <a:t>#cpf_gerente</a:t>
            </a:r>
            <a:r>
              <a:rPr lang="pt-BR" sz="2000" dirty="0"/>
              <a:t>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CFD331-7585-1B11-1650-0A42A1FEBCAB}"/>
              </a:ext>
            </a:extLst>
          </p:cNvPr>
          <p:cNvSpPr txBox="1"/>
          <p:nvPr/>
        </p:nvSpPr>
        <p:spPr>
          <a:xfrm>
            <a:off x="5271738" y="86047"/>
            <a:ext cx="6281525" cy="9679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 err="1"/>
              <a:t>Distribuicao</a:t>
            </a:r>
            <a:r>
              <a:rPr lang="pt-BR" sz="2000" dirty="0"/>
              <a:t>(</a:t>
            </a:r>
            <a:r>
              <a:rPr lang="pt-BR" sz="2000" u="sng" dirty="0" err="1"/>
              <a:t>cnpj</a:t>
            </a:r>
            <a:r>
              <a:rPr lang="pt-BR" sz="2000" u="sng" dirty="0"/>
              <a:t>, </a:t>
            </a:r>
            <a:r>
              <a:rPr lang="pt-BR" sz="2000" u="sng" dirty="0" err="1"/>
              <a:t>cod_cidade</a:t>
            </a:r>
            <a:r>
              <a:rPr lang="pt-BR" sz="2000" dirty="0"/>
              <a:t>, </a:t>
            </a:r>
            <a:r>
              <a:rPr lang="pt-BR" sz="2000" u="sng" dirty="0" err="1"/>
              <a:t>cod_prod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 err="1"/>
              <a:t>Funcionario_Dependente</a:t>
            </a:r>
            <a:r>
              <a:rPr lang="pt-BR" sz="2000" dirty="0"/>
              <a:t>(</a:t>
            </a:r>
            <a:r>
              <a:rPr lang="pt-BR" sz="2000" u="sng" dirty="0" err="1"/>
              <a:t>cpf</a:t>
            </a:r>
            <a:r>
              <a:rPr lang="pt-BR" sz="2000" dirty="0"/>
              <a:t>, </a:t>
            </a:r>
            <a:r>
              <a:rPr lang="pt-BR" sz="2000" dirty="0" err="1"/>
              <a:t>nome_dep</a:t>
            </a:r>
            <a:r>
              <a:rPr lang="pt-BR" sz="2000" dirty="0"/>
              <a:t>)</a:t>
            </a:r>
          </a:p>
        </p:txBody>
      </p: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id="{A6A8EA31-54F2-4B96-BE1B-CFAC9881C06C}"/>
              </a:ext>
            </a:extLst>
          </p:cNvPr>
          <p:cNvCxnSpPr>
            <a:stCxn id="31" idx="1"/>
          </p:cNvCxnSpPr>
          <p:nvPr/>
        </p:nvCxnSpPr>
        <p:spPr>
          <a:xfrm flipH="1" flipV="1">
            <a:off x="7200900" y="1054004"/>
            <a:ext cx="1121561" cy="384940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DC6D5F44-90D0-21DB-3F52-D1CFE254B54E}"/>
              </a:ext>
            </a:extLst>
          </p:cNvPr>
          <p:cNvCxnSpPr/>
          <p:nvPr/>
        </p:nvCxnSpPr>
        <p:spPr>
          <a:xfrm flipV="1">
            <a:off x="3704901" y="514350"/>
            <a:ext cx="1566837" cy="40288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64DE1912-EA78-8ACF-83B5-C976764CD301}"/>
              </a:ext>
            </a:extLst>
          </p:cNvPr>
          <p:cNvSpPr txBox="1"/>
          <p:nvPr/>
        </p:nvSpPr>
        <p:spPr>
          <a:xfrm>
            <a:off x="7525269" y="1416634"/>
            <a:ext cx="44853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200" dirty="0">
                <a:highlight>
                  <a:srgbClr val="FFFF00"/>
                </a:highlight>
              </a:rPr>
              <a:t>MODELANDO OS RELACIONAMENTOS</a:t>
            </a:r>
          </a:p>
        </p:txBody>
      </p:sp>
      <p:sp>
        <p:nvSpPr>
          <p:cNvPr id="18" name="Fluxograma: Decisão 17">
            <a:extLst>
              <a:ext uri="{FF2B5EF4-FFF2-40B4-BE49-F238E27FC236}">
                <a16:creationId xmlns:a16="http://schemas.microsoft.com/office/drawing/2014/main" id="{78281ACA-07DB-6A48-858C-60AA10727BEF}"/>
              </a:ext>
            </a:extLst>
          </p:cNvPr>
          <p:cNvSpPr/>
          <p:nvPr/>
        </p:nvSpPr>
        <p:spPr>
          <a:xfrm>
            <a:off x="9908134" y="3805749"/>
            <a:ext cx="1203694" cy="502653"/>
          </a:xfrm>
          <a:prstGeom prst="flowChartDecision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E783648C-23F6-3586-E627-7BA3082FB818}"/>
              </a:ext>
            </a:extLst>
          </p:cNvPr>
          <p:cNvSpPr txBox="1"/>
          <p:nvPr/>
        </p:nvSpPr>
        <p:spPr>
          <a:xfrm>
            <a:off x="10070777" y="3868266"/>
            <a:ext cx="1030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>
                <a:highlight>
                  <a:srgbClr val="FFFF00"/>
                </a:highlight>
              </a:rPr>
              <a:t>gerencia</a:t>
            </a:r>
          </a:p>
        </p:txBody>
      </p:sp>
      <p:cxnSp>
        <p:nvCxnSpPr>
          <p:cNvPr id="64" name="Conector: Angulado 63">
            <a:extLst>
              <a:ext uri="{FF2B5EF4-FFF2-40B4-BE49-F238E27FC236}">
                <a16:creationId xmlns:a16="http://schemas.microsoft.com/office/drawing/2014/main" id="{55DD84C3-0966-7028-56F3-41CE0D1C6D82}"/>
              </a:ext>
            </a:extLst>
          </p:cNvPr>
          <p:cNvCxnSpPr>
            <a:endCxn id="18" idx="0"/>
          </p:cNvCxnSpPr>
          <p:nvPr/>
        </p:nvCxnSpPr>
        <p:spPr>
          <a:xfrm flipV="1">
            <a:off x="9543302" y="3805749"/>
            <a:ext cx="966679" cy="267520"/>
          </a:xfrm>
          <a:prstGeom prst="bentConnector4">
            <a:avLst>
              <a:gd name="adj1" fmla="val 18870"/>
              <a:gd name="adj2" fmla="val 185452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: Angulado 64">
            <a:extLst>
              <a:ext uri="{FF2B5EF4-FFF2-40B4-BE49-F238E27FC236}">
                <a16:creationId xmlns:a16="http://schemas.microsoft.com/office/drawing/2014/main" id="{38E85D81-4598-8D1D-330B-68C9D325029F}"/>
              </a:ext>
            </a:extLst>
          </p:cNvPr>
          <p:cNvCxnSpPr>
            <a:stCxn id="18" idx="2"/>
          </p:cNvCxnSpPr>
          <p:nvPr/>
        </p:nvCxnSpPr>
        <p:spPr>
          <a:xfrm rot="5400000" flipH="1">
            <a:off x="9955837" y="3754259"/>
            <a:ext cx="141609" cy="966679"/>
          </a:xfrm>
          <a:prstGeom prst="bentConnector4">
            <a:avLst>
              <a:gd name="adj1" fmla="val -161430"/>
              <a:gd name="adj2" fmla="val 8113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93AA3479-41B7-9F0F-BB8A-103B80201363}"/>
              </a:ext>
            </a:extLst>
          </p:cNvPr>
          <p:cNvSpPr txBox="1"/>
          <p:nvPr/>
        </p:nvSpPr>
        <p:spPr>
          <a:xfrm>
            <a:off x="9490147" y="3697941"/>
            <a:ext cx="1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1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DFA94736-3806-306F-615E-C6747F3B38EA}"/>
              </a:ext>
            </a:extLst>
          </p:cNvPr>
          <p:cNvSpPr txBox="1"/>
          <p:nvPr/>
        </p:nvSpPr>
        <p:spPr>
          <a:xfrm>
            <a:off x="9512457" y="4134209"/>
            <a:ext cx="179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n</a:t>
            </a:r>
          </a:p>
        </p:txBody>
      </p:sp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95D5E357-91EC-FBED-7259-D183BD7D7982}"/>
              </a:ext>
            </a:extLst>
          </p:cNvPr>
          <p:cNvCxnSpPr/>
          <p:nvPr/>
        </p:nvCxnSpPr>
        <p:spPr>
          <a:xfrm flipH="1" flipV="1">
            <a:off x="5338860" y="2243579"/>
            <a:ext cx="5096612" cy="1693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4151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FD50961-57D5-AD40-E872-4DEDDE32EF61}"/>
              </a:ext>
            </a:extLst>
          </p:cNvPr>
          <p:cNvSpPr txBox="1"/>
          <p:nvPr/>
        </p:nvSpPr>
        <p:spPr>
          <a:xfrm>
            <a:off x="851656" y="39432"/>
            <a:ext cx="6281525" cy="2352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/>
              <a:t>Distribuidor(</a:t>
            </a:r>
            <a:r>
              <a:rPr lang="pt-BR" sz="2000" u="sng" dirty="0" err="1"/>
              <a:t>cnpj</a:t>
            </a:r>
            <a:r>
              <a:rPr lang="pt-BR" sz="2000" dirty="0"/>
              <a:t>, </a:t>
            </a:r>
            <a:r>
              <a:rPr lang="pt-BR" sz="2000" dirty="0" err="1"/>
              <a:t>rs</a:t>
            </a:r>
            <a:r>
              <a:rPr lang="pt-BR" sz="2000" dirty="0"/>
              <a:t>, </a:t>
            </a:r>
            <a:r>
              <a:rPr lang="pt-BR" sz="2000" dirty="0" err="1"/>
              <a:t>tel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Cidade(</a:t>
            </a:r>
            <a:r>
              <a:rPr lang="pt-BR" sz="2000" u="sng" dirty="0" err="1"/>
              <a:t>cod_cidade</a:t>
            </a:r>
            <a:r>
              <a:rPr lang="pt-BR" sz="2000" dirty="0"/>
              <a:t>, </a:t>
            </a:r>
            <a:r>
              <a:rPr lang="pt-BR" sz="2000" dirty="0" err="1"/>
              <a:t>ibge</a:t>
            </a:r>
            <a:r>
              <a:rPr lang="pt-BR" sz="2000" dirty="0"/>
              <a:t>, uf, nome)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Produto(</a:t>
            </a:r>
            <a:r>
              <a:rPr lang="pt-BR" sz="2000" u="sng" dirty="0" err="1"/>
              <a:t>cod_prod</a:t>
            </a:r>
            <a:r>
              <a:rPr lang="pt-BR" sz="2000" dirty="0"/>
              <a:t>, </a:t>
            </a:r>
            <a:r>
              <a:rPr lang="pt-BR" sz="2000" dirty="0" err="1"/>
              <a:t>desc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 err="1"/>
              <a:t>Funcionario</a:t>
            </a:r>
            <a:r>
              <a:rPr lang="pt-BR" sz="2000" dirty="0"/>
              <a:t>(</a:t>
            </a:r>
            <a:r>
              <a:rPr lang="pt-BR" sz="2000" u="sng" dirty="0" err="1"/>
              <a:t>cpf</a:t>
            </a:r>
            <a:r>
              <a:rPr lang="pt-BR" sz="2000" dirty="0"/>
              <a:t>, </a:t>
            </a:r>
            <a:r>
              <a:rPr lang="pt-BR" sz="2000" dirty="0" err="1"/>
              <a:t>nome_func</a:t>
            </a:r>
            <a:r>
              <a:rPr lang="pt-BR" sz="2000" dirty="0"/>
              <a:t>)</a:t>
            </a:r>
          </a:p>
          <a:p>
            <a:pPr>
              <a:lnSpc>
                <a:spcPct val="150000"/>
              </a:lnSpc>
            </a:pPr>
            <a:r>
              <a:rPr lang="pt-BR" sz="2000" dirty="0"/>
              <a:t>Dependente(</a:t>
            </a:r>
            <a:r>
              <a:rPr lang="pt-BR" sz="2000" u="sng" dirty="0" err="1"/>
              <a:t>cpf</a:t>
            </a:r>
            <a:r>
              <a:rPr lang="pt-BR" sz="2000" dirty="0"/>
              <a:t>, </a:t>
            </a:r>
            <a:r>
              <a:rPr lang="pt-BR" sz="2000" dirty="0" err="1"/>
              <a:t>nome_dep</a:t>
            </a:r>
            <a:r>
              <a:rPr lang="pt-BR" sz="2000" dirty="0"/>
              <a:t>, #cpf_gerente)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ECFD331-7585-1B11-1650-0A42A1FEBCAB}"/>
              </a:ext>
            </a:extLst>
          </p:cNvPr>
          <p:cNvSpPr txBox="1"/>
          <p:nvPr/>
        </p:nvSpPr>
        <p:spPr>
          <a:xfrm>
            <a:off x="5271738" y="86047"/>
            <a:ext cx="6281525" cy="506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 err="1"/>
              <a:t>Distribuicao</a:t>
            </a:r>
            <a:r>
              <a:rPr lang="pt-BR" sz="2000" dirty="0"/>
              <a:t>(</a:t>
            </a:r>
            <a:r>
              <a:rPr lang="pt-BR" sz="2000" u="sng" dirty="0" err="1"/>
              <a:t>cnpj</a:t>
            </a:r>
            <a:r>
              <a:rPr lang="pt-BR" sz="2000" u="sng" dirty="0"/>
              <a:t>,</a:t>
            </a:r>
            <a:r>
              <a:rPr lang="pt-BR" sz="2000" dirty="0"/>
              <a:t> </a:t>
            </a:r>
            <a:r>
              <a:rPr lang="pt-BR" sz="2000" u="sng" dirty="0" err="1"/>
              <a:t>cod_cidade</a:t>
            </a:r>
            <a:r>
              <a:rPr lang="pt-BR" sz="2000" dirty="0"/>
              <a:t>, </a:t>
            </a:r>
            <a:r>
              <a:rPr lang="pt-BR" sz="2000" u="sng" dirty="0" err="1"/>
              <a:t>cod_prod</a:t>
            </a:r>
            <a:r>
              <a:rPr lang="pt-BR" sz="2000" dirty="0"/>
              <a:t>)</a:t>
            </a:r>
          </a:p>
        </p:txBody>
      </p:sp>
      <p:sp>
        <p:nvSpPr>
          <p:cNvPr id="65" name="CaixaDeTexto 64">
            <a:extLst>
              <a:ext uri="{FF2B5EF4-FFF2-40B4-BE49-F238E27FC236}">
                <a16:creationId xmlns:a16="http://schemas.microsoft.com/office/drawing/2014/main" id="{5001F495-89C5-89CD-54F1-B65B2BDFC751}"/>
              </a:ext>
            </a:extLst>
          </p:cNvPr>
          <p:cNvSpPr txBox="1"/>
          <p:nvPr/>
        </p:nvSpPr>
        <p:spPr>
          <a:xfrm>
            <a:off x="361950" y="3322856"/>
            <a:ext cx="115443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1) Como eu faço para descobrir quais são os dependentes do “João da Silva”?</a:t>
            </a:r>
          </a:p>
        </p:txBody>
      </p:sp>
      <p:sp>
        <p:nvSpPr>
          <p:cNvPr id="66" name="CaixaDeTexto 65">
            <a:extLst>
              <a:ext uri="{FF2B5EF4-FFF2-40B4-BE49-F238E27FC236}">
                <a16:creationId xmlns:a16="http://schemas.microsoft.com/office/drawing/2014/main" id="{9677C4AD-CCF2-859C-5416-6D35D730316A}"/>
              </a:ext>
            </a:extLst>
          </p:cNvPr>
          <p:cNvSpPr txBox="1"/>
          <p:nvPr/>
        </p:nvSpPr>
        <p:spPr>
          <a:xfrm>
            <a:off x="361950" y="4514938"/>
            <a:ext cx="118300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2) Como eu faço para descobrir a descrição dos produtos vendidos em </a:t>
            </a:r>
            <a:r>
              <a:rPr lang="pt-BR" sz="2800" dirty="0" err="1"/>
              <a:t>Brasilia</a:t>
            </a:r>
            <a:r>
              <a:rPr lang="pt-BR" sz="2800" dirty="0"/>
              <a:t>?</a:t>
            </a: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61EAAD25-E60C-8A7C-241D-39B6D94B4D73}"/>
              </a:ext>
            </a:extLst>
          </p:cNvPr>
          <p:cNvSpPr txBox="1"/>
          <p:nvPr/>
        </p:nvSpPr>
        <p:spPr>
          <a:xfrm>
            <a:off x="361950" y="5622486"/>
            <a:ext cx="1183005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3) Como eu faço para descobrir quantas cidades do estado de GO o distribuidor com CNPJ = 123-000/1 atende?</a:t>
            </a:r>
          </a:p>
        </p:txBody>
      </p:sp>
    </p:spTree>
    <p:extLst>
      <p:ext uri="{BB962C8B-B14F-4D97-AF65-F5344CB8AC3E}">
        <p14:creationId xmlns:p14="http://schemas.microsoft.com/office/powerpoint/2010/main" val="341482689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454</TotalTime>
  <Words>606</Words>
  <Application>Microsoft Office PowerPoint</Application>
  <PresentationFormat>Widescreen</PresentationFormat>
  <Paragraphs>154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Glauco Pedrosa</dc:creator>
  <cp:lastModifiedBy>Glauco Pedrosa</cp:lastModifiedBy>
  <cp:revision>40</cp:revision>
  <dcterms:created xsi:type="dcterms:W3CDTF">2024-04-02T17:38:05Z</dcterms:created>
  <dcterms:modified xsi:type="dcterms:W3CDTF">2024-04-09T17:15:13Z</dcterms:modified>
</cp:coreProperties>
</file>